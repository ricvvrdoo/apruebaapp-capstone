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o" id="{519522C9-71D3-F59F-1799-0BCBED508F95}">
          <p14:sldIdLst>
            <p14:sldId id="256"/>
            <p14:sldId id="257"/>
            <p14:sldId id="258"/>
          </p14:sldIdLst>
        </p14:section>
        <p14:section name="Avance" id="{B21148EC-F10A-78C2-E188-4FE57982BFF3}">
          <p14:sldIdLst>
            <p14:sldId id="259"/>
            <p14:sldId id="260"/>
            <p14:sldId id="261"/>
            <p14:sldId id="262"/>
          </p14:sldIdLst>
        </p14:section>
        <p14:section name="Demo" id="{DDBD9FAE-A7F6-3ABB-DFBC-668A47AFC13C}">
          <p14:sldIdLst>
            <p14:sldId id="263"/>
          </p14:sldIdLst>
        </p14:section>
        <p14:section name="Cierre" id="{6C8D9FD8-A051-7FC6-A3A7-75CE88A00328}">
          <p14:sldIdLst>
            <p14:sldId id="265"/>
            <p14:sldId id="266"/>
          </p14:sldIdLst>
        </p14:section>
        <p14:section name="Respaldo" id="{8E20D661-19F7-A46D-95FB-55E544DB2AB3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6" autoAdjust="0"/>
    <p:restoredTop sz="86166" autoAdjust="0"/>
  </p:normalViewPr>
  <p:slideViewPr>
    <p:cSldViewPr snapToGrid="0" snapToObjects="1">
      <p:cViewPr varScale="1">
        <p:scale>
          <a:sx n="102" d="100"/>
          <a:sy n="102" d="100"/>
        </p:scale>
        <p:origin x="1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Backlog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630-4F9F-A87A-9BB2B03CFD9A}"/>
              </c:ext>
            </c:extLst>
          </c:dPt>
          <c:dPt>
            <c:idx val="1"/>
            <c:bubble3D val="0"/>
            <c:spPr>
              <a:solidFill>
                <a:srgbClr val="3B5B8C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630-4F9F-A87A-9BB2B03CFD9A}"/>
              </c:ext>
            </c:extLst>
          </c:dPt>
          <c:dPt>
            <c:idx val="2"/>
            <c:bubble3D val="0"/>
            <c:spPr>
              <a:solidFill>
                <a:srgbClr val="F5B041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0630-4F9F-A87A-9BB2B03CFD9A}"/>
              </c:ext>
            </c:extLst>
          </c:dPt>
          <c:dPt>
            <c:idx val="3"/>
            <c:bubble3D val="0"/>
            <c:spPr>
              <a:solidFill>
                <a:srgbClr val="CBD5E1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0630-4F9F-A87A-9BB2B03CFD9A}"/>
              </c:ext>
            </c:extLst>
          </c:dPt>
          <c:cat>
            <c:strRef>
              <c:f>Sheet1!$A$2:$A$5</c:f>
              <c:strCache>
                <c:ptCount val="4"/>
                <c:pt idx="0">
                  <c:v>Terminados</c:v>
                </c:pt>
                <c:pt idx="1">
                  <c:v>En revisión</c:v>
                </c:pt>
                <c:pt idx="2">
                  <c:v>En curso</c:v>
                </c:pt>
                <c:pt idx="3">
                  <c:v>Pendientes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4</c:v>
                </c:pt>
                <c:pt idx="2">
                  <c:v>3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630-4F9F-A87A-9BB2B03CFD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420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≈0:30. Presentarse: equipo, empresa mandante (Alloxentric) y que esta es la entrega de desarrollo de la Fase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≈1:00. Contexto breve: problema, propuesta y qué hace este equipo. Ya se presentó en Fase 1; aquí solo recordarlo.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≈1:00. Un único servicio atiende a la app y al sitio web. Producción: API en Vercel (São Paulo) y base Firestore en Santiago. Despliegue continuo: cada PR genera una vista previa; integrar a main publica.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≈1:00. Tres objetivos completos (persistencia, vulnerabilidades, contrato OpenAPI), tres en curso y uno pendiente. Backlog: 12 de 27 elementos terminados, 4 en revisión.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≈1:00. Las dos críticas eran la 1 (suplantación) y la 2 (premium gratis). Todas tienen prueba automatizada. Lo pendiente está documentado en docs/seguridad-pendiente.md.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≈0:45. Cifras reales del repositorio: npm run smoke (284/0), npm run openapi:verificar (89/89) y flutter test (70/70).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≈0:45. Sprints de dos semanas. El Sprint 1 superó lo planificado; hubo una pausa entre el 08 y el 21-10 que se reconoce y se corrigió replanificando el Sprint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≈5:00 en total (con la slide siguiente).
Antes de empezar: abrir la web y /health de la API 2-3 minutos antes (la primera llamada de Vercel puede tardar). Dejar la web y Swagger abiertos en pestañas.
1) Web (~2 min): login con el usuario demo → Practicar → responder → ver corrección, explicación y medalla → volver al Inicio.
2) Swagger (~1:15): Swagger está público durante la presentación (sin clave). POST /auth/login → copiar accessToken → Authorize Bearer → GET /me. Seguridad: POST /auth/social con idToken 'google:&lt;correo del usuario demo&gt;:X' → responde 409 ACCOUNT_USES_PASSWORD (antes permitía entrar a la cuenta).
3) App (~1:00): clic sobre el video; se abre a pantalla completa (21 s, sin audio: narrarlo). Parte en el splash y recorre Inicio, práctica, Medallas, Grupos, Red y Ajustes. Recalcar que es la misma API y el mismo usuario.
Si falla internet: ir a las slides de respaldo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≈0:45. Cierre de Fase 3: contenedores, pruebas unitarias, recorrección, seguridad para usuarios reales, app completa e iOS ajustado.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≈0:30. Cerrar con las tres ideas y abrir preguntas (3-5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2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024128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pic>
        <p:nvPicPr>
          <p:cNvPr id="4" name="Image 0" descr="C:\Users\Ricardo\AppData\Local\Temp\claude\C--Users-Ricardo-Downloads-Aprueba\2da95c68-d71a-41c0-bf51-c4fba1a28d34\scratchpad\ppt\assets\is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411480"/>
            <a:ext cx="51206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Aprueba · Desarrollo Fase 2 · Capstone PTY4614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aprueba-api.vercel.app/api/docs" TargetMode="Externa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https://aprueba-student-web.vercel.app" TargetMode="External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6"/>
                </a:solidFill>
              </a:rPr>
              <a:t>PROYECTO CAPSTONE · PTY4614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chemeClr val="tx2"/>
                </a:solidFill>
              </a:rPr>
              <a:t>Aprueba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231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Plataforma móvil y web de preparación para la PAES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91840"/>
            <a:ext cx="237744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Fase 2 · Desarrollo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Ricardo Rodríguez Salas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Scrum Master · Backend, seguridad y datos</a:t>
            </a:r>
            <a:endParaRPr lang="en-US" sz="1500" dirty="0"/>
          </a:p>
          <a:p>
            <a:pPr marL="0" indent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Elías Millahuala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Product Owner · Calidad, despliegue y clientes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303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Profesor: </a:t>
            </a:r>
            <a:r>
              <a:rPr lang="en-US" sz="1300" b="1" dirty="0">
                <a:solidFill>
                  <a:schemeClr val="tx1"/>
                </a:solidFill>
              </a:rPr>
              <a:t>Alex Zuñiga</a:t>
            </a:r>
            <a:endParaRPr lang="en-US" sz="1300" dirty="0"/>
          </a:p>
        </p:txBody>
      </p:sp>
      <p:pic>
        <p:nvPicPr>
          <p:cNvPr id="8" name="Image 0" descr="C:\Users\Ricardo\AppData\Local\Temp\claude\C--Users-Ricardo-Downloads-Aprueba\2da95c68-d71a-41c0-bf51-c4fba1a28d34\scratchpad\ppt\assets\duo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806440"/>
            <a:ext cx="2743200" cy="685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03720" y="685800"/>
            <a:ext cx="4663440" cy="548640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0" name="Image 1" descr="C:\Users\Ricardo\AppData\Local\Temp\claude\C--Users-Ricardo-Downloads-Aprueba\2da95c68-d71a-41c0-bf51-c4fba1a28d34\scratchpad\ppt\assets\isoti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290" y="1645920"/>
            <a:ext cx="3022299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CONTEXTO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Lo que resuelve Aprueba</a:t>
            </a:r>
            <a:endParaRPr lang="en-US" sz="3200" dirty="0"/>
          </a:p>
        </p:txBody>
      </p:sp>
      <p:sp>
        <p:nvSpPr>
          <p:cNvPr id="4" name="ctx-0"/>
          <p:cNvSpPr/>
          <p:nvPr/>
        </p:nvSpPr>
        <p:spPr>
          <a:xfrm>
            <a:off x="548640" y="1691640"/>
            <a:ext cx="342900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C:\Users\Ricardo\AppData\Local\Temp\claude\C--Users-Ricardo-Downloads-Aprueba\2da95c68-d71a-41c0-bf51-c4fba1a28d34\scratchpad\ppt\assets\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2163470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880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El problema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3756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Prepararse bien para la PAES depende de cuánto puede pagar cada familia.</a:t>
            </a:r>
            <a:endParaRPr lang="en-US" sz="1400" dirty="0"/>
          </a:p>
        </p:txBody>
      </p:sp>
      <p:pic>
        <p:nvPicPr>
          <p:cNvPr id="9" name="Image 1" descr="C:\Users\Ricardo\AppData\Local\Temp\claude\C--Users-Ricardo-Downloads-Aprueba\2da95c68-d71a-41c0-bf51-c4fba1a28d34\scratchpad\ppt\assets\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3017520"/>
            <a:ext cx="274320" cy="274320"/>
          </a:xfrm>
          <a:prstGeom prst="rect">
            <a:avLst/>
          </a:prstGeom>
        </p:spPr>
      </p:pic>
      <p:sp>
        <p:nvSpPr>
          <p:cNvPr id="10" name="ctx-1"/>
          <p:cNvSpPr/>
          <p:nvPr/>
        </p:nvSpPr>
        <p:spPr>
          <a:xfrm>
            <a:off x="4389120" y="1691640"/>
            <a:ext cx="342900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7"/>
          <p:cNvSpPr/>
          <p:nvPr/>
        </p:nvSpPr>
        <p:spPr>
          <a:xfrm>
            <a:off x="4709160" y="1965960"/>
            <a:ext cx="731520" cy="73152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Image 2" descr="C:\Users\Ricardo\AppData\Local\Temp\claude\C--Users-Ricardo-Downloads-Aprueba\2da95c68-d71a-41c0-bf51-c4fba1a28d34\scratchpad\ppt\assets\Graduation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670" y="2163470"/>
            <a:ext cx="336499" cy="33649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09160" y="2880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La propuesta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4709160" y="333756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Práctica diaria con preguntas PAES reales, explicación y medallas, desde el teléfono o el navegador.</a:t>
            </a:r>
            <a:endParaRPr lang="en-US" sz="1400" dirty="0"/>
          </a:p>
        </p:txBody>
      </p:sp>
      <p:pic>
        <p:nvPicPr>
          <p:cNvPr id="15" name="Image 3" descr="C:\Users\Ricardo\AppData\Local\Temp\claude\C--Users-Ricardo-Downloads-Aprueba\2da95c68-d71a-41c0-bf51-c4fba1a28d34\scratchpad\ppt\assets\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3017520"/>
            <a:ext cx="274320" cy="274320"/>
          </a:xfrm>
          <a:prstGeom prst="rect">
            <a:avLst/>
          </a:prstGeom>
        </p:spPr>
      </p:pic>
      <p:sp>
        <p:nvSpPr>
          <p:cNvPr id="16" name="ctx-2"/>
          <p:cNvSpPr/>
          <p:nvPr/>
        </p:nvSpPr>
        <p:spPr>
          <a:xfrm>
            <a:off x="8229600" y="1691640"/>
            <a:ext cx="342900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1"/>
          <p:cNvSpPr/>
          <p:nvPr/>
        </p:nvSpPr>
        <p:spPr>
          <a:xfrm>
            <a:off x="8549640" y="1965960"/>
            <a:ext cx="731520" cy="731520"/>
          </a:xfrm>
          <a:prstGeom prst="ellipse">
            <a:avLst/>
          </a:prstGeom>
          <a:solidFill>
            <a:srgbClr val="FDF0D5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4" descr="C:\Users\Ricardo\AppData\Local\Temp\claude\C--Users-Ricardo-Downloads-Aprueba\2da95c68-d71a-41c0-bf51-c4fba1a28d34\scratchpad\ppt\assets\Wre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7150" y="2163470"/>
            <a:ext cx="336499" cy="336499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549640" y="2880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Nuestro rol</a:t>
            </a:r>
            <a:endParaRPr lang="en-US" sz="1900" dirty="0"/>
          </a:p>
        </p:txBody>
      </p:sp>
      <p:sp>
        <p:nvSpPr>
          <p:cNvPr id="20" name="Text 13"/>
          <p:cNvSpPr txBox="1"/>
          <p:nvPr/>
        </p:nvSpPr>
        <p:spPr>
          <a:xfrm>
            <a:off x="8549640" y="333756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Recibimos el sistema de la empresa y lo llevamos a producción: seguridad, datos en la nube, pruebas y despliegue.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548640" y="5029200"/>
            <a:ext cx="11109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5"/>
          <p:cNvSpPr txBox="1"/>
          <p:nvPr/>
        </p:nvSpPr>
        <p:spPr>
          <a:xfrm>
            <a:off x="548640" y="5138928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1.365</a:t>
            </a:r>
            <a:endParaRPr lang="en-US" sz="22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5596128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preguntas PAES reales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3328416" y="5138928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3° y 4° medio</a:t>
            </a:r>
            <a:endParaRPr lang="en-US" sz="2200" dirty="0"/>
          </a:p>
        </p:txBody>
      </p:sp>
      <p:sp>
        <p:nvSpPr>
          <p:cNvPr id="25" name="Text 18"/>
          <p:cNvSpPr txBox="1"/>
          <p:nvPr/>
        </p:nvSpPr>
        <p:spPr>
          <a:xfrm>
            <a:off x="3328416" y="5596128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público objetivo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108192" y="5138928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Chile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6108192" y="5596128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primer mercado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8887968" y="5138928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Alloxentric</a:t>
            </a:r>
            <a:endParaRPr lang="en-US" sz="2200" dirty="0"/>
          </a:p>
        </p:txBody>
      </p:sp>
      <p:sp>
        <p:nvSpPr>
          <p:cNvPr id="29" name="Text 22"/>
          <p:cNvSpPr txBox="1"/>
          <p:nvPr/>
        </p:nvSpPr>
        <p:spPr>
          <a:xfrm>
            <a:off x="8887968" y="5596128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empresa mandante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LO QUE CONSTRUIMOS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Una sola API, dos clientes, datos en la nube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154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77240" y="2084832"/>
            <a:ext cx="731520" cy="73152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C:\Users\Ricardo\AppData\Local\Temp\claude\C--Users-Ricardo-Downloads-Aprueba\2da95c68-d71a-41c0-bf51-c4fba1a28d34\scratchpad\ppt\assets\Smart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" y="2282342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084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 móvil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Flutter · Android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3154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777240" y="3685032"/>
            <a:ext cx="731520" cy="73152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1" descr="C:\Users\Ricardo\AppData\Local\Temp\claude\C--Users-Ricardo-Downloads-Aprueba\2da95c68-d71a-41c0-bf51-c4fba1a28d34\scratchpad\ppt\assets\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0" y="3882542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91640" y="3685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Sitio web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69164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React + Vite · Vercel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97680" y="1783080"/>
            <a:ext cx="3611880" cy="292608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1"/>
          <p:cNvSpPr/>
          <p:nvPr/>
        </p:nvSpPr>
        <p:spPr>
          <a:xfrm>
            <a:off x="4553712" y="2029968"/>
            <a:ext cx="685800" cy="685800"/>
          </a:xfrm>
          <a:prstGeom prst="ellipse">
            <a:avLst/>
          </a:prstGeom>
          <a:solidFill>
            <a:srgbClr val="3B5B8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2" descr="C:\Users\Ricardo\AppData\Local\Temp\claude\C--Users-Ricardo-Downloads-Aprueba\2da95c68-d71a-41c0-bf51-c4fba1a28d34\scratchpad\ppt\assets\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878" y="2215134"/>
            <a:ext cx="315468" cy="3154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9496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API REST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5394960" y="2395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Node.js + Express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0" y="30175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89 endpoints documentados (OpenAPI 3.1)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Autenticación JWT y control de acceso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Vercel · São Paulo (gru1)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503920" y="1783080"/>
            <a:ext cx="3154680" cy="292608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6"/>
          <p:cNvSpPr/>
          <p:nvPr/>
        </p:nvSpPr>
        <p:spPr>
          <a:xfrm>
            <a:off x="8732520" y="2029968"/>
            <a:ext cx="731520" cy="731520"/>
          </a:xfrm>
          <a:prstGeom prst="ellipse">
            <a:avLst/>
          </a:prstGeom>
          <a:solidFill>
            <a:srgbClr val="FDF0D5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2" name="Image 3" descr="C:\Users\Ricardo\AppData\Local\Temp\claude\C--Users-Ricardo-Downloads-Aprueba\2da95c68-d71a-41c0-bf51-c4fba1a28d34\scratchpad\ppt\assets\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0030" y="2227478"/>
            <a:ext cx="336499" cy="33649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73252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Cloud Firestore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8732520" y="32918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Santiago (southamerica-west1)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22 colecciones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Reglas e índices desplegados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703320" y="2450592"/>
            <a:ext cx="594360" cy="7955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0"/>
          <p:cNvSpPr/>
          <p:nvPr/>
        </p:nvSpPr>
        <p:spPr>
          <a:xfrm>
            <a:off x="3703320" y="4050792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1"/>
          <p:cNvSpPr/>
          <p:nvPr/>
        </p:nvSpPr>
        <p:spPr>
          <a:xfrm>
            <a:off x="7909560" y="3246120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2"/>
          <p:cNvSpPr/>
          <p:nvPr/>
        </p:nvSpPr>
        <p:spPr>
          <a:xfrm>
            <a:off x="548640" y="5074920"/>
            <a:ext cx="111099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Shape 23"/>
          <p:cNvSpPr/>
          <p:nvPr/>
        </p:nvSpPr>
        <p:spPr>
          <a:xfrm>
            <a:off x="822960" y="525780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0" name="Image 4" descr="C:\Users\Ricardo\AppData\Local\Temp\claude\C--Users-Ricardo-Downloads-Aprueba\2da95c68-d71a-41c0-bf51-c4fba1a28d34\scratchpad\ppt\assets\GitPullRequ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782" y="5430622"/>
            <a:ext cx="294437" cy="29443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600200" y="5303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Cada cambio entra por Pull Request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4480560" y="525780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3" name="Image 5" descr="C:\Users\Ricardo\AppData\Local\Temp\claude\C--Users-Ricardo-Downloads-Aprueba\2da95c68-d71a-41c0-bf51-c4fba1a28d34\scratchpad\ppt\assets\Roc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3382" y="5430622"/>
            <a:ext cx="294437" cy="29443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257800" y="5303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Vista previa automática en Vercel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8138160" y="525780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6" name="Image 6" descr="C:\Users\Ricardo\AppData\Local\Temp\claude\C--Users-Ricardo-Downloads-Aprueba\2da95c68-d71a-41c0-bf51-c4fba1a28d34\scratchpad\ppt\assets\RefreshC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0982" y="5430622"/>
            <a:ext cx="294437" cy="29443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915400" y="5303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 integrar a main, pasa a producción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ESTADO DEL PROYECTO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Avance por objetivo específico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94944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31520" y="17556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00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Migrar la persistencia a Cloud Firestore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5681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Base de datos real con índices y reglas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792224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47857"/>
                </a:solidFill>
              </a:rPr>
              <a:t>COMPLETADO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3225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Corregir las vulnerabilidades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786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Las 6 del sistema recibido, cerradas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414016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47857"/>
                </a:solidFill>
              </a:rPr>
              <a:t>COMPLETADO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89504"/>
            <a:ext cx="694944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731520" y="2999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9443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Desplegar el servicio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20040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Vercel listo · Docker en Fase 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0358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2400E"/>
                </a:solidFill>
              </a:rPr>
              <a:t>EN CURSO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6210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566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Construir pruebas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822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Integración lista · unitarias en curso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657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2400E"/>
                </a:solidFill>
              </a:rPr>
              <a:t>EN CURSO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133088"/>
            <a:ext cx="694944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731520" y="42428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1879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Completar flujos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444398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Resolución de recorrecciones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427939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475569"/>
                </a:solidFill>
              </a:rPr>
              <a:t>PENDIENTE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8646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48097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Documentar el contrato de la API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5065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OpenAPI 3.1, verificado contra el código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035040" y="4901184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47857"/>
                </a:solidFill>
              </a:rPr>
              <a:t>COMPLETADO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376672"/>
            <a:ext cx="694944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731520" y="5486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07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54315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Integrar los clientes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234440" y="568756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Sitio web listo · app en integración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035040" y="5522976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2400E"/>
                </a:solidFill>
              </a:rPr>
              <a:t>EN CURSO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09560" y="1645920"/>
            <a:ext cx="3749040" cy="429768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 txBox="1"/>
          <p:nvPr/>
        </p:nvSpPr>
        <p:spPr>
          <a:xfrm>
            <a:off x="818388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Product Backlog</a:t>
            </a:r>
            <a:endParaRPr lang="en-US" sz="150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8412480" y="2148840"/>
          <a:ext cx="27432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Text 36"/>
          <p:cNvSpPr txBox="1"/>
          <p:nvPr/>
        </p:nvSpPr>
        <p:spPr>
          <a:xfrm>
            <a:off x="9189720" y="29260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12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de 27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183880" y="4782312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1" name="Text 38"/>
          <p:cNvSpPr txBox="1"/>
          <p:nvPr/>
        </p:nvSpPr>
        <p:spPr>
          <a:xfrm>
            <a:off x="8412480" y="47091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 </a:t>
            </a:r>
            <a:r>
              <a:rPr lang="en-US" sz="1200" dirty="0">
                <a:solidFill>
                  <a:schemeClr val="accent4"/>
                </a:solidFill>
              </a:rPr>
              <a:t>Terminados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9875520" y="4782312"/>
            <a:ext cx="146304" cy="146304"/>
          </a:xfrm>
          <a:prstGeom prst="ellipse">
            <a:avLst/>
          </a:prstGeom>
          <a:solidFill>
            <a:srgbClr val="3B5B8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3" name="Text 40"/>
          <p:cNvSpPr txBox="1"/>
          <p:nvPr/>
        </p:nvSpPr>
        <p:spPr>
          <a:xfrm>
            <a:off x="10104120" y="47091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4 </a:t>
            </a:r>
            <a:r>
              <a:rPr lang="en-US" sz="1200" dirty="0">
                <a:solidFill>
                  <a:schemeClr val="accent4"/>
                </a:solidFill>
              </a:rPr>
              <a:t>En revisión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8183880" y="5221224"/>
            <a:ext cx="146304" cy="146304"/>
          </a:xfrm>
          <a:prstGeom prst="ellipse">
            <a:avLst/>
          </a:prstGeom>
          <a:solidFill>
            <a:srgbClr val="F5B0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5" name="Text 42"/>
          <p:cNvSpPr txBox="1"/>
          <p:nvPr/>
        </p:nvSpPr>
        <p:spPr>
          <a:xfrm>
            <a:off x="8412480" y="51480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3 </a:t>
            </a:r>
            <a:r>
              <a:rPr lang="en-US" sz="1200" dirty="0">
                <a:solidFill>
                  <a:schemeClr val="accent4"/>
                </a:solidFill>
              </a:rPr>
              <a:t>En curso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9875520" y="5221224"/>
            <a:ext cx="146304" cy="146304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7" name="Text 44"/>
          <p:cNvSpPr txBox="1"/>
          <p:nvPr/>
        </p:nvSpPr>
        <p:spPr>
          <a:xfrm>
            <a:off x="10104120" y="51480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8 </a:t>
            </a:r>
            <a:r>
              <a:rPr lang="en-US" sz="1200" dirty="0">
                <a:solidFill>
                  <a:schemeClr val="accent4"/>
                </a:solidFill>
              </a:rPr>
              <a:t>Pendientes</a:t>
            </a:r>
            <a:endParaRPr lang="en-US" sz="12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SEGURIDAD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De bloqueante a resuelto: 6 de 6 vulnerabilidades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1C1C"/>
                </a:solidFill>
              </a:rPr>
              <a:t>ANTES · SISTEMA RECIBIDO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62940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47857"/>
                </a:solidFill>
              </a:rPr>
              <a:t>AHORA · EN PRODUCCIÓN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111099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685800" y="204825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</a:t>
            </a:r>
            <a:endParaRPr lang="en-US" sz="1400" dirty="0"/>
          </a:p>
        </p:txBody>
      </p:sp>
      <p:pic>
        <p:nvPicPr>
          <p:cNvPr id="8" name="Image 0" descr="C:\Users\Ricardo\AppData\Local\Temp\claude\C--Users-Ricardo-Downloads-Aprueba\2da95c68-d71a-41c0-bf51-c4fba1a28d34\scratchpad\ppt\assets\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103120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9842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Login social falsificable: se podía entrar a cualquier cuenta</a:t>
            </a:r>
            <a:endParaRPr lang="en-US" sz="1300" dirty="0"/>
          </a:p>
        </p:txBody>
      </p:sp>
      <p:pic>
        <p:nvPicPr>
          <p:cNvPr id="10" name="Image 1" descr="C:\Users\Ricardo\AppData\Local\Temp\claude\C--Users-Ricardo-Downloads-Aprueba\2da95c68-d71a-41c0-bf51-c4fba1a28d34\scratchpad\ppt\assets\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103120"/>
            <a:ext cx="219456" cy="219456"/>
          </a:xfrm>
          <a:prstGeom prst="rect">
            <a:avLst/>
          </a:prstGeom>
        </p:spPr>
      </p:pic>
      <p:pic>
        <p:nvPicPr>
          <p:cNvPr id="11" name="Image 2" descr="C:\Users\Ricardo\AppData\Local\Temp\claude\C--Users-Ricardo-Downloads-Aprueba\2da95c68-d71a-41c0-bf51-c4fba1a28d34\scratchpad\ppt\assets\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10312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903720" y="19842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Token verificado; el atajo de demostración no entra a cuentas con contraseña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2560320"/>
            <a:ext cx="1110996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9"/>
          <p:cNvSpPr txBox="1"/>
          <p:nvPr/>
        </p:nvSpPr>
        <p:spPr>
          <a:xfrm>
            <a:off x="685800" y="267004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</a:t>
            </a:r>
            <a:endParaRPr lang="en-US" sz="1400" dirty="0"/>
          </a:p>
        </p:txBody>
      </p:sp>
      <p:pic>
        <p:nvPicPr>
          <p:cNvPr id="15" name="Image 3" descr="C:\Users\Ricardo\AppData\Local\Temp\claude\C--Users-Ricardo-Downloads-Aprueba\2da95c68-d71a-41c0-bf51-c4fba1a28d34\scratchpad\ppt\assets\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72491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508760" y="26060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Plan premium activable sin pagar</a:t>
            </a:r>
            <a:endParaRPr lang="en-US" sz="1300" dirty="0"/>
          </a:p>
        </p:txBody>
      </p:sp>
      <p:pic>
        <p:nvPicPr>
          <p:cNvPr id="17" name="Image 4" descr="C:\Users\Ricardo\AppData\Local\Temp\claude\C--Users-Ricardo-Downloads-Aprueba\2da95c68-d71a-41c0-bf51-c4fba1a28d34\scratchpad\ppt\assets\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724912"/>
            <a:ext cx="219456" cy="219456"/>
          </a:xfrm>
          <a:prstGeom prst="rect">
            <a:avLst/>
          </a:prstGeom>
        </p:spPr>
      </p:pic>
      <p:pic>
        <p:nvPicPr>
          <p:cNvPr id="18" name="Image 5" descr="C:\Users\Ricardo\AppData\Local\Temp\claude\C--Users-Ricardo-Downloads-Aprueba\2da95c68-d71a-41c0-bf51-c4fba1a28d34\scratchpad\ppt\assets\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724912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903720" y="2606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Plan validado; sin pagos integrados solo funciona en modo demo</a:t>
            </a:r>
            <a:endParaRPr lang="en-US" sz="1300" dirty="0"/>
          </a:p>
        </p:txBody>
      </p:sp>
      <p:sp>
        <p:nvSpPr>
          <p:cNvPr id="20" name="Shape 12"/>
          <p:cNvSpPr/>
          <p:nvPr/>
        </p:nvSpPr>
        <p:spPr>
          <a:xfrm>
            <a:off x="548640" y="3182112"/>
            <a:ext cx="111099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3"/>
          <p:cNvSpPr txBox="1"/>
          <p:nvPr/>
        </p:nvSpPr>
        <p:spPr>
          <a:xfrm>
            <a:off x="685800" y="329184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/>
                </a:solidFill>
              </a:rPr>
              <a:t>3</a:t>
            </a:r>
            <a:endParaRPr lang="en-US" sz="1400" dirty="0"/>
          </a:p>
        </p:txBody>
      </p:sp>
      <p:pic>
        <p:nvPicPr>
          <p:cNvPr id="22" name="Image 6" descr="C:\Users\Ricardo\AppData\Local\Temp\claude\C--Users-Ricardo-Downloads-Aprueba\2da95c68-d71a-41c0-bf51-c4fba1a28d34\scratchpad\ppt\assets\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346704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508760" y="32278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Secreto JWT por defecto ('dev-secret')</a:t>
            </a:r>
            <a:endParaRPr lang="en-US" sz="1300" dirty="0"/>
          </a:p>
        </p:txBody>
      </p:sp>
      <p:pic>
        <p:nvPicPr>
          <p:cNvPr id="24" name="Image 7" descr="C:\Users\Ricardo\AppData\Local\Temp\claude\C--Users-Ricardo-Downloads-Aprueba\2da95c68-d71a-41c0-bf51-c4fba1a28d34\scratchpad\ppt\assets\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346704"/>
            <a:ext cx="219456" cy="219456"/>
          </a:xfrm>
          <a:prstGeom prst="rect">
            <a:avLst/>
          </a:prstGeom>
        </p:spPr>
      </p:pic>
      <p:pic>
        <p:nvPicPr>
          <p:cNvPr id="25" name="Image 8" descr="C:\Users\Ricardo\AppData\Local\Temp\claude\C--Users-Ricardo-Downloads-Aprueba\2da95c68-d71a-41c0-bf51-c4fba1a28d34\scratchpad\ppt\assets\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346704"/>
            <a:ext cx="219456" cy="219456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903720" y="32278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 API no arranca sin un secreto robusto</a:t>
            </a:r>
            <a:endParaRPr lang="en-US" sz="1300" dirty="0"/>
          </a:p>
        </p:txBody>
      </p:sp>
      <p:sp>
        <p:nvSpPr>
          <p:cNvPr id="27" name="Shape 16"/>
          <p:cNvSpPr/>
          <p:nvPr/>
        </p:nvSpPr>
        <p:spPr>
          <a:xfrm>
            <a:off x="548640" y="3803904"/>
            <a:ext cx="1110996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17"/>
          <p:cNvSpPr txBox="1"/>
          <p:nvPr/>
        </p:nvSpPr>
        <p:spPr>
          <a:xfrm>
            <a:off x="685800" y="391363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/>
                </a:solidFill>
              </a:rPr>
              <a:t>4</a:t>
            </a:r>
            <a:endParaRPr lang="en-US" sz="1400" dirty="0"/>
          </a:p>
        </p:txBody>
      </p:sp>
      <p:pic>
        <p:nvPicPr>
          <p:cNvPr id="29" name="Image 9" descr="C:\Users\Ricardo\AppData\Local\Temp\claude\C--Users-Ricardo-Downloads-Aprueba\2da95c68-d71a-41c0-bf51-c4fba1a28d34\scratchpad\ppt\assets\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968496"/>
            <a:ext cx="219456" cy="219456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508760" y="384962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Correos de invitación visibles para cualquiera</a:t>
            </a:r>
            <a:endParaRPr lang="en-US" sz="1300" dirty="0"/>
          </a:p>
        </p:txBody>
      </p:sp>
      <p:pic>
        <p:nvPicPr>
          <p:cNvPr id="31" name="Image 10" descr="C:\Users\Ricardo\AppData\Local\Temp\claude\C--Users-Ricardo-Downloads-Aprueba\2da95c68-d71a-41c0-bf51-c4fba1a28d34\scratchpad\ppt\assets\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968496"/>
            <a:ext cx="219456" cy="219456"/>
          </a:xfrm>
          <a:prstGeom prst="rect">
            <a:avLst/>
          </a:prstGeom>
        </p:spPr>
      </p:pic>
      <p:pic>
        <p:nvPicPr>
          <p:cNvPr id="32" name="Image 11" descr="C:\Users\Ricardo\AppData\Local\Temp\claude\C--Users-Ricardo-Downloads-Aprueba\2da95c68-d71a-41c0-bf51-c4fba1a28d34\scratchpad\ppt\assets\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968496"/>
            <a:ext cx="219456" cy="219456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6903720" y="38496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Solo los miembros del grupo los ven</a:t>
            </a:r>
            <a:endParaRPr lang="en-US" sz="1300" dirty="0"/>
          </a:p>
        </p:txBody>
      </p:sp>
      <p:sp>
        <p:nvSpPr>
          <p:cNvPr id="34" name="Shape 20"/>
          <p:cNvSpPr/>
          <p:nvPr/>
        </p:nvSpPr>
        <p:spPr>
          <a:xfrm>
            <a:off x="548640" y="4425696"/>
            <a:ext cx="111099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Text 21"/>
          <p:cNvSpPr txBox="1"/>
          <p:nvPr/>
        </p:nvSpPr>
        <p:spPr>
          <a:xfrm>
            <a:off x="685800" y="453542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/>
                </a:solidFill>
              </a:rPr>
              <a:t>5</a:t>
            </a:r>
            <a:endParaRPr lang="en-US" sz="1400" dirty="0"/>
          </a:p>
        </p:txBody>
      </p:sp>
      <p:pic>
        <p:nvPicPr>
          <p:cNvPr id="36" name="Image 12" descr="C:\Users\Ricardo\AppData\Local\Temp\claude\C--Users-Ricardo-Downloads-Aprueba\2da95c68-d71a-41c0-bf51-c4fba1a28d34\scratchpad\ppt\assets\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590288"/>
            <a:ext cx="219456" cy="219456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1508760" y="447141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Invitaciones sin dueño ni vencimiento</a:t>
            </a:r>
            <a:endParaRPr lang="en-US" sz="1300" dirty="0"/>
          </a:p>
        </p:txBody>
      </p:sp>
      <p:pic>
        <p:nvPicPr>
          <p:cNvPr id="38" name="Image 13" descr="C:\Users\Ricardo\AppData\Local\Temp\claude\C--Users-Ricardo-Downloads-Aprueba\2da95c68-d71a-41c0-bf51-c4fba1a28d34\scratchpad\ppt\assets\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4590288"/>
            <a:ext cx="219456" cy="219456"/>
          </a:xfrm>
          <a:prstGeom prst="rect">
            <a:avLst/>
          </a:prstGeom>
        </p:spPr>
      </p:pic>
      <p:pic>
        <p:nvPicPr>
          <p:cNvPr id="39" name="Image 14" descr="C:\Users\Ricardo\AppData\Local\Temp\claude\C--Users-Ricardo-Downloads-Aprueba\2da95c68-d71a-41c0-bf51-c4fba1a28d34\scratchpad\ppt\assets\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590288"/>
            <a:ext cx="219456" cy="219456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6903720" y="44714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Ligadas al correo invitado y vencen a los 7 días</a:t>
            </a:r>
            <a:endParaRPr lang="en-US" sz="1300" dirty="0"/>
          </a:p>
        </p:txBody>
      </p:sp>
      <p:sp>
        <p:nvSpPr>
          <p:cNvPr id="41" name="Shape 24"/>
          <p:cNvSpPr/>
          <p:nvPr/>
        </p:nvSpPr>
        <p:spPr>
          <a:xfrm>
            <a:off x="548640" y="5047488"/>
            <a:ext cx="1110996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25"/>
          <p:cNvSpPr txBox="1"/>
          <p:nvPr/>
        </p:nvSpPr>
        <p:spPr>
          <a:xfrm>
            <a:off x="685800" y="515721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/>
                </a:solidFill>
              </a:rPr>
              <a:t>6</a:t>
            </a:r>
            <a:endParaRPr lang="en-US" sz="1400" dirty="0"/>
          </a:p>
        </p:txBody>
      </p:sp>
      <p:pic>
        <p:nvPicPr>
          <p:cNvPr id="43" name="Image 15" descr="C:\Users\Ricardo\AppData\Local\Temp\claude\C--Users-Ricardo-Downloads-Aprueba\2da95c68-d71a-41c0-bf51-c4fba1a28d34\scratchpad\ppt\assets\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5212080"/>
            <a:ext cx="219456" cy="219456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1508760" y="509320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CORS abierto y sin cabeceras de seguridad</a:t>
            </a:r>
            <a:endParaRPr lang="en-US" sz="1300" dirty="0"/>
          </a:p>
        </p:txBody>
      </p:sp>
      <p:pic>
        <p:nvPicPr>
          <p:cNvPr id="45" name="Image 16" descr="C:\Users\Ricardo\AppData\Local\Temp\claude\C--Users-Ricardo-Downloads-Aprueba\2da95c68-d71a-41c0-bf51-c4fba1a28d34\scratchpad\ppt\assets\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5212080"/>
            <a:ext cx="219456" cy="219456"/>
          </a:xfrm>
          <a:prstGeom prst="rect">
            <a:avLst/>
          </a:prstGeom>
        </p:spPr>
      </p:pic>
      <p:pic>
        <p:nvPicPr>
          <p:cNvPr id="46" name="Image 17" descr="C:\Users\Ricardo\AppData\Local\Temp\claude\C--Users-Ricardo-Downloads-Aprueba\2da95c68-d71a-41c0-bf51-c4fba1a28d34\scratchpad\ppt\assets\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212080"/>
            <a:ext cx="219456" cy="219456"/>
          </a:xfrm>
          <a:prstGeom prst="rect">
            <a:avLst/>
          </a:prstGeom>
        </p:spPr>
      </p:pic>
      <p:sp>
        <p:nvSpPr>
          <p:cNvPr id="47" name="Text 27"/>
          <p:cNvSpPr txBox="1"/>
          <p:nvPr/>
        </p:nvSpPr>
        <p:spPr>
          <a:xfrm>
            <a:off x="6903720" y="50932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Lista de orígenes permitidos y cabeceras con helmet</a:t>
            </a:r>
            <a:endParaRPr lang="en-US" sz="1300" dirty="0"/>
          </a:p>
        </p:txBody>
      </p:sp>
      <p:sp>
        <p:nvSpPr>
          <p:cNvPr id="48" name="Text 28"/>
          <p:cNvSpPr txBox="1"/>
          <p:nvPr/>
        </p:nvSpPr>
        <p:spPr>
          <a:xfrm>
            <a:off x="548640" y="5788152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Antes de tener usuarios reales: </a:t>
            </a:r>
            <a:r>
              <a:rPr lang="en-US" sz="1200" dirty="0">
                <a:solidFill>
                  <a:schemeClr val="accent4"/>
                </a:solidFill>
              </a:rPr>
              <a:t>límite de intentos de login, rotación de tokens y desactivar el modo demo.</a:t>
            </a:r>
            <a:endParaRPr lang="en-US" sz="12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CALIDAD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Mediciones de Calidad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C:\Users\Ricardo\AppData\Local\Temp\claude\C--Users-Ricardo-Downloads-Aprueba\2da95c68-d71a-41c0-bf51-c4fba1a28d34\scratchpad\ppt\assets\Shield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" y="2196846"/>
            <a:ext cx="315468" cy="3154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</a:rPr>
              <a:t>284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verificaciones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776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Prueba de integración de la API, 0 fallos. Incluye cada corrección de seguridad.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3657600" y="201168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Image 1" descr="C:\Users\Ricardo\AppData\Local\Temp\claude\C--Users-Ricardo-Downloads-Aprueba\2da95c68-d71a-41c0-bf51-c4fba1a28d34\scratchpad\ppt\assets\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766" y="2196846"/>
            <a:ext cx="315468" cy="3154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</a:rPr>
              <a:t>89/89</a:t>
            </a: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611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endpoints documentados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39776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El contrato OpenAPI se valida contra las rutas del código.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6492240" y="201168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2" descr="C:\Users\Ricardo\AppData\Local\Temp\claude\C--Users-Ricardo-Downloads-Aprueba\2da95c68-d71a-41c0-bf51-c4fba1a28d34\scratchpad\ppt\assets\Smart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406" y="2196846"/>
            <a:ext cx="315468" cy="3154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</a:rPr>
              <a:t>70/70</a:t>
            </a:r>
            <a:endParaRPr lang="en-US" sz="44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3611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pruebas de la app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39776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Pruebas de la app Flutter y análisis estático sin observaciones.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5256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18"/>
          <p:cNvSpPr/>
          <p:nvPr/>
        </p:nvSpPr>
        <p:spPr>
          <a:xfrm>
            <a:off x="9326880" y="201168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4" name="Image 3" descr="C:\Users\Ricardo\AppData\Local\Temp\claude\C--Users-Ricardo-Downloads-Aprueba\2da95c68-d71a-41c0-bf51-c4fba1a28d34\scratchpad\ppt\assets\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2046" y="2196846"/>
            <a:ext cx="315468" cy="3154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2688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</a:rPr>
              <a:t>1.365</a:t>
            </a:r>
            <a:endParaRPr lang="en-US" sz="4400" dirty="0"/>
          </a:p>
        </p:txBody>
      </p:sp>
      <p:sp>
        <p:nvSpPr>
          <p:cNvPr id="26" name="Text 20"/>
          <p:cNvSpPr txBox="1"/>
          <p:nvPr/>
        </p:nvSpPr>
        <p:spPr>
          <a:xfrm>
            <a:off x="9326880" y="3611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preguntas PAES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9326880" y="39776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Banco importado a Firestore con identificadores deterministas.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METODOLOGÍA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Scrum en la práctica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737360" cy="19659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S0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07-09 · 19-09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42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Definición y entorno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7355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47857"/>
                </a:solidFill>
              </a:rPr>
              <a:t>CERRADO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691640"/>
            <a:ext cx="1737360" cy="19659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260604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S1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240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21-09 · 03-10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542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Firestore, seguridad crítica y despliegue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327355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47857"/>
                </a:solidFill>
              </a:rPr>
              <a:t>CERRADO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1691640"/>
            <a:ext cx="1737360" cy="19659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448056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S2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240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05-10 · 17-10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2542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App Android compilable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27355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47857"/>
                </a:solidFill>
              </a:rPr>
              <a:t>CERRADO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1691640"/>
            <a:ext cx="1737360" cy="19659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635508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S3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240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19-10 · 31-10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542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Seguridad restante, pruebas e integración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27355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2400E"/>
                </a:solidFill>
              </a:rPr>
              <a:t>EN CURSO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0" y="1691640"/>
            <a:ext cx="1737360" cy="19659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822960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S4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2240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02-11 · 14-11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2542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Flujos e integración de clientes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327355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475569"/>
                </a:solidFill>
              </a:rPr>
              <a:t>PRÓXIMO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921240" y="1691640"/>
            <a:ext cx="1737360" cy="19659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 txBox="1"/>
          <p:nvPr/>
        </p:nvSpPr>
        <p:spPr>
          <a:xfrm>
            <a:off x="1010412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S5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0104120" y="2240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16-11 · 28-11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104120" y="2542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Contenedores y cierre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04120" y="327355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475569"/>
                </a:solidFill>
              </a:rPr>
              <a:t>PRÓXIMO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97764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6" name="Image 0" descr="C:\Users\Ricardo\AppData\Local\Temp\claude\C--Users-Ricardo-Downloads-Aprueba\2da95c68-d71a-41c0-bf51-c4fba1a28d34\scratchpad\ppt\assets\GitPullRequ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4379062"/>
            <a:ext cx="294437" cy="294437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600200" y="4297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GitHub Flow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822960" y="49834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122 commits, 16 Pull Requests integrados. main siempre desplegable y una etiqueta por hito (v0.1.0).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4343400" y="397764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Shape 37"/>
          <p:cNvSpPr/>
          <p:nvPr/>
        </p:nvSpPr>
        <p:spPr>
          <a:xfrm>
            <a:off x="4617720" y="420624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1" name="Image 1" descr="C:\Users\Ricardo\AppData\Local\Temp\claude\C--Users-Ricardo-Downloads-Aprueba\2da95c68-d71a-41c0-bf51-c4fba1a28d34\scratchpad\ppt\assets\Calendar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542" y="4379062"/>
            <a:ext cx="294437" cy="294437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5394960" y="4297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Sprint 1 adelantado</a:t>
            </a:r>
            <a:endParaRPr lang="en-US" sz="1600" dirty="0"/>
          </a:p>
        </p:txBody>
      </p:sp>
      <p:sp>
        <p:nvSpPr>
          <p:cNvPr id="43" name="Text 39"/>
          <p:cNvSpPr txBox="1"/>
          <p:nvPr/>
        </p:nvSpPr>
        <p:spPr>
          <a:xfrm>
            <a:off x="4617720" y="49834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Cerró con 50 puntos y adelantó la seguridad crítica y el contrato OpenAPI.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8138160" y="397764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5" name="Shape 41"/>
          <p:cNvSpPr/>
          <p:nvPr/>
        </p:nvSpPr>
        <p:spPr>
          <a:xfrm>
            <a:off x="8412480" y="420624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6" name="Image 2" descr="C:\Users\Ricardo\AppData\Local\Temp\claude\C--Users-Ricardo-Downloads-Aprueba\2da95c68-d71a-41c0-bf51-c4fba1a28d34\scratchpad\ppt\assets\RotateCc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302" y="4379062"/>
            <a:ext cx="294437" cy="294437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9189720" y="4297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Ajuste del plan</a:t>
            </a:r>
            <a:endParaRPr lang="en-US" sz="1600" dirty="0"/>
          </a:p>
        </p:txBody>
      </p:sp>
      <p:sp>
        <p:nvSpPr>
          <p:cNvPr id="48" name="Text 43"/>
          <p:cNvSpPr txBox="1"/>
          <p:nvPr/>
        </p:nvSpPr>
        <p:spPr>
          <a:xfrm>
            <a:off x="8412480" y="49834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Sin avance del 08 al 21-10. El Sprint 3 se replanificó y todo cambio entra por PR.</a:t>
            </a:r>
            <a:endParaRPr lang="en-US" sz="13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DEMOSTRACIÓN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Aprueba funcionando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Sitio web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83794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47857"/>
                </a:solidFill>
              </a:rPr>
              <a:t>EN VIVO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4572000" y="17830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API · Swagger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83794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47857"/>
                </a:solidFill>
              </a:rPr>
              <a:t>EN VIVO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8366760" y="17830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App móvil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0" y="183794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A365D"/>
                </a:solidFill>
              </a:rPr>
              <a:t>VIDEO</a:t>
            </a:r>
            <a:endParaRPr lang="en-US" sz="1000" dirty="0"/>
          </a:p>
        </p:txBody>
      </p:sp>
      <p:pic>
        <p:nvPicPr>
          <p:cNvPr id="16" name="Image 0" descr="C:\Users\Ricardo\AppData\Local\Temp\claude\C--Users-Ricardo-Downloads-Aprueba\2da95c68-d71a-41c0-bf51-c4fba1a28d34\scratchpad\ppt\assets\web_inic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377440"/>
            <a:ext cx="3063240" cy="1928541"/>
          </a:xfrm>
          <a:prstGeom prst="rect">
            <a:avLst/>
          </a:prstGeom>
        </p:spPr>
      </p:pic>
      <p:sp>
        <p:nvSpPr>
          <p:cNvPr id="901" name="Botón sitio web">
            <a:hlinkClick r:id="rId6"/>
          </p:cNvPr>
          <p:cNvSpPr/>
          <p:nvPr/>
        </p:nvSpPr>
        <p:spPr>
          <a:xfrm>
            <a:off x="777240" y="452628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F5B041"/>
          </a:solidFill>
          <a:ln>
            <a:noFill/>
          </a:ln>
        </p:spPr>
        <p:txBody>
          <a:bodyPr wrap="none" lIns="91440" tIns="0" rIns="91440" bIns="0" rtlCol="0" anchor="ctr">
            <a:noAutofit/>
          </a:bodyPr>
          <a:lstStyle/>
          <a:p>
            <a:pPr algn="ctr"/>
            <a:r>
              <a:rPr lang="es-CL" sz="1200" b="1" dirty="0">
                <a:solidFill>
                  <a:srgbClr val="1A365D"/>
                </a:solidFill>
                <a:latin typeface="Segoe UI"/>
                <a:cs typeface="Segoe UI"/>
              </a:rPr>
              <a:t>aprueba-student-web.vercel.app  ↗</a:t>
            </a:r>
          </a:p>
        </p:txBody>
      </p:sp>
      <p:sp>
        <p:nvSpPr>
          <p:cNvPr id="19" name="Text 15"/>
          <p:cNvSpPr txBox="1"/>
          <p:nvPr/>
        </p:nvSpPr>
        <p:spPr>
          <a:xfrm>
            <a:off x="777240" y="5166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Login, práctica, corrección y medallas</a:t>
            </a:r>
            <a:endParaRPr lang="en-US" sz="1200" dirty="0"/>
          </a:p>
        </p:txBody>
      </p:sp>
      <p:pic>
        <p:nvPicPr>
          <p:cNvPr id="20" name="Image 2" descr="C:\Users\Ricardo\AppData\Local\Temp\claude\C--Users-Ricardo-Downloads-Aprueba\2da95c68-d71a-41c0-bf51-c4fba1a28d34\scratchpad\ppt\assets\swagg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377440"/>
            <a:ext cx="3063240" cy="1928541"/>
          </a:xfrm>
          <a:prstGeom prst="rect">
            <a:avLst/>
          </a:prstGeom>
        </p:spPr>
      </p:pic>
      <p:sp>
        <p:nvSpPr>
          <p:cNvPr id="902" name="Botón API">
            <a:hlinkClick r:id="rId8"/>
          </p:cNvPr>
          <p:cNvSpPr/>
          <p:nvPr/>
        </p:nvSpPr>
        <p:spPr>
          <a:xfrm>
            <a:off x="4572000" y="452628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F5B041"/>
          </a:solidFill>
          <a:ln>
            <a:noFill/>
          </a:ln>
        </p:spPr>
        <p:txBody>
          <a:bodyPr wrap="none" lIns="91440" tIns="0" rIns="91440" bIns="0" rtlCol="0" anchor="ctr">
            <a:noAutofit/>
          </a:bodyPr>
          <a:lstStyle/>
          <a:p>
            <a:pPr algn="ctr"/>
            <a:r>
              <a:rPr lang="es-CL" sz="1200" b="1" dirty="0">
                <a:solidFill>
                  <a:srgbClr val="1A365D"/>
                </a:solidFill>
                <a:latin typeface="Segoe UI"/>
                <a:cs typeface="Segoe UI"/>
              </a:rPr>
              <a:t>aprueba-api.vercel.app/api/docs  ↗</a:t>
            </a:r>
          </a:p>
        </p:txBody>
      </p:sp>
      <p:sp>
        <p:nvSpPr>
          <p:cNvPr id="24" name="Text 18"/>
          <p:cNvSpPr txBox="1"/>
          <p:nvPr/>
        </p:nvSpPr>
        <p:spPr>
          <a:xfrm>
            <a:off x="4572000" y="5166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Login → token → llamada protegida → suplantación rechazada</a:t>
            </a:r>
            <a:endParaRPr lang="en-US" sz="1200" dirty="0"/>
          </a:p>
        </p:txBody>
      </p:sp>
      <p:pic>
        <p:nvPicPr>
          <p:cNvPr id="903" name="Video_App_Aprueba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35417" r="35417"/>
          <a:stretch>
            <a:fillRect/>
          </a:stretch>
        </p:blipFill>
        <p:spPr>
          <a:xfrm>
            <a:off x="9116060" y="2377440"/>
            <a:ext cx="1564640" cy="301752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366760" y="55321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Mismo usuario que en la web: la respuesta se refleja en su progreso</a:t>
            </a:r>
            <a:endParaRPr lang="en-US" sz="11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90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3"/>
                  </p:tgtEl>
                </p:cond>
              </p:nextCondLst>
            </p:seq>
            <p:video fullScrn="1"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90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FASE 3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Lo que falta para la entrega final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C:\Users\Ricardo\AppData\Local\Temp\claude\C--Users-Ricardo-Downloads-Aprueba\2da95c68-d71a-41c0-bf51-c4fba1a28d34\scratchpad\ppt\assets\Contai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" y="2151126"/>
            <a:ext cx="315468" cy="3154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432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Docker Compose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81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Entorno completo reproducible como entrega final.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4617720" y="196596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1" descr="C:\Users\Ricardo\AppData\Local\Temp\claude\C--Users-Ricardo-Downloads-Aprueba\2da95c68-d71a-41c0-bf51-c4fba1a28d34\scratchpad\ppt\assets\FlaskConi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886" y="2151126"/>
            <a:ext cx="315468" cy="3154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7432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Pruebas unitarias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081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Reglas críticas (cuota, medallas) y plan de pruebas.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1"/>
          <p:cNvSpPr/>
          <p:nvPr/>
        </p:nvSpPr>
        <p:spPr>
          <a:xfrm>
            <a:off x="8412480" y="196596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2" descr="C:\Users\Ricardo\AppData\Local\Temp\claude\C--Users-Ricardo-Downloads-Aprueba\2da95c68-d71a-41c0-bf51-c4fba1a28d34\scratchpad\ppt\assets\RotateCc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7646" y="2151126"/>
            <a:ext cx="315468" cy="3154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7432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Recorrección de preguntas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081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Cerrar el flujo de solicitud y resolución.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5"/>
          <p:cNvSpPr/>
          <p:nvPr/>
        </p:nvSpPr>
        <p:spPr>
          <a:xfrm>
            <a:off x="822960" y="411480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1" name="Image 3" descr="C:\Users\Ricardo\AppData\Local\Temp\claude\C--Users-Ricardo-Downloads-Aprueba\2da95c68-d71a-41c0-bf51-c4fba1a28d34\scratchpad\ppt\assets\Key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126" y="4299966"/>
            <a:ext cx="315468" cy="3154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" y="4892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Seguridad para usuarios reales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230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Límite de intentos, rotación de tokens y fin del modo demo.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43400" y="384048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19"/>
          <p:cNvSpPr/>
          <p:nvPr/>
        </p:nvSpPr>
        <p:spPr>
          <a:xfrm>
            <a:off x="4617720" y="411480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6" name="Image 4" descr="C:\Users\Ricardo\AppData\Local\Temp\claude\C--Users-Ricardo-Downloads-Aprueba\2da95c68-d71a-41c0-bf51-c4fba1a28d34\scratchpad\ppt\assets\Smartpho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2886" y="4299966"/>
            <a:ext cx="315468" cy="31546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17720" y="4892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 integrada al 100 %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5230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Todos los flujos de la app contra la API.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38160" y="384048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Shape 23"/>
          <p:cNvSpPr/>
          <p:nvPr/>
        </p:nvSpPr>
        <p:spPr>
          <a:xfrm>
            <a:off x="8412480" y="411480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1" name="Image 5" descr="C:\Users\Ricardo\AppData\Local\Temp\claude\C--Users-Ricardo-Downloads-Aprueba\2da95c68-d71a-41c0-bf51-c4fba1a28d34\scratchpad\ppt\assets\Ap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7646" y="4299966"/>
            <a:ext cx="315468" cy="31546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12480" y="4892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Configuración iOS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412480" y="5230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Se configura y documenta; se valida en Android (sin Mac).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SÍNTESIS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Conclusiones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C:\Users\Ricardo\AppData\Local\Temp\claude\C--Users-Ricardo-Downloads-Aprueba\2da95c68-d71a-41c0-bf51-c4fba1a28d34\scratchpad\ppt\asset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193121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7373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 sistema ya está en producción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API, sitio web y base de datos funcionando en la nube.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1" descr="C:\Users\Ricardo\AppData\Local\Temp\claude\C--Users-Ricardo-Downloads-Aprueba\2da95c68-d71a-41c0-bf51-c4fba1a28d34\scratchpad\ppt\asset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330281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31089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Los bloqueos de Fase 1 están resueltos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520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Datos persistentes, 6 vulnerabilidades cerradas y pruebas automatizadas.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526280"/>
            <a:ext cx="548640" cy="54864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C:\Users\Ricardo\AppData\Local\Temp\claude\C--Users-Ricardo-Downloads-Aprueba\2da95c68-d71a-41c0-bf51-c4fba1a28d34\scratchpad\ppt\asset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467441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44805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 avance es verificable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4892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Cada afirmación tiene una prueba o un Pull Request detrás.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675120" y="1645920"/>
            <a:ext cx="4983480" cy="4434840"/>
          </a:xfrm>
          <a:prstGeom prst="roundRect">
            <a:avLst>
              <a:gd name="adj" fmla="val 412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2"/>
          <p:cNvSpPr/>
          <p:nvPr/>
        </p:nvSpPr>
        <p:spPr>
          <a:xfrm>
            <a:off x="8522208" y="2057400"/>
            <a:ext cx="1280160" cy="128016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3" descr="C:\Users\Ricardo\AppData\Local\Temp\claude\C--Users-Ricardo-Downloads-Aprueba\2da95c68-d71a-41c0-bf51-c4fba1a28d34\scratchpad\ppt\assets\isoti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055" y="2258568"/>
            <a:ext cx="844466" cy="8686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75120" y="36118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bg1"/>
                </a:solidFill>
              </a:rPr>
              <a:t>Gracias por su atención.</a:t>
            </a:r>
          </a:p>
        </p:txBody>
      </p:sp>
      <p:sp>
        <p:nvSpPr>
          <p:cNvPr id="21" name="Text 15"/>
          <p:cNvSpPr txBox="1"/>
          <p:nvPr/>
        </p:nvSpPr>
        <p:spPr>
          <a:xfrm>
            <a:off x="6675120" y="52578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Ricardo Rodríguez · Elías Millahuala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RESPALDO 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Sitio web del alumno</a:t>
            </a:r>
            <a:endParaRPr lang="en-US" sz="3200" dirty="0"/>
          </a:p>
        </p:txBody>
      </p:sp>
      <p:pic>
        <p:nvPicPr>
          <p:cNvPr id="4" name="Image 0" descr="C:\Users\Ricardo\AppData\Local\Temp\claude\C--Users-Ricardo-Downloads-Aprueba\2da95c68-d71a-41c0-bf51-c4fba1a28d34\scratchpad\ppt\assets\web_inic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5394960" cy="3396534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ownloads-Aprueba\2da95c68-d71a-41c0-bf51-c4fba1a28d34\scratchpad\ppt\assets\web_resultado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63640" y="1737360"/>
            <a:ext cx="5394960" cy="33965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27105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Inicio del alumno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263640" y="527105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Práctica: corrección inmediata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RESPALDO 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Documentación de la API (Swagger)</a:t>
            </a:r>
            <a:endParaRPr lang="en-US" sz="3200" dirty="0"/>
          </a:p>
        </p:txBody>
      </p:sp>
      <p:pic>
        <p:nvPicPr>
          <p:cNvPr id="4" name="Image 0" descr="C:\Users\Ricardo\AppData\Local\Temp\claude\C--Users-Ricardo-Downloads-Aprueba\2da95c68-d71a-41c0-bf51-c4fba1a28d34\scratchpad\ppt\assets\swa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449" y="1645920"/>
            <a:ext cx="7116796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RESPALDO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App móvil: pantallas principales</a:t>
            </a:r>
            <a:endParaRPr lang="en-US" sz="3200" dirty="0"/>
          </a:p>
        </p:txBody>
      </p:sp>
      <p:pic>
        <p:nvPicPr>
          <p:cNvPr id="4" name="Image 0" descr="C:\Users\Ricardo\AppData\Local\Temp\claude\C--Users-Ricardo-Downloads-Aprueba\2da95c68-d71a-41c0-bf51-c4fba1a28d34\scratchpad\ppt\assets\app_inic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2026853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20268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Inicio</a:t>
            </a:r>
            <a:endParaRPr lang="en-US" sz="1200" dirty="0"/>
          </a:p>
        </p:txBody>
      </p:sp>
      <p:pic>
        <p:nvPicPr>
          <p:cNvPr id="6" name="Image 1" descr="C:\Users\Ricardo\AppData\Local\Temp\claude\C--Users-Ricardo-Downloads-Aprueba\2da95c68-d71a-41c0-bf51-c4fba1a28d34\scratchpad\ppt\assets\app_result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342" y="1600200"/>
            <a:ext cx="2026853" cy="4297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576342" y="5989320"/>
            <a:ext cx="20268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Resultado</a:t>
            </a:r>
            <a:endParaRPr lang="en-US" sz="1200" dirty="0"/>
          </a:p>
        </p:txBody>
      </p:sp>
      <p:pic>
        <p:nvPicPr>
          <p:cNvPr id="8" name="Image 2" descr="C:\Users\Ricardo\AppData\Local\Temp\claude\C--Users-Ricardo-Downloads-Aprueba\2da95c68-d71a-41c0-bf51-c4fba1a28d34\scratchpad\ppt\assets\app_grup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44" y="1600200"/>
            <a:ext cx="2026853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604044" y="5989320"/>
            <a:ext cx="20268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Grupos</a:t>
            </a:r>
            <a:endParaRPr lang="en-US" sz="1200" dirty="0"/>
          </a:p>
        </p:txBody>
      </p:sp>
      <p:pic>
        <p:nvPicPr>
          <p:cNvPr id="10" name="Image 3" descr="C:\Users\Ricardo\AppData\Local\Temp\claude\C--Users-Ricardo-Downloads-Aprueba\2da95c68-d71a-41c0-bf51-c4fba1a28d34\scratchpad\ppt\assets\app_comunid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747" y="1600200"/>
            <a:ext cx="2026853" cy="429768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631747" y="5989320"/>
            <a:ext cx="20268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Comunidad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ueba">
  <a:themeElements>
    <a:clrScheme name="Aprueba">
      <a:dk1>
        <a:srgbClr val="1E293B"/>
      </a:dk1>
      <a:lt1>
        <a:srgbClr val="FFFFFF"/>
      </a:lt1>
      <a:dk2>
        <a:srgbClr val="1A365D"/>
      </a:dk2>
      <a:lt2>
        <a:srgbClr val="F8FAFC"/>
      </a:lt2>
      <a:accent1>
        <a:srgbClr val="1A365D"/>
      </a:accent1>
      <a:accent2>
        <a:srgbClr val="F5B041"/>
      </a:accent2>
      <a:accent3>
        <a:srgbClr val="10B981"/>
      </a:accent3>
      <a:accent4>
        <a:srgbClr val="64748B"/>
      </a:accent4>
      <a:accent5>
        <a:srgbClr val="DC2626"/>
      </a:accent5>
      <a:accent6>
        <a:srgbClr val="B7791F"/>
      </a:accent6>
      <a:hlink>
        <a:srgbClr val="1A365D"/>
      </a:hlink>
      <a:folHlink>
        <a:srgbClr val="64748B"/>
      </a:folHlink>
    </a:clrScheme>
    <a:fontScheme name="Aprueba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1397</Words>
  <Application>Microsoft Office PowerPoint</Application>
  <PresentationFormat>Panorámica</PresentationFormat>
  <Paragraphs>237</Paragraphs>
  <Slides>13</Slides>
  <Notes>13</Notes>
  <HiddenSlides>3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Segoe UI</vt:lpstr>
      <vt:lpstr>Aprueba</vt:lpstr>
      <vt:lpstr>Presentación de PowerPoint</vt:lpstr>
      <vt:lpstr>Lo que resuelve Aprueba</vt:lpstr>
      <vt:lpstr>Una sola API, dos clientes, datos en la nube</vt:lpstr>
      <vt:lpstr>Avance por objetivo específico</vt:lpstr>
      <vt:lpstr>De bloqueante a resuelto: 6 de 6 vulnerabilidades</vt:lpstr>
      <vt:lpstr>Mediciones de Calidad</vt:lpstr>
      <vt:lpstr>Scrum en la práctica</vt:lpstr>
      <vt:lpstr>Aprueba funcionando</vt:lpstr>
      <vt:lpstr>Lo que falta para la entrega final</vt:lpstr>
      <vt:lpstr>Conclusiones</vt:lpstr>
      <vt:lpstr>Sitio web del alumno</vt:lpstr>
      <vt:lpstr>Documentación de la API (Swagger)</vt:lpstr>
      <vt:lpstr>App móvil: pantallas principales</vt:lpstr>
    </vt:vector>
  </TitlesOfParts>
  <Company>Duoc UC · Capstone PTY4614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Aprueba · Desarrollo Fase 2</dc:title>
  <dc:subject>PptxGenJS Presentation</dc:subject>
  <dc:creator>Ricardo Rodríguez Salas · Elías Millahuala</dc:creator>
  <cp:lastModifiedBy>Ricardo</cp:lastModifiedBy>
  <cp:revision>5</cp:revision>
  <dcterms:created xsi:type="dcterms:W3CDTF">2026-10-23T18:56:10Z</dcterms:created>
  <dcterms:modified xsi:type="dcterms:W3CDTF">2026-10-23T20:30:52Z</dcterms:modified>
</cp:coreProperties>
</file>