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2"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72830" autoAdjust="0"/>
  </p:normalViewPr>
  <p:slideViewPr>
    <p:cSldViewPr snapToGrid="0" snapToObjects="1">
      <p:cViewPr varScale="1">
        <p:scale>
          <a:sx n="80" d="100"/>
          <a:sy n="80" d="100"/>
        </p:scale>
        <p:origin x="10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446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 Presenta Ricardo.
"Buenas tardes. Somos Ricardo Rodríguez y Elías Millahuala, y presentamos la definición de nuestro Proyecto APT: Aprueba, una plataforma de preparación para la PAES que desarrollamos para la empresa Alloxentric."
No leer la diapositiva. Avanzar rápido.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 Ricardo.
"El equipo somos dos. Yo asumo el rol de Scrum Master y me hago cargo de la seguridad del backend y de la migración de la base de datos. Elías es Product Owner y lleva calidad, despliegue e integración."
Cerrar diciendo que ambos desarrollan frontend y backend, y que la especialización marca la responsabilidad principal de cada uno.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 Ricardo. LÁMINA CLAVE.
"En Chile la PAES define el acceso a la universidad, pero la calidad de la preparación depende de cuánto puede pagar cada familia. Un preuniversitario cuesta cientos de miles de pesos al año. El resultado es que el puntaje termina midiendo el nivel socioeconómico más que la capacidad."
"Aprueba ataca eso entregando práctica ilimitada o de bajo costo desde el teléfono. Pero hoy la plataforma no puede recibir un solo usuario real, y ahí entra nuestro proyecto."
No enumerar todos los puntos: elegir dos y dejar que la lámina hable.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 Ricardo.
Leer el objetivo completo, es corto y vale la pena que quede claro.
"Fíjense en la palabra clave: no decimos construir, decimos dejar en condiciones de despliegue productivo. El sistema existe; lo que no existe es la posibilidad de ponerlo en manos de usuarios."
Los tres pilares anticipan los objetivos específicos.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 Ricardo.
"Son siete objetivos, y quiero destacar que son etapas de ingeniería, no funcionalidades de la aplicación. Cada uno produce un entregable verificable."
No leer los siete. Mencionar el 1 (Firestore), el 2 (seguridad) y el 6 (contrato de API) y decir que el resto está en el documento.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 Ricardo.
"El alcance académico cubre la aplicación móvil y el sitio web del estudiante, en backend y frontend."
"Quedan fuera por acuerdo con la empresa la consola de administración, el generador de preguntas con IA y el panel de revisión. No es que no existan: existen, pero acotar el alcance fue una decisión deliberada para entregar algo terminado en trece semanas."
Esta lámina evita la pregunta incómoda al final.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 Ricardo.
"Los requerimientos funcionales describen el producto que se entrega; los no funcionales son los que definen nuestro trabajo."
"Quiero destacar el RNF-01 y el RNF-02: seguridad y privacidad. La plataforma la van a usar menores de edad, así que no son requisitos opcionales."
No leer la tabla. Señalar dos de cada columna.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Ricardo. Última lámina de Ricardo, hacer el relevo.
"Trabajamos con Scrum, en sprints de dos semanas. Lo elegimos por tres razones concretas: la empresa exige avance semanal, hay decisiones de alcance todavía abiertas, y somos un equipo de dos."
"Los cierres de sprint coinciden con las evaluaciones de la asignatura, para que lo que mostremos sea siempre un incremento terminado."
Cerrar con: "Elías continúa con el cronograma."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Elías. Primera lámina de Elías, presentarse brevemente.
"El semestre son 18 semanas, del 10 de agosto al 12 de diciembre. Hoy estamos en la semana 4."
"Hay tres hitos duros: la evaluación de avance en la semana 10, la presentación de resultados en la 15 y la defensa final en la 17 y 18. El trabajo de valor se concentra antes de la semana 15."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 Elías.
"El stack no lo elegimos nosotros: viene dado por el sistema que recibimos, y esa es una condición realista del ejercicio profesional."
"Lo que sí decidimos fue la capa de datos, Cloud Firestore, y la de despliegue: publicación continua durante el desarrollo y Docker como entrega final."
No leer todas las tecnologías.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 Elías. LÁMINA CLAVE.
"Arriba los dos clientes: la app Flutter y el sitio React. Ambos consumen exactamente la misma API por HTTPS, con el mismo envelope de respuesta. No hay dos backends: hay uno solo, y ese es el punto central de la lámina."
"Al centro la capa de servicios: la API REST en Node y Express, con autenticación, cuota, gamificación y el resto del dominio."
"Abajo, a la izquierda, la persistencia en Cloud Firestore: esa migración es nuestro primer sprint técnico. A la derecha, los servicios externos que el sistema consume."
Si hay una pregunta técnica, es sobre esta lámina.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Elías.
"Firestore es una base orientada a documentos, no relacional. El documento central es el usuario, del que cuelgan sus respuestas, su medallero, sus notificaciones y su suscripción."
"Alrededor están las colecciones del dominio: preguntas, grupos, publicaciones, tutores y planes."
"Parte de nuestro trabajo es diseñar los índices compuestos y las reglas de acceso, que es lo que hoy no existe."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 Elías.
"El modelo es freemium. El plan gratuito da diez preguntas al día, ampliables a veinte si el alumno registra su colegio y su región."
"Los planes de pago cuestan un dólar y cinco dólares mensuales, muy por debajo de un preuniversitario."
"Y hay una tercera vía: los sponsors financian beneficios que los alumnos canjean con las medallas que ganan estudiando."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 Elías. LÁMINA CLAVE. Es la que justifica todo el proyecto.
"Esta lámina resume nuestro diagnóstico. A la izquierda, lo que la empresa nos entregó y que efectivamente funciona: el dominio completo, mil cuatrocientas preguntas reales, los dos clientes construidos."
"A la derecha, lo que impide ponerlo en producción. Los datos viven en un archivo local, así que no se puede desplegar en la nube. Cualquier persona puede entrar como otro usuario a través del acceso social. Y cualquiera puede activarse un plan de pago sin pagarlo."
"Nuestro proyecto es convertir la columna de la derecha en una columna vacía."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 Elías. Pasar rápido.
"Fuera del alcance de este semestre queda la expansión a otros países, el portal del tutor, el pago de clases dentro de la plataforma y la integración del generador de preguntas con IA que la empresa ya tiene construido."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 Elías cierra, ambos quedan al frente para las preguntas.
"Para cerrar: el proyecto es de continuidad, no de creación. Recibimos un sistema construido y nuestra responsabilidad es dejarlo en condiciones de ser usado."
"Acotamos el alcance de forma deliberada, tenemos el diagnóstico hecho y un plan de trece semanas con hitos verificables."
"Quedamos atentos a sus preguntas."
Preguntas probables: por qué Firestore y no SQL; cómo se verifica que las vulnerabilidades quedaron cerradas; cómo se reparten frontend y backend siendo solo dos; por qué dejaron fuera el generador.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F5B041"/>
          </a:solidFill>
          <a:ln/>
        </p:spPr>
      </p:sp>
      <p:sp>
        <p:nvSpPr>
          <p:cNvPr id="3" name="Shape 1"/>
          <p:cNvSpPr/>
          <p:nvPr/>
        </p:nvSpPr>
        <p:spPr>
          <a:xfrm>
            <a:off x="8138160" y="1371600"/>
            <a:ext cx="3566160" cy="3566160"/>
          </a:xfrm>
          <a:prstGeom prst="roundRect">
            <a:avLst>
              <a:gd name="adj" fmla="val 2564"/>
            </a:avLst>
          </a:prstGeom>
          <a:solidFill>
            <a:srgbClr val="234775"/>
          </a:solidFill>
          <a:ln w="12700">
            <a:solidFill>
              <a:srgbClr val="2E5487"/>
            </a:solidFill>
            <a:prstDash val="solid"/>
          </a:ln>
        </p:spPr>
      </p:sp>
      <p:pic>
        <p:nvPicPr>
          <p:cNvPr id="4" name="Image 0" descr="C:/Users/Ricardo/Downloads/Aprueba/aprueba_landing/assets/logo-white.png"/>
          <p:cNvPicPr>
            <a:picLocks noChangeAspect="1"/>
          </p:cNvPicPr>
          <p:nvPr/>
        </p:nvPicPr>
        <p:blipFill>
          <a:blip r:embed="rId3"/>
          <a:srcRect/>
          <a:stretch/>
        </p:blipFill>
        <p:spPr>
          <a:xfrm>
            <a:off x="8183880" y="2299716"/>
            <a:ext cx="3474720" cy="1650492"/>
          </a:xfrm>
          <a:prstGeom prst="rect">
            <a:avLst/>
          </a:prstGeom>
        </p:spPr>
      </p:pic>
      <p:sp>
        <p:nvSpPr>
          <p:cNvPr id="5" name="Text 2"/>
          <p:cNvSpPr/>
          <p:nvPr/>
        </p:nvSpPr>
        <p:spPr>
          <a:xfrm>
            <a:off x="822960" y="1325880"/>
            <a:ext cx="7315200" cy="274320"/>
          </a:xfrm>
          <a:prstGeom prst="rect">
            <a:avLst/>
          </a:prstGeom>
          <a:noFill/>
          <a:ln/>
        </p:spPr>
        <p:txBody>
          <a:bodyPr wrap="square" rtlCol="0" anchor="ctr"/>
          <a:lstStyle/>
          <a:p>
            <a:pPr marL="0" indent="0">
              <a:buNone/>
            </a:pPr>
            <a:r>
              <a:rPr lang="en-US" sz="1100" b="1" kern="0" spc="200" dirty="0">
                <a:solidFill>
                  <a:srgbClr val="F5B041"/>
                </a:solidFill>
                <a:latin typeface="Segoe UI" pitchFamily="34" charset="0"/>
                <a:ea typeface="Segoe UI" pitchFamily="34" charset="-122"/>
                <a:cs typeface="Segoe UI" pitchFamily="34" charset="-120"/>
              </a:rPr>
              <a:t>PROYECTO CAPSTONE</a:t>
            </a:r>
            <a:endParaRPr lang="en-US" sz="1100" dirty="0"/>
          </a:p>
        </p:txBody>
      </p:sp>
      <p:sp>
        <p:nvSpPr>
          <p:cNvPr id="6" name="Text 3"/>
          <p:cNvSpPr/>
          <p:nvPr/>
        </p:nvSpPr>
        <p:spPr>
          <a:xfrm>
            <a:off x="786384" y="1645920"/>
            <a:ext cx="7315200" cy="1005840"/>
          </a:xfrm>
          <a:prstGeom prst="rect">
            <a:avLst/>
          </a:prstGeom>
          <a:noFill/>
          <a:ln/>
        </p:spPr>
        <p:txBody>
          <a:bodyPr wrap="square" rtlCol="0" anchor="ctr"/>
          <a:lstStyle/>
          <a:p>
            <a:pPr marL="0" indent="0">
              <a:buNone/>
            </a:pPr>
            <a:r>
              <a:rPr lang="en-US" sz="6000" b="1" dirty="0" err="1">
                <a:solidFill>
                  <a:srgbClr val="FFFFFF"/>
                </a:solidFill>
                <a:latin typeface="Segoe UI" pitchFamily="34" charset="0"/>
                <a:ea typeface="Segoe UI" pitchFamily="34" charset="-122"/>
                <a:cs typeface="Segoe UI" pitchFamily="34" charset="-120"/>
              </a:rPr>
              <a:t>Aprueba</a:t>
            </a:r>
            <a:r>
              <a:rPr lang="en-US" sz="6000" b="1" dirty="0">
                <a:solidFill>
                  <a:srgbClr val="FFFFFF"/>
                </a:solidFill>
                <a:latin typeface="Segoe UI" pitchFamily="34" charset="0"/>
                <a:ea typeface="Segoe UI" pitchFamily="34" charset="-122"/>
                <a:cs typeface="Segoe UI" pitchFamily="34" charset="-120"/>
              </a:rPr>
              <a:t> APP</a:t>
            </a:r>
            <a:endParaRPr lang="en-US" sz="6000" dirty="0"/>
          </a:p>
        </p:txBody>
      </p:sp>
      <p:sp>
        <p:nvSpPr>
          <p:cNvPr id="7" name="Text 4"/>
          <p:cNvSpPr/>
          <p:nvPr/>
        </p:nvSpPr>
        <p:spPr>
          <a:xfrm>
            <a:off x="822960" y="2670048"/>
            <a:ext cx="6949440" cy="411480"/>
          </a:xfrm>
          <a:prstGeom prst="rect">
            <a:avLst/>
          </a:prstGeom>
          <a:noFill/>
          <a:ln/>
        </p:spPr>
        <p:txBody>
          <a:bodyPr wrap="square" rtlCol="0" anchor="ctr"/>
          <a:lstStyle/>
          <a:p>
            <a:pPr marL="0" indent="0">
              <a:buNone/>
            </a:pPr>
            <a:r>
              <a:rPr lang="en-US" sz="1700" dirty="0">
                <a:solidFill>
                  <a:srgbClr val="C7D6EA"/>
                </a:solidFill>
                <a:latin typeface="Segoe UI" pitchFamily="34" charset="0"/>
                <a:ea typeface="Segoe UI" pitchFamily="34" charset="-122"/>
                <a:cs typeface="Segoe UI" pitchFamily="34" charset="-120"/>
              </a:rPr>
              <a:t>Plataforma móvil y web de preparación para la PAES</a:t>
            </a:r>
            <a:endParaRPr lang="en-US" sz="1700" dirty="0"/>
          </a:p>
        </p:txBody>
      </p:sp>
      <p:sp>
        <p:nvSpPr>
          <p:cNvPr id="8" name="Shape 5"/>
          <p:cNvSpPr/>
          <p:nvPr/>
        </p:nvSpPr>
        <p:spPr>
          <a:xfrm>
            <a:off x="822960" y="3218688"/>
            <a:ext cx="731520" cy="32004"/>
          </a:xfrm>
          <a:prstGeom prst="rect">
            <a:avLst/>
          </a:prstGeom>
          <a:solidFill>
            <a:srgbClr val="F5B041"/>
          </a:solidFill>
          <a:ln/>
        </p:spPr>
      </p:sp>
      <p:sp>
        <p:nvSpPr>
          <p:cNvPr id="9" name="Text 6"/>
          <p:cNvSpPr/>
          <p:nvPr/>
        </p:nvSpPr>
        <p:spPr>
          <a:xfrm>
            <a:off x="822960" y="3451860"/>
            <a:ext cx="6949440" cy="274320"/>
          </a:xfrm>
          <a:prstGeom prst="rect">
            <a:avLst/>
          </a:prstGeom>
          <a:noFill/>
          <a:ln/>
        </p:spPr>
        <p:txBody>
          <a:bodyPr wrap="square" rtlCol="0" anchor="ctr"/>
          <a:lstStyle/>
          <a:p>
            <a:pPr marL="0" indent="0">
              <a:buNone/>
            </a:pPr>
            <a:r>
              <a:rPr lang="en-US" sz="1250" b="1" dirty="0">
                <a:solidFill>
                  <a:srgbClr val="F5B041"/>
                </a:solidFill>
                <a:latin typeface="Segoe UI" pitchFamily="34" charset="0"/>
                <a:ea typeface="Segoe UI" pitchFamily="34" charset="-122"/>
                <a:cs typeface="Segoe UI" pitchFamily="34" charset="-120"/>
              </a:rPr>
              <a:t>Definición de Proyecto APT · Fase 1</a:t>
            </a:r>
            <a:endParaRPr lang="en-US" sz="1250" dirty="0"/>
          </a:p>
        </p:txBody>
      </p:sp>
      <p:sp>
        <p:nvSpPr>
          <p:cNvPr id="10" name="Text 7"/>
          <p:cNvSpPr/>
          <p:nvPr/>
        </p:nvSpPr>
        <p:spPr>
          <a:xfrm>
            <a:off x="822960" y="3822192"/>
            <a:ext cx="6949440" cy="731520"/>
          </a:xfrm>
          <a:prstGeom prst="rect">
            <a:avLst/>
          </a:prstGeom>
          <a:noFill/>
          <a:ln/>
        </p:spPr>
        <p:txBody>
          <a:bodyPr wrap="square" rtlCol="0" anchor="ctr"/>
          <a:lstStyle/>
          <a:p>
            <a:pPr marL="0" indent="0">
              <a:lnSpc>
                <a:spcPct val="130000"/>
              </a:lnSpc>
              <a:buNone/>
            </a:pPr>
            <a:r>
              <a:rPr lang="en-US" sz="1250" b="1" dirty="0">
                <a:solidFill>
                  <a:srgbClr val="FFFFFF"/>
                </a:solidFill>
                <a:latin typeface="Segoe UI" pitchFamily="34" charset="0"/>
                <a:ea typeface="Segoe UI" pitchFamily="34" charset="-122"/>
                <a:cs typeface="Segoe UI" pitchFamily="34" charset="-120"/>
              </a:rPr>
              <a:t>Ricardo Rodríguez Salas</a:t>
            </a:r>
            <a:r>
              <a:rPr lang="en-US" sz="1250" dirty="0">
                <a:solidFill>
                  <a:srgbClr val="9FB6D4"/>
                </a:solidFill>
                <a:latin typeface="Segoe UI" pitchFamily="34" charset="0"/>
                <a:ea typeface="Segoe UI" pitchFamily="34" charset="-122"/>
                <a:cs typeface="Segoe UI" pitchFamily="34" charset="-120"/>
              </a:rPr>
              <a:t>   ·   Scrum Master · Backend, seguridad y datos
</a:t>
            </a:r>
            <a:r>
              <a:rPr lang="en-US" sz="1250" b="1" dirty="0">
                <a:solidFill>
                  <a:srgbClr val="FFFFFF"/>
                </a:solidFill>
                <a:latin typeface="Segoe UI" pitchFamily="34" charset="0"/>
                <a:ea typeface="Segoe UI" pitchFamily="34" charset="-122"/>
                <a:cs typeface="Segoe UI" pitchFamily="34" charset="-120"/>
              </a:rPr>
              <a:t>Elías Millahuala</a:t>
            </a:r>
            <a:r>
              <a:rPr lang="en-US" sz="1250" dirty="0">
                <a:solidFill>
                  <a:srgbClr val="9FB6D4"/>
                </a:solidFill>
                <a:latin typeface="Segoe UI" pitchFamily="34" charset="0"/>
                <a:ea typeface="Segoe UI" pitchFamily="34" charset="-122"/>
                <a:cs typeface="Segoe UI" pitchFamily="34" charset="-120"/>
              </a:rPr>
              <a:t>   ·   Product Owner · Calidad, despliegue y clientes</a:t>
            </a:r>
            <a:endParaRPr lang="en-US" sz="1250" dirty="0"/>
          </a:p>
        </p:txBody>
      </p:sp>
      <p:sp>
        <p:nvSpPr>
          <p:cNvPr id="11" name="Text 8"/>
          <p:cNvSpPr/>
          <p:nvPr/>
        </p:nvSpPr>
        <p:spPr>
          <a:xfrm>
            <a:off x="822960" y="4617720"/>
            <a:ext cx="6949440" cy="274320"/>
          </a:xfrm>
          <a:prstGeom prst="rect">
            <a:avLst/>
          </a:prstGeom>
          <a:noFill/>
          <a:ln/>
        </p:spPr>
        <p:txBody>
          <a:bodyPr wrap="square" rtlCol="0" anchor="ctr"/>
          <a:lstStyle/>
          <a:p>
            <a:pPr marL="0" indent="0">
              <a:buNone/>
            </a:pPr>
            <a:r>
              <a:rPr lang="en-US" sz="1200" dirty="0">
                <a:solidFill>
                  <a:srgbClr val="8FA8C8"/>
                </a:solidFill>
                <a:latin typeface="Segoe UI" pitchFamily="34" charset="0"/>
                <a:ea typeface="Segoe UI" pitchFamily="34" charset="-122"/>
                <a:cs typeface="Segoe UI" pitchFamily="34" charset="-120"/>
              </a:rPr>
              <a:t>Empresa mandante:  </a:t>
            </a:r>
            <a:r>
              <a:rPr lang="en-US" sz="1200" b="1" dirty="0">
                <a:solidFill>
                  <a:srgbClr val="FFFFFF"/>
                </a:solidFill>
                <a:latin typeface="Segoe UI" pitchFamily="34" charset="0"/>
                <a:ea typeface="Segoe UI" pitchFamily="34" charset="-122"/>
                <a:cs typeface="Segoe UI" pitchFamily="34" charset="-120"/>
              </a:rPr>
              <a:t>Alloxentric</a:t>
            </a:r>
            <a:endParaRPr lang="en-US" sz="1200" dirty="0"/>
          </a:p>
        </p:txBody>
      </p:sp>
      <p:sp>
        <p:nvSpPr>
          <p:cNvPr id="12" name="Shape 9"/>
          <p:cNvSpPr/>
          <p:nvPr/>
        </p:nvSpPr>
        <p:spPr>
          <a:xfrm>
            <a:off x="822960" y="5230368"/>
            <a:ext cx="4572000" cy="914400"/>
          </a:xfrm>
          <a:prstGeom prst="roundRect">
            <a:avLst>
              <a:gd name="adj" fmla="val 6000"/>
            </a:avLst>
          </a:prstGeom>
          <a:solidFill>
            <a:srgbClr val="FFFFFF"/>
          </a:solidFill>
          <a:ln w="12700">
            <a:solidFill>
              <a:srgbClr val="FFFFFF"/>
            </a:solidFill>
            <a:prstDash val="solid"/>
          </a:ln>
        </p:spPr>
      </p:sp>
      <p:pic>
        <p:nvPicPr>
          <p:cNvPr id="13" name="Image 1" descr="C:\Users\Ricardo\AppData\Local\Temp\claude\C--Users-Ricardo-Downloads-Aprueba\ecfd5cd3-e495-4752-9d00-05f7c0476cba\scratchpad/duoc.jpg"/>
          <p:cNvPicPr>
            <a:picLocks noChangeAspect="1"/>
          </p:cNvPicPr>
          <p:nvPr/>
        </p:nvPicPr>
        <p:blipFill>
          <a:blip r:embed="rId4"/>
          <a:srcRect/>
          <a:stretch/>
        </p:blipFill>
        <p:spPr>
          <a:xfrm>
            <a:off x="1024128" y="5349240"/>
            <a:ext cx="4169664" cy="7955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ESTRUCTURA DEL EQUIPO</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Roles y responsabilidades técnicas</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2 / 16</a:t>
            </a:r>
            <a:endParaRPr lang="en-US" sz="900" dirty="0"/>
          </a:p>
        </p:txBody>
      </p:sp>
      <p:sp>
        <p:nvSpPr>
          <p:cNvPr id="11" name="Shape 8"/>
          <p:cNvSpPr/>
          <p:nvPr/>
        </p:nvSpPr>
        <p:spPr>
          <a:xfrm>
            <a:off x="658368" y="1600200"/>
            <a:ext cx="5257800" cy="3200400"/>
          </a:xfrm>
          <a:prstGeom prst="roundRect">
            <a:avLst>
              <a:gd name="adj" fmla="val 1714"/>
            </a:avLst>
          </a:prstGeom>
          <a:solidFill>
            <a:srgbClr val="FFFFFF"/>
          </a:solidFill>
          <a:ln w="12700">
            <a:solidFill>
              <a:srgbClr val="DCE4EE"/>
            </a:solidFill>
            <a:prstDash val="solid"/>
          </a:ln>
        </p:spPr>
      </p:sp>
      <p:sp>
        <p:nvSpPr>
          <p:cNvPr id="12" name="Shape 9"/>
          <p:cNvSpPr/>
          <p:nvPr/>
        </p:nvSpPr>
        <p:spPr>
          <a:xfrm>
            <a:off x="658368" y="1600200"/>
            <a:ext cx="50292" cy="3200400"/>
          </a:xfrm>
          <a:prstGeom prst="rect">
            <a:avLst/>
          </a:prstGeom>
          <a:solidFill>
            <a:srgbClr val="2D5A9E"/>
          </a:solidFill>
          <a:ln/>
        </p:spPr>
      </p:sp>
      <p:sp>
        <p:nvSpPr>
          <p:cNvPr id="13" name="Shape 10"/>
          <p:cNvSpPr/>
          <p:nvPr/>
        </p:nvSpPr>
        <p:spPr>
          <a:xfrm>
            <a:off x="1005840" y="1874520"/>
            <a:ext cx="749808" cy="749808"/>
          </a:xfrm>
          <a:prstGeom prst="ellipse">
            <a:avLst/>
          </a:prstGeom>
          <a:solidFill>
            <a:srgbClr val="2D5A9E"/>
          </a:solidFill>
          <a:ln/>
        </p:spPr>
      </p:sp>
      <p:sp>
        <p:nvSpPr>
          <p:cNvPr id="14" name="Text 11"/>
          <p:cNvSpPr/>
          <p:nvPr/>
        </p:nvSpPr>
        <p:spPr>
          <a:xfrm>
            <a:off x="1005840" y="1874520"/>
            <a:ext cx="749808" cy="749808"/>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RR</a:t>
            </a:r>
            <a:endParaRPr lang="en-US" sz="1700" dirty="0"/>
          </a:p>
        </p:txBody>
      </p:sp>
      <p:sp>
        <p:nvSpPr>
          <p:cNvPr id="15" name="Text 12"/>
          <p:cNvSpPr/>
          <p:nvPr/>
        </p:nvSpPr>
        <p:spPr>
          <a:xfrm>
            <a:off x="1892808" y="1920240"/>
            <a:ext cx="3840480" cy="320040"/>
          </a:xfrm>
          <a:prstGeom prst="rect">
            <a:avLst/>
          </a:prstGeom>
          <a:noFill/>
          <a:ln/>
        </p:spPr>
        <p:txBody>
          <a:bodyPr wrap="square" rtlCol="0" anchor="ctr"/>
          <a:lstStyle/>
          <a:p>
            <a:pPr marL="0" indent="0">
              <a:buNone/>
            </a:pPr>
            <a:r>
              <a:rPr lang="en-US" sz="1500" b="1" dirty="0">
                <a:solidFill>
                  <a:srgbClr val="1A365D"/>
                </a:solidFill>
                <a:latin typeface="Segoe UI" pitchFamily="34" charset="0"/>
                <a:ea typeface="Segoe UI" pitchFamily="34" charset="-122"/>
                <a:cs typeface="Segoe UI" pitchFamily="34" charset="-120"/>
              </a:rPr>
              <a:t>Ricardo Rodríguez Salas</a:t>
            </a:r>
            <a:endParaRPr lang="en-US" sz="1500" dirty="0"/>
          </a:p>
        </p:txBody>
      </p:sp>
      <p:sp>
        <p:nvSpPr>
          <p:cNvPr id="16" name="Text 13"/>
          <p:cNvSpPr/>
          <p:nvPr/>
        </p:nvSpPr>
        <p:spPr>
          <a:xfrm>
            <a:off x="1892808" y="2249424"/>
            <a:ext cx="3840480" cy="274320"/>
          </a:xfrm>
          <a:prstGeom prst="rect">
            <a:avLst/>
          </a:prstGeom>
          <a:noFill/>
          <a:ln/>
        </p:spPr>
        <p:txBody>
          <a:bodyPr wrap="square" rtlCol="0" anchor="ctr"/>
          <a:lstStyle/>
          <a:p>
            <a:pPr marL="0" indent="0">
              <a:buNone/>
            </a:pPr>
            <a:r>
              <a:rPr lang="en-US" sz="900" b="1" kern="0" spc="80" dirty="0">
                <a:solidFill>
                  <a:srgbClr val="2D5A9E"/>
                </a:solidFill>
                <a:latin typeface="Segoe UI" pitchFamily="34" charset="0"/>
                <a:ea typeface="Segoe UI" pitchFamily="34" charset="-122"/>
                <a:cs typeface="Segoe UI" pitchFamily="34" charset="-120"/>
              </a:rPr>
              <a:t>SCRUM MASTER · BACKEND, SEGURIDAD Y DATOS</a:t>
            </a:r>
            <a:endParaRPr lang="en-US" sz="900" dirty="0"/>
          </a:p>
        </p:txBody>
      </p:sp>
      <p:sp>
        <p:nvSpPr>
          <p:cNvPr id="17" name="Text 14"/>
          <p:cNvSpPr/>
          <p:nvPr/>
        </p:nvSpPr>
        <p:spPr>
          <a:xfrm>
            <a:off x="1042416" y="2816352"/>
            <a:ext cx="4572000" cy="1188720"/>
          </a:xfrm>
          <a:prstGeom prst="rect">
            <a:avLst/>
          </a:prstGeom>
          <a:noFill/>
          <a:ln/>
        </p:spPr>
        <p:txBody>
          <a:bodyPr wrap="square" rtlCol="0" anchor="t"/>
          <a:lstStyle/>
          <a:p>
            <a:pPr marL="342900" indent="-342900">
              <a:lnSpc>
                <a:spcPct val="118000"/>
              </a:lnSpc>
              <a:buSzPct val="100000"/>
              <a:buChar char="•"/>
            </a:pPr>
            <a:r>
              <a:rPr lang="en-US" sz="1150" dirty="0">
                <a:solidFill>
                  <a:srgbClr val="47566B"/>
                </a:solidFill>
                <a:latin typeface="Segoe UI" pitchFamily="34" charset="0"/>
                <a:ea typeface="Segoe UI" pitchFamily="34" charset="-122"/>
                <a:cs typeface="Segoe UI" pitchFamily="34" charset="-120"/>
              </a:rPr>
              <a:t>Seguridad: autenticación, autorización y gestión de secretos</a:t>
            </a:r>
            <a:endParaRPr lang="en-US" sz="1150" dirty="0"/>
          </a:p>
          <a:p>
            <a:pPr marL="342900" indent="-342900">
              <a:lnSpc>
                <a:spcPct val="118000"/>
              </a:lnSpc>
              <a:buSzPct val="100000"/>
              <a:buChar char="•"/>
            </a:pPr>
            <a:r>
              <a:rPr lang="en-US" sz="1150" dirty="0">
                <a:solidFill>
                  <a:srgbClr val="47566B"/>
                </a:solidFill>
                <a:latin typeface="Segoe UI" pitchFamily="34" charset="0"/>
                <a:ea typeface="Segoe UI" pitchFamily="34" charset="-122"/>
                <a:cs typeface="Segoe UI" pitchFamily="34" charset="-120"/>
              </a:rPr>
              <a:t>Migración de la persistencia a Cloud Firestore</a:t>
            </a:r>
            <a:endParaRPr lang="en-US" sz="1150" dirty="0"/>
          </a:p>
          <a:p>
            <a:pPr marL="342900" indent="-342900">
              <a:lnSpc>
                <a:spcPct val="118000"/>
              </a:lnSpc>
              <a:buSzPct val="100000"/>
              <a:buChar char="•"/>
            </a:pPr>
            <a:r>
              <a:rPr lang="en-US" sz="1150" dirty="0">
                <a:solidFill>
                  <a:srgbClr val="47566B"/>
                </a:solidFill>
                <a:latin typeface="Segoe UI" pitchFamily="34" charset="0"/>
                <a:ea typeface="Segoe UI" pitchFamily="34" charset="-122"/>
                <a:cs typeface="Segoe UI" pitchFamily="34" charset="-120"/>
              </a:rPr>
              <a:t>Facilitación de ceremonias y gestión del tablero</a:t>
            </a:r>
            <a:endParaRPr lang="en-US" sz="1150" dirty="0"/>
          </a:p>
          <a:p>
            <a:pPr marL="342900" indent="-342900">
              <a:lnSpc>
                <a:spcPct val="118000"/>
              </a:lnSpc>
              <a:buSzPct val="100000"/>
              <a:buChar char="•"/>
            </a:pPr>
            <a:r>
              <a:rPr lang="en-US" sz="1150" dirty="0">
                <a:solidFill>
                  <a:srgbClr val="47566B"/>
                </a:solidFill>
                <a:latin typeface="Segoe UI" pitchFamily="34" charset="0"/>
                <a:ea typeface="Segoe UI" pitchFamily="34" charset="-122"/>
                <a:cs typeface="Segoe UI" pitchFamily="34" charset="-120"/>
              </a:rPr>
              <a:t>Coordinación técnica con la empresa mandante</a:t>
            </a:r>
            <a:endParaRPr lang="en-US" sz="1150" dirty="0"/>
          </a:p>
        </p:txBody>
      </p:sp>
      <p:sp>
        <p:nvSpPr>
          <p:cNvPr id="18" name="Shape 15"/>
          <p:cNvSpPr/>
          <p:nvPr/>
        </p:nvSpPr>
        <p:spPr>
          <a:xfrm>
            <a:off x="6281928" y="1600200"/>
            <a:ext cx="5257800" cy="3200400"/>
          </a:xfrm>
          <a:prstGeom prst="roundRect">
            <a:avLst>
              <a:gd name="adj" fmla="val 1714"/>
            </a:avLst>
          </a:prstGeom>
          <a:solidFill>
            <a:srgbClr val="FFFFFF"/>
          </a:solidFill>
          <a:ln w="12700">
            <a:solidFill>
              <a:srgbClr val="DCE4EE"/>
            </a:solidFill>
            <a:prstDash val="solid"/>
          </a:ln>
        </p:spPr>
      </p:sp>
      <p:sp>
        <p:nvSpPr>
          <p:cNvPr id="19" name="Shape 16"/>
          <p:cNvSpPr/>
          <p:nvPr/>
        </p:nvSpPr>
        <p:spPr>
          <a:xfrm>
            <a:off x="6281928" y="1600200"/>
            <a:ext cx="50292" cy="3200400"/>
          </a:xfrm>
          <a:prstGeom prst="rect">
            <a:avLst/>
          </a:prstGeom>
          <a:solidFill>
            <a:srgbClr val="F5B041"/>
          </a:solidFill>
          <a:ln/>
        </p:spPr>
      </p:sp>
      <p:sp>
        <p:nvSpPr>
          <p:cNvPr id="20" name="Shape 17"/>
          <p:cNvSpPr/>
          <p:nvPr/>
        </p:nvSpPr>
        <p:spPr>
          <a:xfrm>
            <a:off x="6629400" y="1874520"/>
            <a:ext cx="749808" cy="749808"/>
          </a:xfrm>
          <a:prstGeom prst="ellipse">
            <a:avLst/>
          </a:prstGeom>
          <a:solidFill>
            <a:srgbClr val="F5B041"/>
          </a:solidFill>
          <a:ln/>
        </p:spPr>
      </p:sp>
      <p:sp>
        <p:nvSpPr>
          <p:cNvPr id="21" name="Text 18"/>
          <p:cNvSpPr/>
          <p:nvPr/>
        </p:nvSpPr>
        <p:spPr>
          <a:xfrm>
            <a:off x="6629400" y="1874520"/>
            <a:ext cx="749808" cy="749808"/>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EM</a:t>
            </a:r>
            <a:endParaRPr lang="en-US" sz="1700" dirty="0"/>
          </a:p>
        </p:txBody>
      </p:sp>
      <p:sp>
        <p:nvSpPr>
          <p:cNvPr id="22" name="Text 19"/>
          <p:cNvSpPr/>
          <p:nvPr/>
        </p:nvSpPr>
        <p:spPr>
          <a:xfrm>
            <a:off x="7516368" y="1920240"/>
            <a:ext cx="3840480" cy="320040"/>
          </a:xfrm>
          <a:prstGeom prst="rect">
            <a:avLst/>
          </a:prstGeom>
          <a:noFill/>
          <a:ln/>
        </p:spPr>
        <p:txBody>
          <a:bodyPr wrap="square" rtlCol="0" anchor="ctr"/>
          <a:lstStyle/>
          <a:p>
            <a:pPr marL="0" indent="0">
              <a:buNone/>
            </a:pPr>
            <a:r>
              <a:rPr lang="en-US" sz="1500" b="1" dirty="0">
                <a:solidFill>
                  <a:srgbClr val="1A365D"/>
                </a:solidFill>
                <a:latin typeface="Segoe UI" pitchFamily="34" charset="0"/>
                <a:ea typeface="Segoe UI" pitchFamily="34" charset="-122"/>
                <a:cs typeface="Segoe UI" pitchFamily="34" charset="-120"/>
              </a:rPr>
              <a:t>Elías Millahuala</a:t>
            </a:r>
            <a:endParaRPr lang="en-US" sz="1500" dirty="0"/>
          </a:p>
        </p:txBody>
      </p:sp>
      <p:sp>
        <p:nvSpPr>
          <p:cNvPr id="23" name="Text 20"/>
          <p:cNvSpPr/>
          <p:nvPr/>
        </p:nvSpPr>
        <p:spPr>
          <a:xfrm>
            <a:off x="7516368" y="2249424"/>
            <a:ext cx="3840480" cy="274320"/>
          </a:xfrm>
          <a:prstGeom prst="rect">
            <a:avLst/>
          </a:prstGeom>
          <a:noFill/>
          <a:ln/>
        </p:spPr>
        <p:txBody>
          <a:bodyPr wrap="square" rtlCol="0" anchor="ctr"/>
          <a:lstStyle/>
          <a:p>
            <a:pPr marL="0" indent="0">
              <a:buNone/>
            </a:pPr>
            <a:r>
              <a:rPr lang="en-US" sz="900" b="1" kern="0" spc="80" dirty="0">
                <a:solidFill>
                  <a:srgbClr val="F5B041"/>
                </a:solidFill>
                <a:latin typeface="Segoe UI" pitchFamily="34" charset="0"/>
                <a:ea typeface="Segoe UI" pitchFamily="34" charset="-122"/>
                <a:cs typeface="Segoe UI" pitchFamily="34" charset="-120"/>
              </a:rPr>
              <a:t>PRODUCT OWNER · CALIDAD, DESPLIEGUE Y CLIENTES</a:t>
            </a:r>
            <a:endParaRPr lang="en-US" sz="900" dirty="0"/>
          </a:p>
        </p:txBody>
      </p:sp>
      <p:sp>
        <p:nvSpPr>
          <p:cNvPr id="24" name="Text 21"/>
          <p:cNvSpPr/>
          <p:nvPr/>
        </p:nvSpPr>
        <p:spPr>
          <a:xfrm>
            <a:off x="6665976" y="2816352"/>
            <a:ext cx="4572000" cy="1188720"/>
          </a:xfrm>
          <a:prstGeom prst="rect">
            <a:avLst/>
          </a:prstGeom>
          <a:noFill/>
          <a:ln/>
        </p:spPr>
        <p:txBody>
          <a:bodyPr wrap="square" rtlCol="0" anchor="t"/>
          <a:lstStyle/>
          <a:p>
            <a:pPr marL="342900" indent="-342900">
              <a:lnSpc>
                <a:spcPct val="118000"/>
              </a:lnSpc>
              <a:buSzPct val="100000"/>
              <a:buChar char="•"/>
            </a:pPr>
            <a:r>
              <a:rPr lang="en-US" sz="1150" dirty="0">
                <a:solidFill>
                  <a:srgbClr val="47566B"/>
                </a:solidFill>
                <a:latin typeface="Segoe UI" pitchFamily="34" charset="0"/>
                <a:ea typeface="Segoe UI" pitchFamily="34" charset="-122"/>
                <a:cs typeface="Segoe UI" pitchFamily="34" charset="-120"/>
              </a:rPr>
              <a:t>Gestión y priorización del Product Backlog</a:t>
            </a:r>
            <a:endParaRPr lang="en-US" sz="1150" dirty="0"/>
          </a:p>
          <a:p>
            <a:pPr marL="342900" indent="-342900">
              <a:lnSpc>
                <a:spcPct val="118000"/>
              </a:lnSpc>
              <a:buSzPct val="100000"/>
              <a:buChar char="•"/>
            </a:pPr>
            <a:r>
              <a:rPr lang="en-US" sz="1150" dirty="0">
                <a:solidFill>
                  <a:srgbClr val="47566B"/>
                </a:solidFill>
                <a:latin typeface="Segoe UI" pitchFamily="34" charset="0"/>
                <a:ea typeface="Segoe UI" pitchFamily="34" charset="-122"/>
                <a:cs typeface="Segoe UI" pitchFamily="34" charset="-120"/>
              </a:rPr>
              <a:t>Pruebas automatizadas y aseguramiento de calidad</a:t>
            </a:r>
            <a:endParaRPr lang="en-US" sz="1150" dirty="0"/>
          </a:p>
          <a:p>
            <a:pPr marL="342900" indent="-342900">
              <a:lnSpc>
                <a:spcPct val="118000"/>
              </a:lnSpc>
              <a:buSzPct val="100000"/>
              <a:buChar char="•"/>
            </a:pPr>
            <a:r>
              <a:rPr lang="en-US" sz="1150" dirty="0">
                <a:solidFill>
                  <a:srgbClr val="47566B"/>
                </a:solidFill>
                <a:latin typeface="Segoe UI" pitchFamily="34" charset="0"/>
                <a:ea typeface="Segoe UI" pitchFamily="34" charset="-122"/>
                <a:cs typeface="Segoe UI" pitchFamily="34" charset="-120"/>
              </a:rPr>
              <a:t>Despliegue continuo y empaquetado en contenedores</a:t>
            </a:r>
            <a:endParaRPr lang="en-US" sz="1150" dirty="0"/>
          </a:p>
          <a:p>
            <a:pPr marL="342900" indent="-342900">
              <a:lnSpc>
                <a:spcPct val="118000"/>
              </a:lnSpc>
              <a:buSzPct val="100000"/>
              <a:buChar char="•"/>
            </a:pPr>
            <a:r>
              <a:rPr lang="en-US" sz="1150" dirty="0">
                <a:solidFill>
                  <a:srgbClr val="47566B"/>
                </a:solidFill>
                <a:latin typeface="Segoe UI" pitchFamily="34" charset="0"/>
                <a:ea typeface="Segoe UI" pitchFamily="34" charset="-122"/>
                <a:cs typeface="Segoe UI" pitchFamily="34" charset="-120"/>
              </a:rPr>
              <a:t>Configuración nativa de la app y adecuación de los clientes</a:t>
            </a:r>
            <a:endParaRPr lang="en-US" sz="1150" dirty="0"/>
          </a:p>
        </p:txBody>
      </p:sp>
      <p:sp>
        <p:nvSpPr>
          <p:cNvPr id="25" name="Shape 22"/>
          <p:cNvSpPr/>
          <p:nvPr/>
        </p:nvSpPr>
        <p:spPr>
          <a:xfrm>
            <a:off x="658368" y="5029200"/>
            <a:ext cx="10863072" cy="960120"/>
          </a:xfrm>
          <a:prstGeom prst="roundRect">
            <a:avLst>
              <a:gd name="adj" fmla="val 5714"/>
            </a:avLst>
          </a:prstGeom>
          <a:solidFill>
            <a:srgbClr val="F1F5FA"/>
          </a:solidFill>
          <a:ln w="12700">
            <a:solidFill>
              <a:srgbClr val="DCE4EE"/>
            </a:solidFill>
            <a:prstDash val="solid"/>
          </a:ln>
        </p:spPr>
      </p:sp>
      <p:sp>
        <p:nvSpPr>
          <p:cNvPr id="26" name="Text 23"/>
          <p:cNvSpPr/>
          <p:nvPr/>
        </p:nvSpPr>
        <p:spPr>
          <a:xfrm>
            <a:off x="960120" y="5230368"/>
            <a:ext cx="10332720" cy="548640"/>
          </a:xfrm>
          <a:prstGeom prst="rect">
            <a:avLst/>
          </a:prstGeom>
          <a:noFill/>
          <a:ln/>
        </p:spPr>
        <p:txBody>
          <a:bodyPr wrap="square" rtlCol="0" anchor="ctr"/>
          <a:lstStyle/>
          <a:p>
            <a:pPr marL="0" indent="0">
              <a:buNone/>
            </a:pPr>
            <a:r>
              <a:rPr lang="en-US" sz="1200" b="1" dirty="0">
                <a:solidFill>
                  <a:srgbClr val="1A365D"/>
                </a:solidFill>
                <a:latin typeface="Segoe UI" pitchFamily="34" charset="0"/>
                <a:ea typeface="Segoe UI" pitchFamily="34" charset="-122"/>
                <a:cs typeface="Segoe UI" pitchFamily="34" charset="-120"/>
              </a:rPr>
              <a:t>Trabajo compartido.  </a:t>
            </a:r>
            <a:r>
              <a:rPr lang="en-US" sz="1200" dirty="0">
                <a:solidFill>
                  <a:srgbClr val="47566B"/>
                </a:solidFill>
                <a:latin typeface="Segoe UI" pitchFamily="34" charset="0"/>
                <a:ea typeface="Segoe UI" pitchFamily="34" charset="-122"/>
                <a:cs typeface="Segoe UI" pitchFamily="34" charset="-120"/>
              </a:rPr>
              <a:t>Ambos integrantes desarrollan frontend y backend. La especialización define la responsabilidad principal de cada uno, no un límite: el contrato de API documentado permite avanzar en paralelo sobre la misma base de código.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CONTEXTO Y OPORTUNIDAD</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El problema que aborda el proyecto</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3 / 16</a:t>
            </a:r>
            <a:endParaRPr lang="en-US" sz="900" dirty="0"/>
          </a:p>
        </p:txBody>
      </p:sp>
      <p:sp>
        <p:nvSpPr>
          <p:cNvPr id="11" name="Text 8"/>
          <p:cNvSpPr/>
          <p:nvPr/>
        </p:nvSpPr>
        <p:spPr>
          <a:xfrm>
            <a:off x="658368" y="1572768"/>
            <a:ext cx="5029200" cy="219456"/>
          </a:xfrm>
          <a:prstGeom prst="rect">
            <a:avLst/>
          </a:prstGeom>
          <a:noFill/>
          <a:ln/>
        </p:spPr>
        <p:txBody>
          <a:bodyPr wrap="square" rtlCol="0" anchor="ctr"/>
          <a:lstStyle/>
          <a:p>
            <a:pPr marL="0" indent="0">
              <a:buNone/>
            </a:pPr>
            <a:r>
              <a:rPr lang="en-US" sz="950" b="1" kern="0" spc="120" dirty="0">
                <a:solidFill>
                  <a:srgbClr val="B3261E"/>
                </a:solidFill>
                <a:latin typeface="Segoe UI" pitchFamily="34" charset="0"/>
                <a:ea typeface="Segoe UI" pitchFamily="34" charset="-122"/>
                <a:cs typeface="Segoe UI" pitchFamily="34" charset="-120"/>
              </a:rPr>
              <a:t>EL PROBLEMA</a:t>
            </a:r>
            <a:endParaRPr lang="en-US" sz="950" dirty="0"/>
          </a:p>
        </p:txBody>
      </p:sp>
      <p:sp>
        <p:nvSpPr>
          <p:cNvPr id="12" name="Shape 9"/>
          <p:cNvSpPr/>
          <p:nvPr/>
        </p:nvSpPr>
        <p:spPr>
          <a:xfrm>
            <a:off x="658368" y="1847088"/>
            <a:ext cx="5257800" cy="2788920"/>
          </a:xfrm>
          <a:prstGeom prst="roundRect">
            <a:avLst>
              <a:gd name="adj" fmla="val 1967"/>
            </a:avLst>
          </a:prstGeom>
          <a:solidFill>
            <a:srgbClr val="FFFFFF"/>
          </a:solidFill>
          <a:ln w="12700">
            <a:solidFill>
              <a:srgbClr val="DCE4EE"/>
            </a:solidFill>
            <a:prstDash val="solid"/>
          </a:ln>
        </p:spPr>
      </p:sp>
      <p:sp>
        <p:nvSpPr>
          <p:cNvPr id="13" name="Shape 10"/>
          <p:cNvSpPr/>
          <p:nvPr/>
        </p:nvSpPr>
        <p:spPr>
          <a:xfrm>
            <a:off x="658368" y="1847088"/>
            <a:ext cx="50292" cy="2788920"/>
          </a:xfrm>
          <a:prstGeom prst="rect">
            <a:avLst/>
          </a:prstGeom>
          <a:solidFill>
            <a:srgbClr val="B3261E"/>
          </a:solidFill>
          <a:ln/>
        </p:spPr>
      </p:sp>
      <p:sp>
        <p:nvSpPr>
          <p:cNvPr id="14" name="Text 11"/>
          <p:cNvSpPr/>
          <p:nvPr/>
        </p:nvSpPr>
        <p:spPr>
          <a:xfrm>
            <a:off x="1051560" y="2103120"/>
            <a:ext cx="4572000" cy="1188720"/>
          </a:xfrm>
          <a:prstGeom prst="rect">
            <a:avLst/>
          </a:prstGeom>
          <a:noFill/>
          <a:ln/>
        </p:spPr>
        <p:txBody>
          <a:bodyPr wrap="square" rtlCol="0" anchor="t"/>
          <a:lstStyle/>
          <a:p>
            <a:pPr marL="342900" indent="-342900">
              <a:lnSpc>
                <a:spcPct val="118000"/>
              </a:lnSpc>
              <a:buSzPct val="100000"/>
              <a:buChar char="•"/>
            </a:pPr>
            <a:r>
              <a:rPr lang="en-US" sz="1200" dirty="0">
                <a:solidFill>
                  <a:srgbClr val="47566B"/>
                </a:solidFill>
                <a:latin typeface="Segoe UI" pitchFamily="34" charset="0"/>
                <a:ea typeface="Segoe UI" pitchFamily="34" charset="-122"/>
                <a:cs typeface="Segoe UI" pitchFamily="34" charset="-120"/>
              </a:rPr>
              <a:t>La preparación de calidad está condicionada por la capacidad de pago de cada familia.</a:t>
            </a:r>
            <a:endParaRPr lang="en-US" sz="1200" dirty="0"/>
          </a:p>
          <a:p>
            <a:pPr marL="342900" indent="-342900">
              <a:lnSpc>
                <a:spcPct val="118000"/>
              </a:lnSpc>
              <a:buSzPct val="100000"/>
              <a:buChar char="•"/>
            </a:pPr>
            <a:r>
              <a:rPr lang="en-US" sz="1200" dirty="0">
                <a:solidFill>
                  <a:srgbClr val="47566B"/>
                </a:solidFill>
                <a:latin typeface="Segoe UI" pitchFamily="34" charset="0"/>
                <a:ea typeface="Segoe UI" pitchFamily="34" charset="-122"/>
                <a:cs typeface="Segoe UI" pitchFamily="34" charset="-120"/>
              </a:rPr>
              <a:t>Un preuniversitario presencial cuesta cientos de miles de pesos al año.</a:t>
            </a:r>
            <a:endParaRPr lang="en-US" sz="1200" dirty="0"/>
          </a:p>
          <a:p>
            <a:pPr marL="342900" indent="-342900">
              <a:lnSpc>
                <a:spcPct val="118000"/>
              </a:lnSpc>
              <a:buSzPct val="100000"/>
              <a:buChar char="•"/>
            </a:pPr>
            <a:r>
              <a:rPr lang="en-US" sz="1200" dirty="0">
                <a:solidFill>
                  <a:srgbClr val="47566B"/>
                </a:solidFill>
                <a:latin typeface="Segoe UI" pitchFamily="34" charset="0"/>
                <a:ea typeface="Segoe UI" pitchFamily="34" charset="-122"/>
                <a:cs typeface="Segoe UI" pitchFamily="34" charset="-120"/>
              </a:rPr>
              <a:t>El puntaje termina correlacionando con el nivel socioeconómico más que con el esfuerzo.</a:t>
            </a:r>
            <a:endParaRPr lang="en-US" sz="1200" dirty="0"/>
          </a:p>
          <a:p>
            <a:pPr marL="342900" indent="-342900">
              <a:lnSpc>
                <a:spcPct val="118000"/>
              </a:lnSpc>
              <a:buSzPct val="100000"/>
              <a:buChar char="•"/>
            </a:pPr>
            <a:r>
              <a:rPr lang="en-US" sz="1200" dirty="0">
                <a:solidFill>
                  <a:srgbClr val="47566B"/>
                </a:solidFill>
                <a:latin typeface="Segoe UI" pitchFamily="34" charset="0"/>
                <a:ea typeface="Segoe UI" pitchFamily="34" charset="-122"/>
                <a:cs typeface="Segoe UI" pitchFamily="34" charset="-120"/>
              </a:rPr>
              <a:t>Los estudiantes sin acceso llegan a rendir con menos práctica y sin retroalimentación.</a:t>
            </a:r>
            <a:endParaRPr lang="en-US" sz="1200" dirty="0"/>
          </a:p>
        </p:txBody>
      </p:sp>
      <p:sp>
        <p:nvSpPr>
          <p:cNvPr id="15" name="Text 12"/>
          <p:cNvSpPr/>
          <p:nvPr/>
        </p:nvSpPr>
        <p:spPr>
          <a:xfrm>
            <a:off x="6281928" y="1572768"/>
            <a:ext cx="5029200" cy="219456"/>
          </a:xfrm>
          <a:prstGeom prst="rect">
            <a:avLst/>
          </a:prstGeom>
          <a:noFill/>
          <a:ln/>
        </p:spPr>
        <p:txBody>
          <a:bodyPr wrap="square" rtlCol="0" anchor="ctr"/>
          <a:lstStyle/>
          <a:p>
            <a:pPr marL="0" indent="0">
              <a:buNone/>
            </a:pPr>
            <a:r>
              <a:rPr lang="en-US" sz="950" b="1" kern="0" spc="120" dirty="0">
                <a:solidFill>
                  <a:srgbClr val="10B981"/>
                </a:solidFill>
                <a:latin typeface="Segoe UI" pitchFamily="34" charset="0"/>
                <a:ea typeface="Segoe UI" pitchFamily="34" charset="-122"/>
                <a:cs typeface="Segoe UI" pitchFamily="34" charset="-120"/>
              </a:rPr>
              <a:t>LA PROPUESTA</a:t>
            </a:r>
            <a:endParaRPr lang="en-US" sz="950" dirty="0"/>
          </a:p>
        </p:txBody>
      </p:sp>
      <p:sp>
        <p:nvSpPr>
          <p:cNvPr id="16" name="Shape 13"/>
          <p:cNvSpPr/>
          <p:nvPr/>
        </p:nvSpPr>
        <p:spPr>
          <a:xfrm>
            <a:off x="6281928" y="1847088"/>
            <a:ext cx="5257800" cy="2788920"/>
          </a:xfrm>
          <a:prstGeom prst="roundRect">
            <a:avLst>
              <a:gd name="adj" fmla="val 1967"/>
            </a:avLst>
          </a:prstGeom>
          <a:solidFill>
            <a:srgbClr val="FFFFFF"/>
          </a:solidFill>
          <a:ln w="12700">
            <a:solidFill>
              <a:srgbClr val="DCE4EE"/>
            </a:solidFill>
            <a:prstDash val="solid"/>
          </a:ln>
        </p:spPr>
      </p:sp>
      <p:sp>
        <p:nvSpPr>
          <p:cNvPr id="17" name="Shape 14"/>
          <p:cNvSpPr/>
          <p:nvPr/>
        </p:nvSpPr>
        <p:spPr>
          <a:xfrm>
            <a:off x="6281928" y="1847088"/>
            <a:ext cx="50292" cy="2788920"/>
          </a:xfrm>
          <a:prstGeom prst="rect">
            <a:avLst/>
          </a:prstGeom>
          <a:solidFill>
            <a:srgbClr val="10B981"/>
          </a:solidFill>
          <a:ln/>
        </p:spPr>
      </p:sp>
      <p:sp>
        <p:nvSpPr>
          <p:cNvPr id="18" name="Text 15"/>
          <p:cNvSpPr/>
          <p:nvPr/>
        </p:nvSpPr>
        <p:spPr>
          <a:xfrm>
            <a:off x="6675120" y="2103120"/>
            <a:ext cx="4572000" cy="1188720"/>
          </a:xfrm>
          <a:prstGeom prst="rect">
            <a:avLst/>
          </a:prstGeom>
          <a:noFill/>
          <a:ln/>
        </p:spPr>
        <p:txBody>
          <a:bodyPr wrap="square" rtlCol="0" anchor="t"/>
          <a:lstStyle/>
          <a:p>
            <a:pPr marL="342900" indent="-342900">
              <a:lnSpc>
                <a:spcPct val="118000"/>
              </a:lnSpc>
              <a:buSzPct val="100000"/>
              <a:buChar char="•"/>
            </a:pPr>
            <a:r>
              <a:rPr lang="en-US" sz="1200" dirty="0">
                <a:solidFill>
                  <a:srgbClr val="47566B"/>
                </a:solidFill>
                <a:latin typeface="Segoe UI" pitchFamily="34" charset="0"/>
                <a:ea typeface="Segoe UI" pitchFamily="34" charset="-122"/>
                <a:cs typeface="Segoe UI" pitchFamily="34" charset="-120"/>
              </a:rPr>
              <a:t>Práctica ilimitada o de bajo costo desde el teléfono o el navegador.</a:t>
            </a:r>
            <a:endParaRPr lang="en-US" sz="1200" dirty="0"/>
          </a:p>
          <a:p>
            <a:pPr marL="342900" indent="-342900">
              <a:lnSpc>
                <a:spcPct val="118000"/>
              </a:lnSpc>
              <a:buSzPct val="100000"/>
              <a:buChar char="•"/>
            </a:pPr>
            <a:r>
              <a:rPr lang="en-US" sz="1200" dirty="0">
                <a:solidFill>
                  <a:srgbClr val="47566B"/>
                </a:solidFill>
                <a:latin typeface="Segoe UI" pitchFamily="34" charset="0"/>
                <a:ea typeface="Segoe UI" pitchFamily="34" charset="-122"/>
                <a:cs typeface="Segoe UI" pitchFamily="34" charset="-120"/>
              </a:rPr>
              <a:t>Banco de preguntas reales de la PAES con explicación y árbol de habilidades.</a:t>
            </a:r>
            <a:endParaRPr lang="en-US" sz="1200" dirty="0"/>
          </a:p>
          <a:p>
            <a:pPr marL="342900" indent="-342900">
              <a:lnSpc>
                <a:spcPct val="118000"/>
              </a:lnSpc>
              <a:buSzPct val="100000"/>
              <a:buChar char="•"/>
            </a:pPr>
            <a:r>
              <a:rPr lang="en-US" sz="1200" dirty="0">
                <a:solidFill>
                  <a:srgbClr val="47566B"/>
                </a:solidFill>
                <a:latin typeface="Segoe UI" pitchFamily="34" charset="0"/>
                <a:ea typeface="Segoe UI" pitchFamily="34" charset="-122"/>
                <a:cs typeface="Segoe UI" pitchFamily="34" charset="-120"/>
              </a:rPr>
              <a:t>Gamificación con medallas canjeables por beneficios de sponsors.</a:t>
            </a:r>
            <a:endParaRPr lang="en-US" sz="1200" dirty="0"/>
          </a:p>
          <a:p>
            <a:pPr marL="342900" indent="-342900">
              <a:lnSpc>
                <a:spcPct val="118000"/>
              </a:lnSpc>
              <a:buSzPct val="100000"/>
              <a:buChar char="•"/>
            </a:pPr>
            <a:r>
              <a:rPr lang="en-US" sz="1200" dirty="0">
                <a:solidFill>
                  <a:srgbClr val="47566B"/>
                </a:solidFill>
                <a:latin typeface="Segoe UI" pitchFamily="34" charset="0"/>
                <a:ea typeface="Segoe UI" pitchFamily="34" charset="-122"/>
                <a:cs typeface="Segoe UI" pitchFamily="34" charset="-120"/>
              </a:rPr>
              <a:t>Grupos de estudio, comunidad y acceso a tutores.</a:t>
            </a:r>
            <a:endParaRPr lang="en-US" sz="1200" dirty="0"/>
          </a:p>
        </p:txBody>
      </p:sp>
      <p:sp>
        <p:nvSpPr>
          <p:cNvPr id="19" name="Shape 16"/>
          <p:cNvSpPr/>
          <p:nvPr/>
        </p:nvSpPr>
        <p:spPr>
          <a:xfrm>
            <a:off x="658368" y="4892040"/>
            <a:ext cx="2606040" cy="1078992"/>
          </a:xfrm>
          <a:prstGeom prst="roundRect">
            <a:avLst>
              <a:gd name="adj" fmla="val 5085"/>
            </a:avLst>
          </a:prstGeom>
          <a:solidFill>
            <a:srgbClr val="FFFFFF"/>
          </a:solidFill>
          <a:ln w="12700">
            <a:solidFill>
              <a:srgbClr val="DCE4EE"/>
            </a:solidFill>
            <a:prstDash val="solid"/>
          </a:ln>
        </p:spPr>
      </p:sp>
      <p:sp>
        <p:nvSpPr>
          <p:cNvPr id="20" name="Text 17"/>
          <p:cNvSpPr/>
          <p:nvPr/>
        </p:nvSpPr>
        <p:spPr>
          <a:xfrm>
            <a:off x="658368" y="5029200"/>
            <a:ext cx="2606040" cy="411480"/>
          </a:xfrm>
          <a:prstGeom prst="rect">
            <a:avLst/>
          </a:prstGeom>
          <a:noFill/>
          <a:ln/>
        </p:spPr>
        <p:txBody>
          <a:bodyPr wrap="square" rtlCol="0" anchor="ctr"/>
          <a:lstStyle/>
          <a:p>
            <a:pPr marL="0" indent="0" algn="ctr">
              <a:buNone/>
            </a:pPr>
            <a:r>
              <a:rPr lang="en-US" sz="1900" b="1" dirty="0">
                <a:solidFill>
                  <a:srgbClr val="2D5A9E"/>
                </a:solidFill>
                <a:latin typeface="Segoe UI" pitchFamily="34" charset="0"/>
                <a:ea typeface="Segoe UI" pitchFamily="34" charset="-122"/>
                <a:cs typeface="Segoe UI" pitchFamily="34" charset="-120"/>
              </a:rPr>
              <a:t>~1.476</a:t>
            </a:r>
            <a:endParaRPr lang="en-US" sz="1900" dirty="0"/>
          </a:p>
        </p:txBody>
      </p:sp>
      <p:sp>
        <p:nvSpPr>
          <p:cNvPr id="21" name="Text 18"/>
          <p:cNvSpPr/>
          <p:nvPr/>
        </p:nvSpPr>
        <p:spPr>
          <a:xfrm>
            <a:off x="658368" y="5440680"/>
            <a:ext cx="2606040" cy="320040"/>
          </a:xfrm>
          <a:prstGeom prst="rect">
            <a:avLst/>
          </a:prstGeom>
          <a:noFill/>
          <a:ln/>
        </p:spPr>
        <p:txBody>
          <a:bodyPr wrap="square" rtlCol="0" anchor="ctr"/>
          <a:lstStyle/>
          <a:p>
            <a:pPr marL="0" indent="0" algn="ctr">
              <a:buNone/>
            </a:pPr>
            <a:r>
              <a:rPr lang="en-US" sz="1000" dirty="0">
                <a:solidFill>
                  <a:srgbClr val="7A8AA0"/>
                </a:solidFill>
                <a:latin typeface="Segoe UI" pitchFamily="34" charset="0"/>
                <a:ea typeface="Segoe UI" pitchFamily="34" charset="-122"/>
                <a:cs typeface="Segoe UI" pitchFamily="34" charset="-120"/>
              </a:rPr>
              <a:t>preguntas PAES reales</a:t>
            </a:r>
            <a:endParaRPr lang="en-US" sz="1000" dirty="0"/>
          </a:p>
        </p:txBody>
      </p:sp>
      <p:sp>
        <p:nvSpPr>
          <p:cNvPr id="22" name="Shape 19"/>
          <p:cNvSpPr/>
          <p:nvPr/>
        </p:nvSpPr>
        <p:spPr>
          <a:xfrm>
            <a:off x="3447288" y="4892040"/>
            <a:ext cx="2606040" cy="1078992"/>
          </a:xfrm>
          <a:prstGeom prst="roundRect">
            <a:avLst>
              <a:gd name="adj" fmla="val 5085"/>
            </a:avLst>
          </a:prstGeom>
          <a:solidFill>
            <a:srgbClr val="FFFFFF"/>
          </a:solidFill>
          <a:ln w="12700">
            <a:solidFill>
              <a:srgbClr val="DCE4EE"/>
            </a:solidFill>
            <a:prstDash val="solid"/>
          </a:ln>
        </p:spPr>
      </p:sp>
      <p:sp>
        <p:nvSpPr>
          <p:cNvPr id="23" name="Text 20"/>
          <p:cNvSpPr/>
          <p:nvPr/>
        </p:nvSpPr>
        <p:spPr>
          <a:xfrm>
            <a:off x="3447288" y="5029200"/>
            <a:ext cx="2606040" cy="411480"/>
          </a:xfrm>
          <a:prstGeom prst="rect">
            <a:avLst/>
          </a:prstGeom>
          <a:noFill/>
          <a:ln/>
        </p:spPr>
        <p:txBody>
          <a:bodyPr wrap="square" rtlCol="0" anchor="ctr"/>
          <a:lstStyle/>
          <a:p>
            <a:pPr marL="0" indent="0" algn="ctr">
              <a:buNone/>
            </a:pPr>
            <a:r>
              <a:rPr lang="en-US" sz="1900" b="1" dirty="0">
                <a:solidFill>
                  <a:srgbClr val="2D5A9E"/>
                </a:solidFill>
                <a:latin typeface="Segoe UI" pitchFamily="34" charset="0"/>
                <a:ea typeface="Segoe UI" pitchFamily="34" charset="-122"/>
                <a:cs typeface="Segoe UI" pitchFamily="34" charset="-120"/>
              </a:rPr>
              <a:t>3°y 4° medio</a:t>
            </a:r>
            <a:endParaRPr lang="en-US" sz="1900" dirty="0"/>
          </a:p>
        </p:txBody>
      </p:sp>
      <p:sp>
        <p:nvSpPr>
          <p:cNvPr id="24" name="Text 21"/>
          <p:cNvSpPr/>
          <p:nvPr/>
        </p:nvSpPr>
        <p:spPr>
          <a:xfrm>
            <a:off x="3447288" y="5440680"/>
            <a:ext cx="2606040" cy="320040"/>
          </a:xfrm>
          <a:prstGeom prst="rect">
            <a:avLst/>
          </a:prstGeom>
          <a:noFill/>
          <a:ln/>
        </p:spPr>
        <p:txBody>
          <a:bodyPr wrap="square" rtlCol="0" anchor="ctr"/>
          <a:lstStyle/>
          <a:p>
            <a:pPr marL="0" indent="0" algn="ctr">
              <a:buNone/>
            </a:pPr>
            <a:r>
              <a:rPr lang="en-US" sz="1000" dirty="0">
                <a:solidFill>
                  <a:srgbClr val="7A8AA0"/>
                </a:solidFill>
                <a:latin typeface="Segoe UI" pitchFamily="34" charset="0"/>
                <a:ea typeface="Segoe UI" pitchFamily="34" charset="-122"/>
                <a:cs typeface="Segoe UI" pitchFamily="34" charset="-120"/>
              </a:rPr>
              <a:t>público objetivo</a:t>
            </a:r>
            <a:endParaRPr lang="en-US" sz="1000" dirty="0"/>
          </a:p>
        </p:txBody>
      </p:sp>
      <p:sp>
        <p:nvSpPr>
          <p:cNvPr id="25" name="Shape 22"/>
          <p:cNvSpPr/>
          <p:nvPr/>
        </p:nvSpPr>
        <p:spPr>
          <a:xfrm>
            <a:off x="6236208" y="4892040"/>
            <a:ext cx="2606040" cy="1078992"/>
          </a:xfrm>
          <a:prstGeom prst="roundRect">
            <a:avLst>
              <a:gd name="adj" fmla="val 5085"/>
            </a:avLst>
          </a:prstGeom>
          <a:solidFill>
            <a:srgbClr val="FFFFFF"/>
          </a:solidFill>
          <a:ln w="12700">
            <a:solidFill>
              <a:srgbClr val="DCE4EE"/>
            </a:solidFill>
            <a:prstDash val="solid"/>
          </a:ln>
        </p:spPr>
      </p:sp>
      <p:sp>
        <p:nvSpPr>
          <p:cNvPr id="26" name="Text 23"/>
          <p:cNvSpPr/>
          <p:nvPr/>
        </p:nvSpPr>
        <p:spPr>
          <a:xfrm>
            <a:off x="6236208" y="5029200"/>
            <a:ext cx="2606040" cy="411480"/>
          </a:xfrm>
          <a:prstGeom prst="rect">
            <a:avLst/>
          </a:prstGeom>
          <a:noFill/>
          <a:ln/>
        </p:spPr>
        <p:txBody>
          <a:bodyPr wrap="square" rtlCol="0" anchor="ctr"/>
          <a:lstStyle/>
          <a:p>
            <a:pPr marL="0" indent="0" algn="ctr">
              <a:buNone/>
            </a:pPr>
            <a:r>
              <a:rPr lang="en-US" sz="1900" b="1" dirty="0">
                <a:solidFill>
                  <a:srgbClr val="2D5A9E"/>
                </a:solidFill>
                <a:latin typeface="Segoe UI" pitchFamily="34" charset="0"/>
                <a:ea typeface="Segoe UI" pitchFamily="34" charset="-122"/>
                <a:cs typeface="Segoe UI" pitchFamily="34" charset="-120"/>
              </a:rPr>
              <a:t>Chile</a:t>
            </a:r>
            <a:endParaRPr lang="en-US" sz="1900" dirty="0"/>
          </a:p>
        </p:txBody>
      </p:sp>
      <p:sp>
        <p:nvSpPr>
          <p:cNvPr id="27" name="Text 24"/>
          <p:cNvSpPr/>
          <p:nvPr/>
        </p:nvSpPr>
        <p:spPr>
          <a:xfrm>
            <a:off x="6236208" y="5440680"/>
            <a:ext cx="2606040" cy="320040"/>
          </a:xfrm>
          <a:prstGeom prst="rect">
            <a:avLst/>
          </a:prstGeom>
          <a:noFill/>
          <a:ln/>
        </p:spPr>
        <p:txBody>
          <a:bodyPr wrap="square" rtlCol="0" anchor="ctr"/>
          <a:lstStyle/>
          <a:p>
            <a:pPr marL="0" indent="0" algn="ctr">
              <a:buNone/>
            </a:pPr>
            <a:r>
              <a:rPr lang="en-US" sz="1000" dirty="0">
                <a:solidFill>
                  <a:srgbClr val="7A8AA0"/>
                </a:solidFill>
                <a:latin typeface="Segoe UI" pitchFamily="34" charset="0"/>
                <a:ea typeface="Segoe UI" pitchFamily="34" charset="-122"/>
                <a:cs typeface="Segoe UI" pitchFamily="34" charset="-120"/>
              </a:rPr>
              <a:t>primer mercado</a:t>
            </a:r>
            <a:endParaRPr lang="en-US" sz="1000" dirty="0"/>
          </a:p>
        </p:txBody>
      </p:sp>
      <p:sp>
        <p:nvSpPr>
          <p:cNvPr id="28" name="Shape 25"/>
          <p:cNvSpPr/>
          <p:nvPr/>
        </p:nvSpPr>
        <p:spPr>
          <a:xfrm>
            <a:off x="9025128" y="4892040"/>
            <a:ext cx="2606040" cy="1078992"/>
          </a:xfrm>
          <a:prstGeom prst="roundRect">
            <a:avLst>
              <a:gd name="adj" fmla="val 5085"/>
            </a:avLst>
          </a:prstGeom>
          <a:solidFill>
            <a:srgbClr val="FFFFFF"/>
          </a:solidFill>
          <a:ln w="12700">
            <a:solidFill>
              <a:srgbClr val="DCE4EE"/>
            </a:solidFill>
            <a:prstDash val="solid"/>
          </a:ln>
        </p:spPr>
      </p:sp>
      <p:sp>
        <p:nvSpPr>
          <p:cNvPr id="29" name="Text 26"/>
          <p:cNvSpPr/>
          <p:nvPr/>
        </p:nvSpPr>
        <p:spPr>
          <a:xfrm>
            <a:off x="9025128" y="5029200"/>
            <a:ext cx="2606040" cy="411480"/>
          </a:xfrm>
          <a:prstGeom prst="rect">
            <a:avLst/>
          </a:prstGeom>
          <a:noFill/>
          <a:ln/>
        </p:spPr>
        <p:txBody>
          <a:bodyPr wrap="square" rtlCol="0" anchor="ctr"/>
          <a:lstStyle/>
          <a:p>
            <a:pPr marL="0" indent="0" algn="ctr">
              <a:buNone/>
            </a:pPr>
            <a:r>
              <a:rPr lang="en-US" sz="1900" b="1" dirty="0">
                <a:solidFill>
                  <a:srgbClr val="2D5A9E"/>
                </a:solidFill>
                <a:latin typeface="Segoe UI" pitchFamily="34" charset="0"/>
                <a:ea typeface="Segoe UI" pitchFamily="34" charset="-122"/>
                <a:cs typeface="Segoe UI" pitchFamily="34" charset="-120"/>
              </a:rPr>
              <a:t>Alloxentric</a:t>
            </a:r>
            <a:endParaRPr lang="en-US" sz="1900" dirty="0"/>
          </a:p>
        </p:txBody>
      </p:sp>
      <p:sp>
        <p:nvSpPr>
          <p:cNvPr id="30" name="Text 27"/>
          <p:cNvSpPr/>
          <p:nvPr/>
        </p:nvSpPr>
        <p:spPr>
          <a:xfrm>
            <a:off x="9025128" y="5440680"/>
            <a:ext cx="2606040" cy="320040"/>
          </a:xfrm>
          <a:prstGeom prst="rect">
            <a:avLst/>
          </a:prstGeom>
          <a:noFill/>
          <a:ln/>
        </p:spPr>
        <p:txBody>
          <a:bodyPr wrap="square" rtlCol="0" anchor="ctr"/>
          <a:lstStyle/>
          <a:p>
            <a:pPr marL="0" indent="0" algn="ctr">
              <a:buNone/>
            </a:pPr>
            <a:r>
              <a:rPr lang="en-US" sz="1000" dirty="0">
                <a:solidFill>
                  <a:srgbClr val="7A8AA0"/>
                </a:solidFill>
                <a:latin typeface="Segoe UI" pitchFamily="34" charset="0"/>
                <a:ea typeface="Segoe UI" pitchFamily="34" charset="-122"/>
                <a:cs typeface="Segoe UI" pitchFamily="34" charset="-120"/>
              </a:rPr>
              <a:t>empresa mandante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FORMULACIÓN DEL PROYECTO</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Objetivo general</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4 / 16</a:t>
            </a:r>
            <a:endParaRPr lang="en-US" sz="900" dirty="0"/>
          </a:p>
        </p:txBody>
      </p:sp>
      <p:sp>
        <p:nvSpPr>
          <p:cNvPr id="11" name="Shape 8"/>
          <p:cNvSpPr/>
          <p:nvPr/>
        </p:nvSpPr>
        <p:spPr>
          <a:xfrm>
            <a:off x="658368" y="1645920"/>
            <a:ext cx="10863072" cy="1600200"/>
          </a:xfrm>
          <a:prstGeom prst="roundRect">
            <a:avLst>
              <a:gd name="adj" fmla="val 3429"/>
            </a:avLst>
          </a:prstGeom>
          <a:solidFill>
            <a:srgbClr val="1A365D"/>
          </a:solidFill>
          <a:ln w="12700">
            <a:solidFill>
              <a:srgbClr val="1A365D"/>
            </a:solidFill>
            <a:prstDash val="solid"/>
          </a:ln>
        </p:spPr>
      </p:sp>
      <p:sp>
        <p:nvSpPr>
          <p:cNvPr id="12" name="Text 9"/>
          <p:cNvSpPr/>
          <p:nvPr/>
        </p:nvSpPr>
        <p:spPr>
          <a:xfrm>
            <a:off x="868680" y="1627632"/>
            <a:ext cx="731520" cy="731520"/>
          </a:xfrm>
          <a:prstGeom prst="rect">
            <a:avLst/>
          </a:prstGeom>
          <a:noFill/>
          <a:ln/>
        </p:spPr>
        <p:txBody>
          <a:bodyPr wrap="square" rtlCol="0" anchor="ctr"/>
          <a:lstStyle/>
          <a:p>
            <a:pPr marL="0" indent="0">
              <a:buNone/>
            </a:pPr>
            <a:r>
              <a:rPr lang="en-US" sz="5400" dirty="0">
                <a:solidFill>
                  <a:srgbClr val="F5B041"/>
                </a:solidFill>
                <a:latin typeface="Georgia" pitchFamily="34" charset="0"/>
                <a:ea typeface="Georgia" pitchFamily="34" charset="-122"/>
                <a:cs typeface="Georgia" pitchFamily="34" charset="-120"/>
              </a:rPr>
              <a:t>“</a:t>
            </a:r>
            <a:endParaRPr lang="en-US" sz="5400" dirty="0"/>
          </a:p>
        </p:txBody>
      </p:sp>
      <p:sp>
        <p:nvSpPr>
          <p:cNvPr id="13" name="Text 10"/>
          <p:cNvSpPr/>
          <p:nvPr/>
        </p:nvSpPr>
        <p:spPr>
          <a:xfrm>
            <a:off x="1508760" y="1847088"/>
            <a:ext cx="9601200" cy="1188720"/>
          </a:xfrm>
          <a:prstGeom prst="rect">
            <a:avLst/>
          </a:prstGeom>
          <a:noFill/>
          <a:ln/>
        </p:spPr>
        <p:txBody>
          <a:bodyPr wrap="square" rtlCol="0" anchor="ctr"/>
          <a:lstStyle/>
          <a:p>
            <a:pPr marL="0" indent="0">
              <a:lnSpc>
                <a:spcPct val="125000"/>
              </a:lnSpc>
              <a:buNone/>
            </a:pPr>
            <a:r>
              <a:rPr lang="en-US" sz="1600" dirty="0">
                <a:solidFill>
                  <a:srgbClr val="FFFFFF"/>
                </a:solidFill>
                <a:latin typeface="Segoe UI" pitchFamily="34" charset="0"/>
                <a:ea typeface="Segoe UI" pitchFamily="34" charset="-122"/>
                <a:cs typeface="Segoe UI" pitchFamily="34" charset="-120"/>
              </a:rPr>
              <a:t>Implementar las mejoras de seguridad, persistencia y calidad necesarias para dejar el backend de la plataforma Aprueba, junto con su aplicación móvil y su sitio web del estudiante, en condiciones de despliegue productivo antes del término del semestre académico.</a:t>
            </a:r>
            <a:endParaRPr lang="en-US" sz="1600" dirty="0"/>
          </a:p>
        </p:txBody>
      </p:sp>
      <p:sp>
        <p:nvSpPr>
          <p:cNvPr id="14" name="Shape 11"/>
          <p:cNvSpPr/>
          <p:nvPr/>
        </p:nvSpPr>
        <p:spPr>
          <a:xfrm>
            <a:off x="658368" y="3611880"/>
            <a:ext cx="3429000" cy="2240280"/>
          </a:xfrm>
          <a:prstGeom prst="roundRect">
            <a:avLst>
              <a:gd name="adj" fmla="val 2449"/>
            </a:avLst>
          </a:prstGeom>
          <a:solidFill>
            <a:srgbClr val="FFFFFF"/>
          </a:solidFill>
          <a:ln w="12700">
            <a:solidFill>
              <a:srgbClr val="DCE4EE"/>
            </a:solidFill>
            <a:prstDash val="solid"/>
          </a:ln>
        </p:spPr>
      </p:sp>
      <p:sp>
        <p:nvSpPr>
          <p:cNvPr id="15" name="Shape 12"/>
          <p:cNvSpPr/>
          <p:nvPr/>
        </p:nvSpPr>
        <p:spPr>
          <a:xfrm>
            <a:off x="658368" y="3611880"/>
            <a:ext cx="50292" cy="2240280"/>
          </a:xfrm>
          <a:prstGeom prst="rect">
            <a:avLst/>
          </a:prstGeom>
          <a:solidFill>
            <a:srgbClr val="B3261E"/>
          </a:solidFill>
          <a:ln/>
        </p:spPr>
      </p:sp>
      <p:sp>
        <p:nvSpPr>
          <p:cNvPr id="16" name="Text 13"/>
          <p:cNvSpPr/>
          <p:nvPr/>
        </p:nvSpPr>
        <p:spPr>
          <a:xfrm>
            <a:off x="978408" y="3822192"/>
            <a:ext cx="914400" cy="365760"/>
          </a:xfrm>
          <a:prstGeom prst="rect">
            <a:avLst/>
          </a:prstGeom>
          <a:noFill/>
          <a:ln/>
        </p:spPr>
        <p:txBody>
          <a:bodyPr wrap="square" rtlCol="0" anchor="ctr"/>
          <a:lstStyle/>
          <a:p>
            <a:pPr marL="0" indent="0">
              <a:buNone/>
            </a:pPr>
            <a:r>
              <a:rPr lang="en-US" sz="1300" b="1" dirty="0">
                <a:solidFill>
                  <a:srgbClr val="B3261E"/>
                </a:solidFill>
                <a:latin typeface="Segoe UI" pitchFamily="34" charset="0"/>
                <a:ea typeface="Segoe UI" pitchFamily="34" charset="-122"/>
                <a:cs typeface="Segoe UI" pitchFamily="34" charset="-120"/>
              </a:rPr>
              <a:t>01</a:t>
            </a:r>
            <a:endParaRPr lang="en-US" sz="1300" dirty="0"/>
          </a:p>
        </p:txBody>
      </p:sp>
      <p:sp>
        <p:nvSpPr>
          <p:cNvPr id="17" name="Text 14"/>
          <p:cNvSpPr/>
          <p:nvPr/>
        </p:nvSpPr>
        <p:spPr>
          <a:xfrm>
            <a:off x="978408" y="4206240"/>
            <a:ext cx="2834640" cy="365760"/>
          </a:xfrm>
          <a:prstGeom prst="rect">
            <a:avLst/>
          </a:prstGeom>
          <a:noFill/>
          <a:ln/>
        </p:spPr>
        <p:txBody>
          <a:bodyPr wrap="square" rtlCol="0" anchor="ctr"/>
          <a:lstStyle/>
          <a:p>
            <a:pPr marL="0" indent="0">
              <a:buNone/>
            </a:pPr>
            <a:r>
              <a:rPr lang="en-US" sz="1800" b="1" dirty="0">
                <a:solidFill>
                  <a:srgbClr val="1A365D"/>
                </a:solidFill>
                <a:latin typeface="Segoe UI" pitchFamily="34" charset="0"/>
                <a:ea typeface="Segoe UI" pitchFamily="34" charset="-122"/>
                <a:cs typeface="Segoe UI" pitchFamily="34" charset="-120"/>
              </a:rPr>
              <a:t>Seguridad</a:t>
            </a:r>
            <a:endParaRPr lang="en-US" sz="1800" dirty="0"/>
          </a:p>
        </p:txBody>
      </p:sp>
      <p:sp>
        <p:nvSpPr>
          <p:cNvPr id="18" name="Text 15"/>
          <p:cNvSpPr/>
          <p:nvPr/>
        </p:nvSpPr>
        <p:spPr>
          <a:xfrm>
            <a:off x="978408" y="4617720"/>
            <a:ext cx="2834640" cy="1097280"/>
          </a:xfrm>
          <a:prstGeom prst="rect">
            <a:avLst/>
          </a:prstGeom>
          <a:noFill/>
          <a:ln/>
        </p:spPr>
        <p:txBody>
          <a:bodyPr wrap="square" rtlCol="0" anchor="ctr"/>
          <a:lstStyle/>
          <a:p>
            <a:pPr marL="0" indent="0">
              <a:lnSpc>
                <a:spcPct val="115000"/>
              </a:lnSpc>
              <a:buNone/>
            </a:pPr>
            <a:r>
              <a:rPr lang="en-US" sz="1150" dirty="0">
                <a:solidFill>
                  <a:srgbClr val="47566B"/>
                </a:solidFill>
                <a:latin typeface="Segoe UI" pitchFamily="34" charset="0"/>
                <a:ea typeface="Segoe UI" pitchFamily="34" charset="-122"/>
                <a:cs typeface="Segoe UI" pitchFamily="34" charset="-120"/>
              </a:rPr>
              <a:t>Cerrar las seis vulnerabilidades del sistema recibido, dos de ellas críticas para producción.</a:t>
            </a:r>
            <a:endParaRPr lang="en-US" sz="1150" dirty="0"/>
          </a:p>
        </p:txBody>
      </p:sp>
      <p:sp>
        <p:nvSpPr>
          <p:cNvPr id="19" name="Shape 16"/>
          <p:cNvSpPr/>
          <p:nvPr/>
        </p:nvSpPr>
        <p:spPr>
          <a:xfrm>
            <a:off x="4379976" y="3611880"/>
            <a:ext cx="3429000" cy="2240280"/>
          </a:xfrm>
          <a:prstGeom prst="roundRect">
            <a:avLst>
              <a:gd name="adj" fmla="val 2449"/>
            </a:avLst>
          </a:prstGeom>
          <a:solidFill>
            <a:srgbClr val="FFFFFF"/>
          </a:solidFill>
          <a:ln w="12700">
            <a:solidFill>
              <a:srgbClr val="DCE4EE"/>
            </a:solidFill>
            <a:prstDash val="solid"/>
          </a:ln>
        </p:spPr>
      </p:sp>
      <p:sp>
        <p:nvSpPr>
          <p:cNvPr id="20" name="Shape 17"/>
          <p:cNvSpPr/>
          <p:nvPr/>
        </p:nvSpPr>
        <p:spPr>
          <a:xfrm>
            <a:off x="4379976" y="3611880"/>
            <a:ext cx="50292" cy="2240280"/>
          </a:xfrm>
          <a:prstGeom prst="rect">
            <a:avLst/>
          </a:prstGeom>
          <a:solidFill>
            <a:srgbClr val="2D5A9E"/>
          </a:solidFill>
          <a:ln/>
        </p:spPr>
      </p:sp>
      <p:sp>
        <p:nvSpPr>
          <p:cNvPr id="21" name="Text 18"/>
          <p:cNvSpPr/>
          <p:nvPr/>
        </p:nvSpPr>
        <p:spPr>
          <a:xfrm>
            <a:off x="4700016" y="3822192"/>
            <a:ext cx="914400" cy="365760"/>
          </a:xfrm>
          <a:prstGeom prst="rect">
            <a:avLst/>
          </a:prstGeom>
          <a:noFill/>
          <a:ln/>
        </p:spPr>
        <p:txBody>
          <a:bodyPr wrap="square" rtlCol="0" anchor="ctr"/>
          <a:lstStyle/>
          <a:p>
            <a:pPr marL="0" indent="0">
              <a:buNone/>
            </a:pPr>
            <a:r>
              <a:rPr lang="en-US" sz="1300" b="1" dirty="0">
                <a:solidFill>
                  <a:srgbClr val="2D5A9E"/>
                </a:solidFill>
                <a:latin typeface="Segoe UI" pitchFamily="34" charset="0"/>
                <a:ea typeface="Segoe UI" pitchFamily="34" charset="-122"/>
                <a:cs typeface="Segoe UI" pitchFamily="34" charset="-120"/>
              </a:rPr>
              <a:t>02</a:t>
            </a:r>
            <a:endParaRPr lang="en-US" sz="1300" dirty="0"/>
          </a:p>
        </p:txBody>
      </p:sp>
      <p:sp>
        <p:nvSpPr>
          <p:cNvPr id="22" name="Text 19"/>
          <p:cNvSpPr/>
          <p:nvPr/>
        </p:nvSpPr>
        <p:spPr>
          <a:xfrm>
            <a:off x="4700016" y="4206240"/>
            <a:ext cx="2834640" cy="365760"/>
          </a:xfrm>
          <a:prstGeom prst="rect">
            <a:avLst/>
          </a:prstGeom>
          <a:noFill/>
          <a:ln/>
        </p:spPr>
        <p:txBody>
          <a:bodyPr wrap="square" rtlCol="0" anchor="ctr"/>
          <a:lstStyle/>
          <a:p>
            <a:pPr marL="0" indent="0">
              <a:buNone/>
            </a:pPr>
            <a:r>
              <a:rPr lang="en-US" sz="1800" b="1" dirty="0">
                <a:solidFill>
                  <a:srgbClr val="1A365D"/>
                </a:solidFill>
                <a:latin typeface="Segoe UI" pitchFamily="34" charset="0"/>
                <a:ea typeface="Segoe UI" pitchFamily="34" charset="-122"/>
                <a:cs typeface="Segoe UI" pitchFamily="34" charset="-120"/>
              </a:rPr>
              <a:t>Persistencia</a:t>
            </a:r>
            <a:endParaRPr lang="en-US" sz="1800" dirty="0"/>
          </a:p>
        </p:txBody>
      </p:sp>
      <p:sp>
        <p:nvSpPr>
          <p:cNvPr id="23" name="Text 20"/>
          <p:cNvSpPr/>
          <p:nvPr/>
        </p:nvSpPr>
        <p:spPr>
          <a:xfrm>
            <a:off x="4700016" y="4617720"/>
            <a:ext cx="2834640" cy="1097280"/>
          </a:xfrm>
          <a:prstGeom prst="rect">
            <a:avLst/>
          </a:prstGeom>
          <a:noFill/>
          <a:ln/>
        </p:spPr>
        <p:txBody>
          <a:bodyPr wrap="square" rtlCol="0" anchor="ctr"/>
          <a:lstStyle/>
          <a:p>
            <a:pPr marL="0" indent="0">
              <a:lnSpc>
                <a:spcPct val="115000"/>
              </a:lnSpc>
              <a:buNone/>
            </a:pPr>
            <a:r>
              <a:rPr lang="en-US" sz="1150" dirty="0">
                <a:solidFill>
                  <a:srgbClr val="47566B"/>
                </a:solidFill>
                <a:latin typeface="Segoe UI" pitchFamily="34" charset="0"/>
                <a:ea typeface="Segoe UI" pitchFamily="34" charset="-122"/>
                <a:cs typeface="Segoe UI" pitchFamily="34" charset="-120"/>
              </a:rPr>
              <a:t>Migrar desde un archivo local hacia una base de datos gestionada en la nube.</a:t>
            </a:r>
            <a:endParaRPr lang="en-US" sz="1150" dirty="0"/>
          </a:p>
        </p:txBody>
      </p:sp>
      <p:sp>
        <p:nvSpPr>
          <p:cNvPr id="24" name="Shape 21"/>
          <p:cNvSpPr/>
          <p:nvPr/>
        </p:nvSpPr>
        <p:spPr>
          <a:xfrm>
            <a:off x="8101584" y="3611880"/>
            <a:ext cx="3429000" cy="2240280"/>
          </a:xfrm>
          <a:prstGeom prst="roundRect">
            <a:avLst>
              <a:gd name="adj" fmla="val 2449"/>
            </a:avLst>
          </a:prstGeom>
          <a:solidFill>
            <a:srgbClr val="FFFFFF"/>
          </a:solidFill>
          <a:ln w="12700">
            <a:solidFill>
              <a:srgbClr val="DCE4EE"/>
            </a:solidFill>
            <a:prstDash val="solid"/>
          </a:ln>
        </p:spPr>
      </p:sp>
      <p:sp>
        <p:nvSpPr>
          <p:cNvPr id="25" name="Shape 22"/>
          <p:cNvSpPr/>
          <p:nvPr/>
        </p:nvSpPr>
        <p:spPr>
          <a:xfrm>
            <a:off x="8101584" y="3611880"/>
            <a:ext cx="50292" cy="2240280"/>
          </a:xfrm>
          <a:prstGeom prst="rect">
            <a:avLst/>
          </a:prstGeom>
          <a:solidFill>
            <a:srgbClr val="10B981"/>
          </a:solidFill>
          <a:ln/>
        </p:spPr>
      </p:sp>
      <p:sp>
        <p:nvSpPr>
          <p:cNvPr id="26" name="Text 23"/>
          <p:cNvSpPr/>
          <p:nvPr/>
        </p:nvSpPr>
        <p:spPr>
          <a:xfrm>
            <a:off x="8421624" y="3822192"/>
            <a:ext cx="914400" cy="365760"/>
          </a:xfrm>
          <a:prstGeom prst="rect">
            <a:avLst/>
          </a:prstGeom>
          <a:noFill/>
          <a:ln/>
        </p:spPr>
        <p:txBody>
          <a:bodyPr wrap="square" rtlCol="0" anchor="ctr"/>
          <a:lstStyle/>
          <a:p>
            <a:pPr marL="0" indent="0">
              <a:buNone/>
            </a:pPr>
            <a:r>
              <a:rPr lang="en-US" sz="1300" b="1" dirty="0">
                <a:solidFill>
                  <a:srgbClr val="10B981"/>
                </a:solidFill>
                <a:latin typeface="Segoe UI" pitchFamily="34" charset="0"/>
                <a:ea typeface="Segoe UI" pitchFamily="34" charset="-122"/>
                <a:cs typeface="Segoe UI" pitchFamily="34" charset="-120"/>
              </a:rPr>
              <a:t>03</a:t>
            </a:r>
            <a:endParaRPr lang="en-US" sz="1300" dirty="0"/>
          </a:p>
        </p:txBody>
      </p:sp>
      <p:sp>
        <p:nvSpPr>
          <p:cNvPr id="27" name="Text 24"/>
          <p:cNvSpPr/>
          <p:nvPr/>
        </p:nvSpPr>
        <p:spPr>
          <a:xfrm>
            <a:off x="8421624" y="4206240"/>
            <a:ext cx="2834640" cy="365760"/>
          </a:xfrm>
          <a:prstGeom prst="rect">
            <a:avLst/>
          </a:prstGeom>
          <a:noFill/>
          <a:ln/>
        </p:spPr>
        <p:txBody>
          <a:bodyPr wrap="square" rtlCol="0" anchor="ctr"/>
          <a:lstStyle/>
          <a:p>
            <a:pPr marL="0" indent="0">
              <a:buNone/>
            </a:pPr>
            <a:r>
              <a:rPr lang="en-US" sz="1800" b="1" dirty="0">
                <a:solidFill>
                  <a:srgbClr val="1A365D"/>
                </a:solidFill>
                <a:latin typeface="Segoe UI" pitchFamily="34" charset="0"/>
                <a:ea typeface="Segoe UI" pitchFamily="34" charset="-122"/>
                <a:cs typeface="Segoe UI" pitchFamily="34" charset="-120"/>
              </a:rPr>
              <a:t>Calidad</a:t>
            </a:r>
            <a:endParaRPr lang="en-US" sz="1800" dirty="0"/>
          </a:p>
        </p:txBody>
      </p:sp>
      <p:sp>
        <p:nvSpPr>
          <p:cNvPr id="28" name="Text 25"/>
          <p:cNvSpPr/>
          <p:nvPr/>
        </p:nvSpPr>
        <p:spPr>
          <a:xfrm>
            <a:off x="8421624" y="4617720"/>
            <a:ext cx="2834640" cy="1097280"/>
          </a:xfrm>
          <a:prstGeom prst="rect">
            <a:avLst/>
          </a:prstGeom>
          <a:noFill/>
          <a:ln/>
        </p:spPr>
        <p:txBody>
          <a:bodyPr wrap="square" rtlCol="0" anchor="ctr"/>
          <a:lstStyle/>
          <a:p>
            <a:pPr marL="0" indent="0">
              <a:lnSpc>
                <a:spcPct val="115000"/>
              </a:lnSpc>
              <a:buNone/>
            </a:pPr>
            <a:r>
              <a:rPr lang="en-US" sz="1150" dirty="0">
                <a:solidFill>
                  <a:srgbClr val="47566B"/>
                </a:solidFill>
                <a:latin typeface="Segoe UI" pitchFamily="34" charset="0"/>
                <a:ea typeface="Segoe UI" pitchFamily="34" charset="-122"/>
                <a:cs typeface="Segoe UI" pitchFamily="34" charset="-120"/>
              </a:rPr>
              <a:t>Construir la batería de pruebas que hoy no existe y automatizar el despliegue.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ETAPAS METODOLÓGICAS DE INGENIERÍA</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Objetivos específicos</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5 / 16</a:t>
            </a:r>
            <a:endParaRPr lang="en-US" sz="900" dirty="0"/>
          </a:p>
        </p:txBody>
      </p:sp>
      <p:sp>
        <p:nvSpPr>
          <p:cNvPr id="11" name="Shape 8"/>
          <p:cNvSpPr/>
          <p:nvPr/>
        </p:nvSpPr>
        <p:spPr>
          <a:xfrm>
            <a:off x="658368" y="1572768"/>
            <a:ext cx="5257800" cy="1024128"/>
          </a:xfrm>
          <a:prstGeom prst="roundRect">
            <a:avLst>
              <a:gd name="adj" fmla="val 5357"/>
            </a:avLst>
          </a:prstGeom>
          <a:solidFill>
            <a:srgbClr val="FFFFFF"/>
          </a:solidFill>
          <a:ln w="12700">
            <a:solidFill>
              <a:srgbClr val="DCE4EE"/>
            </a:solidFill>
            <a:prstDash val="solid"/>
          </a:ln>
        </p:spPr>
      </p:sp>
      <p:sp>
        <p:nvSpPr>
          <p:cNvPr id="12" name="Shape 9"/>
          <p:cNvSpPr/>
          <p:nvPr/>
        </p:nvSpPr>
        <p:spPr>
          <a:xfrm>
            <a:off x="658368" y="1572768"/>
            <a:ext cx="50292" cy="1024128"/>
          </a:xfrm>
          <a:prstGeom prst="rect">
            <a:avLst/>
          </a:prstGeom>
          <a:solidFill>
            <a:srgbClr val="F5B041"/>
          </a:solidFill>
          <a:ln/>
        </p:spPr>
      </p:sp>
      <p:sp>
        <p:nvSpPr>
          <p:cNvPr id="13" name="Text 10"/>
          <p:cNvSpPr/>
          <p:nvPr/>
        </p:nvSpPr>
        <p:spPr>
          <a:xfrm>
            <a:off x="914400" y="1700784"/>
            <a:ext cx="548640" cy="320040"/>
          </a:xfrm>
          <a:prstGeom prst="rect">
            <a:avLst/>
          </a:prstGeom>
          <a:noFill/>
          <a:ln/>
        </p:spPr>
        <p:txBody>
          <a:bodyPr wrap="square" rtlCol="0" anchor="ctr"/>
          <a:lstStyle/>
          <a:p>
            <a:pPr marL="0" indent="0">
              <a:buNone/>
            </a:pPr>
            <a:r>
              <a:rPr lang="en-US" sz="1500" b="1" dirty="0">
                <a:solidFill>
                  <a:srgbClr val="F5B041"/>
                </a:solidFill>
                <a:latin typeface="Segoe UI" pitchFamily="34" charset="0"/>
                <a:ea typeface="Segoe UI" pitchFamily="34" charset="-122"/>
                <a:cs typeface="Segoe UI" pitchFamily="34" charset="-120"/>
              </a:rPr>
              <a:t>01</a:t>
            </a:r>
            <a:endParaRPr lang="en-US" sz="1500" dirty="0"/>
          </a:p>
        </p:txBody>
      </p:sp>
      <p:sp>
        <p:nvSpPr>
          <p:cNvPr id="14" name="Text 11"/>
          <p:cNvSpPr/>
          <p:nvPr/>
        </p:nvSpPr>
        <p:spPr>
          <a:xfrm>
            <a:off x="1527048" y="1691640"/>
            <a:ext cx="4206240" cy="301752"/>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Migrar la persistencia</a:t>
            </a:r>
            <a:endParaRPr lang="en-US" sz="1350" dirty="0"/>
          </a:p>
        </p:txBody>
      </p:sp>
      <p:sp>
        <p:nvSpPr>
          <p:cNvPr id="15" name="Text 12"/>
          <p:cNvSpPr/>
          <p:nvPr/>
        </p:nvSpPr>
        <p:spPr>
          <a:xfrm>
            <a:off x="1527048" y="2002536"/>
            <a:ext cx="4206240" cy="502920"/>
          </a:xfrm>
          <a:prstGeom prst="rect">
            <a:avLst/>
          </a:prstGeom>
          <a:noFill/>
          <a:ln/>
        </p:spPr>
        <p:txBody>
          <a:bodyPr wrap="square" rtlCol="0" anchor="ctr"/>
          <a:lstStyle/>
          <a:p>
            <a:pPr marL="0" indent="0">
              <a:lnSpc>
                <a:spcPct val="110000"/>
              </a:lnSpc>
              <a:buNone/>
            </a:pPr>
            <a:r>
              <a:rPr lang="en-US" sz="1050" dirty="0">
                <a:solidFill>
                  <a:srgbClr val="47566B"/>
                </a:solidFill>
                <a:latin typeface="Segoe UI" pitchFamily="34" charset="0"/>
                <a:ea typeface="Segoe UI" pitchFamily="34" charset="-122"/>
                <a:cs typeface="Segoe UI" pitchFamily="34" charset="-120"/>
              </a:rPr>
              <a:t>Del archivo local a Cloud Firestore, con índices compuestos y reglas de acceso.</a:t>
            </a:r>
            <a:endParaRPr lang="en-US" sz="1050" dirty="0"/>
          </a:p>
        </p:txBody>
      </p:sp>
      <p:sp>
        <p:nvSpPr>
          <p:cNvPr id="16" name="Shape 13"/>
          <p:cNvSpPr/>
          <p:nvPr/>
        </p:nvSpPr>
        <p:spPr>
          <a:xfrm>
            <a:off x="6281928" y="1572768"/>
            <a:ext cx="5257800" cy="1024128"/>
          </a:xfrm>
          <a:prstGeom prst="roundRect">
            <a:avLst>
              <a:gd name="adj" fmla="val 5357"/>
            </a:avLst>
          </a:prstGeom>
          <a:solidFill>
            <a:srgbClr val="FFFFFF"/>
          </a:solidFill>
          <a:ln w="12700">
            <a:solidFill>
              <a:srgbClr val="DCE4EE"/>
            </a:solidFill>
            <a:prstDash val="solid"/>
          </a:ln>
        </p:spPr>
      </p:sp>
      <p:sp>
        <p:nvSpPr>
          <p:cNvPr id="17" name="Shape 14"/>
          <p:cNvSpPr/>
          <p:nvPr/>
        </p:nvSpPr>
        <p:spPr>
          <a:xfrm>
            <a:off x="6281928" y="1572768"/>
            <a:ext cx="50292" cy="1024128"/>
          </a:xfrm>
          <a:prstGeom prst="rect">
            <a:avLst/>
          </a:prstGeom>
          <a:solidFill>
            <a:srgbClr val="F5B041"/>
          </a:solidFill>
          <a:ln/>
        </p:spPr>
      </p:sp>
      <p:sp>
        <p:nvSpPr>
          <p:cNvPr id="18" name="Text 15"/>
          <p:cNvSpPr/>
          <p:nvPr/>
        </p:nvSpPr>
        <p:spPr>
          <a:xfrm>
            <a:off x="6537960" y="1700784"/>
            <a:ext cx="548640" cy="320040"/>
          </a:xfrm>
          <a:prstGeom prst="rect">
            <a:avLst/>
          </a:prstGeom>
          <a:noFill/>
          <a:ln/>
        </p:spPr>
        <p:txBody>
          <a:bodyPr wrap="square" rtlCol="0" anchor="ctr"/>
          <a:lstStyle/>
          <a:p>
            <a:pPr marL="0" indent="0">
              <a:buNone/>
            </a:pPr>
            <a:r>
              <a:rPr lang="en-US" sz="1500" b="1" dirty="0">
                <a:solidFill>
                  <a:srgbClr val="F5B041"/>
                </a:solidFill>
                <a:latin typeface="Segoe UI" pitchFamily="34" charset="0"/>
                <a:ea typeface="Segoe UI" pitchFamily="34" charset="-122"/>
                <a:cs typeface="Segoe UI" pitchFamily="34" charset="-120"/>
              </a:rPr>
              <a:t>02</a:t>
            </a:r>
            <a:endParaRPr lang="en-US" sz="1500" dirty="0"/>
          </a:p>
        </p:txBody>
      </p:sp>
      <p:sp>
        <p:nvSpPr>
          <p:cNvPr id="19" name="Text 16"/>
          <p:cNvSpPr/>
          <p:nvPr/>
        </p:nvSpPr>
        <p:spPr>
          <a:xfrm>
            <a:off x="7150608" y="1691640"/>
            <a:ext cx="4206240" cy="301752"/>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Corregir vulnerabilidades</a:t>
            </a:r>
            <a:endParaRPr lang="en-US" sz="1350" dirty="0"/>
          </a:p>
        </p:txBody>
      </p:sp>
      <p:sp>
        <p:nvSpPr>
          <p:cNvPr id="20" name="Text 17"/>
          <p:cNvSpPr/>
          <p:nvPr/>
        </p:nvSpPr>
        <p:spPr>
          <a:xfrm>
            <a:off x="7150608" y="2002536"/>
            <a:ext cx="4206240" cy="502920"/>
          </a:xfrm>
          <a:prstGeom prst="rect">
            <a:avLst/>
          </a:prstGeom>
          <a:noFill/>
          <a:ln/>
        </p:spPr>
        <p:txBody>
          <a:bodyPr wrap="square" rtlCol="0" anchor="ctr"/>
          <a:lstStyle/>
          <a:p>
            <a:pPr marL="0" indent="0">
              <a:lnSpc>
                <a:spcPct val="110000"/>
              </a:lnSpc>
              <a:buNone/>
            </a:pPr>
            <a:r>
              <a:rPr lang="en-US" sz="1050" dirty="0">
                <a:solidFill>
                  <a:srgbClr val="47566B"/>
                </a:solidFill>
                <a:latin typeface="Segoe UI" pitchFamily="34" charset="0"/>
                <a:ea typeface="Segoe UI" pitchFamily="34" charset="-122"/>
                <a:cs typeface="Segoe UI" pitchFamily="34" charset="-120"/>
              </a:rPr>
              <a:t>Las seis identificadas, priorizando acceso social y cambio de plan.</a:t>
            </a:r>
            <a:endParaRPr lang="en-US" sz="1050" dirty="0"/>
          </a:p>
        </p:txBody>
      </p:sp>
      <p:sp>
        <p:nvSpPr>
          <p:cNvPr id="21" name="Shape 18"/>
          <p:cNvSpPr/>
          <p:nvPr/>
        </p:nvSpPr>
        <p:spPr>
          <a:xfrm>
            <a:off x="658368" y="2724912"/>
            <a:ext cx="5257800" cy="1024128"/>
          </a:xfrm>
          <a:prstGeom prst="roundRect">
            <a:avLst>
              <a:gd name="adj" fmla="val 5357"/>
            </a:avLst>
          </a:prstGeom>
          <a:solidFill>
            <a:srgbClr val="FFFFFF"/>
          </a:solidFill>
          <a:ln w="12700">
            <a:solidFill>
              <a:srgbClr val="DCE4EE"/>
            </a:solidFill>
            <a:prstDash val="solid"/>
          </a:ln>
        </p:spPr>
      </p:sp>
      <p:sp>
        <p:nvSpPr>
          <p:cNvPr id="22" name="Shape 19"/>
          <p:cNvSpPr/>
          <p:nvPr/>
        </p:nvSpPr>
        <p:spPr>
          <a:xfrm>
            <a:off x="658368" y="2724912"/>
            <a:ext cx="50292" cy="1024128"/>
          </a:xfrm>
          <a:prstGeom prst="rect">
            <a:avLst/>
          </a:prstGeom>
          <a:solidFill>
            <a:srgbClr val="DCE4EE"/>
          </a:solidFill>
          <a:ln/>
        </p:spPr>
      </p:sp>
      <p:sp>
        <p:nvSpPr>
          <p:cNvPr id="23" name="Text 20"/>
          <p:cNvSpPr/>
          <p:nvPr/>
        </p:nvSpPr>
        <p:spPr>
          <a:xfrm>
            <a:off x="914400" y="2852928"/>
            <a:ext cx="548640" cy="320040"/>
          </a:xfrm>
          <a:prstGeom prst="rect">
            <a:avLst/>
          </a:prstGeom>
          <a:noFill/>
          <a:ln/>
        </p:spPr>
        <p:txBody>
          <a:bodyPr wrap="square" rtlCol="0" anchor="ctr"/>
          <a:lstStyle/>
          <a:p>
            <a:pPr marL="0" indent="0">
              <a:buNone/>
            </a:pPr>
            <a:r>
              <a:rPr lang="en-US" sz="1500" b="1" dirty="0">
                <a:solidFill>
                  <a:srgbClr val="F5B041"/>
                </a:solidFill>
                <a:latin typeface="Segoe UI" pitchFamily="34" charset="0"/>
                <a:ea typeface="Segoe UI" pitchFamily="34" charset="-122"/>
                <a:cs typeface="Segoe UI" pitchFamily="34" charset="-120"/>
              </a:rPr>
              <a:t>03</a:t>
            </a:r>
            <a:endParaRPr lang="en-US" sz="1500" dirty="0"/>
          </a:p>
        </p:txBody>
      </p:sp>
      <p:sp>
        <p:nvSpPr>
          <p:cNvPr id="24" name="Text 21"/>
          <p:cNvSpPr/>
          <p:nvPr/>
        </p:nvSpPr>
        <p:spPr>
          <a:xfrm>
            <a:off x="1527048" y="2843784"/>
            <a:ext cx="4206240" cy="301752"/>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Desplegar el servicio</a:t>
            </a:r>
            <a:endParaRPr lang="en-US" sz="1350" dirty="0"/>
          </a:p>
        </p:txBody>
      </p:sp>
      <p:sp>
        <p:nvSpPr>
          <p:cNvPr id="25" name="Text 22"/>
          <p:cNvSpPr/>
          <p:nvPr/>
        </p:nvSpPr>
        <p:spPr>
          <a:xfrm>
            <a:off x="1527048" y="3154680"/>
            <a:ext cx="4206240" cy="502920"/>
          </a:xfrm>
          <a:prstGeom prst="rect">
            <a:avLst/>
          </a:prstGeom>
          <a:noFill/>
          <a:ln/>
        </p:spPr>
        <p:txBody>
          <a:bodyPr wrap="square" rtlCol="0" anchor="ctr"/>
          <a:lstStyle/>
          <a:p>
            <a:pPr marL="0" indent="0">
              <a:lnSpc>
                <a:spcPct val="110000"/>
              </a:lnSpc>
              <a:buNone/>
            </a:pPr>
            <a:r>
              <a:rPr lang="en-US" sz="1050" dirty="0">
                <a:solidFill>
                  <a:srgbClr val="47566B"/>
                </a:solidFill>
                <a:latin typeface="Segoe UI" pitchFamily="34" charset="0"/>
                <a:ea typeface="Segoe UI" pitchFamily="34" charset="-122"/>
                <a:cs typeface="Segoe UI" pitchFamily="34" charset="-120"/>
              </a:rPr>
              <a:t>Publicación continua durante el desarrollo y contenedores como entrega final.</a:t>
            </a:r>
            <a:endParaRPr lang="en-US" sz="1050" dirty="0"/>
          </a:p>
        </p:txBody>
      </p:sp>
      <p:sp>
        <p:nvSpPr>
          <p:cNvPr id="26" name="Shape 23"/>
          <p:cNvSpPr/>
          <p:nvPr/>
        </p:nvSpPr>
        <p:spPr>
          <a:xfrm>
            <a:off x="6281928" y="2724912"/>
            <a:ext cx="5257800" cy="1024128"/>
          </a:xfrm>
          <a:prstGeom prst="roundRect">
            <a:avLst>
              <a:gd name="adj" fmla="val 5357"/>
            </a:avLst>
          </a:prstGeom>
          <a:solidFill>
            <a:srgbClr val="FFFFFF"/>
          </a:solidFill>
          <a:ln w="12700">
            <a:solidFill>
              <a:srgbClr val="DCE4EE"/>
            </a:solidFill>
            <a:prstDash val="solid"/>
          </a:ln>
        </p:spPr>
      </p:sp>
      <p:sp>
        <p:nvSpPr>
          <p:cNvPr id="27" name="Shape 24"/>
          <p:cNvSpPr/>
          <p:nvPr/>
        </p:nvSpPr>
        <p:spPr>
          <a:xfrm>
            <a:off x="6281928" y="2724912"/>
            <a:ext cx="50292" cy="1024128"/>
          </a:xfrm>
          <a:prstGeom prst="rect">
            <a:avLst/>
          </a:prstGeom>
          <a:solidFill>
            <a:srgbClr val="DCE4EE"/>
          </a:solidFill>
          <a:ln/>
        </p:spPr>
      </p:sp>
      <p:sp>
        <p:nvSpPr>
          <p:cNvPr id="28" name="Text 25"/>
          <p:cNvSpPr/>
          <p:nvPr/>
        </p:nvSpPr>
        <p:spPr>
          <a:xfrm>
            <a:off x="6537960" y="2852928"/>
            <a:ext cx="548640" cy="320040"/>
          </a:xfrm>
          <a:prstGeom prst="rect">
            <a:avLst/>
          </a:prstGeom>
          <a:noFill/>
          <a:ln/>
        </p:spPr>
        <p:txBody>
          <a:bodyPr wrap="square" rtlCol="0" anchor="ctr"/>
          <a:lstStyle/>
          <a:p>
            <a:pPr marL="0" indent="0">
              <a:buNone/>
            </a:pPr>
            <a:r>
              <a:rPr lang="en-US" sz="1500" b="1" dirty="0">
                <a:solidFill>
                  <a:srgbClr val="F5B041"/>
                </a:solidFill>
                <a:latin typeface="Segoe UI" pitchFamily="34" charset="0"/>
                <a:ea typeface="Segoe UI" pitchFamily="34" charset="-122"/>
                <a:cs typeface="Segoe UI" pitchFamily="34" charset="-120"/>
              </a:rPr>
              <a:t>04</a:t>
            </a:r>
            <a:endParaRPr lang="en-US" sz="1500" dirty="0"/>
          </a:p>
        </p:txBody>
      </p:sp>
      <p:sp>
        <p:nvSpPr>
          <p:cNvPr id="29" name="Text 26"/>
          <p:cNvSpPr/>
          <p:nvPr/>
        </p:nvSpPr>
        <p:spPr>
          <a:xfrm>
            <a:off x="7150608" y="2843784"/>
            <a:ext cx="4206240" cy="301752"/>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Construir pruebas</a:t>
            </a:r>
            <a:endParaRPr lang="en-US" sz="1350" dirty="0"/>
          </a:p>
        </p:txBody>
      </p:sp>
      <p:sp>
        <p:nvSpPr>
          <p:cNvPr id="30" name="Text 27"/>
          <p:cNvSpPr/>
          <p:nvPr/>
        </p:nvSpPr>
        <p:spPr>
          <a:xfrm>
            <a:off x="7150608" y="3154680"/>
            <a:ext cx="4206240" cy="502920"/>
          </a:xfrm>
          <a:prstGeom prst="rect">
            <a:avLst/>
          </a:prstGeom>
          <a:noFill/>
          <a:ln/>
        </p:spPr>
        <p:txBody>
          <a:bodyPr wrap="square" rtlCol="0" anchor="ctr"/>
          <a:lstStyle/>
          <a:p>
            <a:pPr marL="0" indent="0">
              <a:lnSpc>
                <a:spcPct val="110000"/>
              </a:lnSpc>
              <a:buNone/>
            </a:pPr>
            <a:r>
              <a:rPr lang="en-US" sz="1050" dirty="0">
                <a:solidFill>
                  <a:srgbClr val="47566B"/>
                </a:solidFill>
                <a:latin typeface="Segoe UI" pitchFamily="34" charset="0"/>
                <a:ea typeface="Segoe UI" pitchFamily="34" charset="-122"/>
                <a:cs typeface="Segoe UI" pitchFamily="34" charset="-120"/>
              </a:rPr>
              <a:t>Sobre autenticación, autorización, cuota diaria y gamificación.</a:t>
            </a:r>
            <a:endParaRPr lang="en-US" sz="1050" dirty="0"/>
          </a:p>
        </p:txBody>
      </p:sp>
      <p:sp>
        <p:nvSpPr>
          <p:cNvPr id="31" name="Shape 28"/>
          <p:cNvSpPr/>
          <p:nvPr/>
        </p:nvSpPr>
        <p:spPr>
          <a:xfrm>
            <a:off x="658368" y="3877056"/>
            <a:ext cx="5257800" cy="1024128"/>
          </a:xfrm>
          <a:prstGeom prst="roundRect">
            <a:avLst>
              <a:gd name="adj" fmla="val 5357"/>
            </a:avLst>
          </a:prstGeom>
          <a:solidFill>
            <a:srgbClr val="FFFFFF"/>
          </a:solidFill>
          <a:ln w="12700">
            <a:solidFill>
              <a:srgbClr val="DCE4EE"/>
            </a:solidFill>
            <a:prstDash val="solid"/>
          </a:ln>
        </p:spPr>
      </p:sp>
      <p:sp>
        <p:nvSpPr>
          <p:cNvPr id="32" name="Shape 29"/>
          <p:cNvSpPr/>
          <p:nvPr/>
        </p:nvSpPr>
        <p:spPr>
          <a:xfrm>
            <a:off x="658368" y="3877056"/>
            <a:ext cx="50292" cy="1024128"/>
          </a:xfrm>
          <a:prstGeom prst="rect">
            <a:avLst/>
          </a:prstGeom>
          <a:solidFill>
            <a:srgbClr val="DCE4EE"/>
          </a:solidFill>
          <a:ln/>
        </p:spPr>
      </p:sp>
      <p:sp>
        <p:nvSpPr>
          <p:cNvPr id="33" name="Text 30"/>
          <p:cNvSpPr/>
          <p:nvPr/>
        </p:nvSpPr>
        <p:spPr>
          <a:xfrm>
            <a:off x="914400" y="4005072"/>
            <a:ext cx="548640" cy="320040"/>
          </a:xfrm>
          <a:prstGeom prst="rect">
            <a:avLst/>
          </a:prstGeom>
          <a:noFill/>
          <a:ln/>
        </p:spPr>
        <p:txBody>
          <a:bodyPr wrap="square" rtlCol="0" anchor="ctr"/>
          <a:lstStyle/>
          <a:p>
            <a:pPr marL="0" indent="0">
              <a:buNone/>
            </a:pPr>
            <a:r>
              <a:rPr lang="en-US" sz="1500" b="1" dirty="0">
                <a:solidFill>
                  <a:srgbClr val="F5B041"/>
                </a:solidFill>
                <a:latin typeface="Segoe UI" pitchFamily="34" charset="0"/>
                <a:ea typeface="Segoe UI" pitchFamily="34" charset="-122"/>
                <a:cs typeface="Segoe UI" pitchFamily="34" charset="-120"/>
              </a:rPr>
              <a:t>05</a:t>
            </a:r>
            <a:endParaRPr lang="en-US" sz="1500" dirty="0"/>
          </a:p>
        </p:txBody>
      </p:sp>
      <p:sp>
        <p:nvSpPr>
          <p:cNvPr id="34" name="Text 31"/>
          <p:cNvSpPr/>
          <p:nvPr/>
        </p:nvSpPr>
        <p:spPr>
          <a:xfrm>
            <a:off x="1527048" y="3995928"/>
            <a:ext cx="4206240" cy="301752"/>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Completar flujos</a:t>
            </a:r>
            <a:endParaRPr lang="en-US" sz="1350" dirty="0"/>
          </a:p>
        </p:txBody>
      </p:sp>
      <p:sp>
        <p:nvSpPr>
          <p:cNvPr id="35" name="Text 32"/>
          <p:cNvSpPr/>
          <p:nvPr/>
        </p:nvSpPr>
        <p:spPr>
          <a:xfrm>
            <a:off x="1527048" y="4306824"/>
            <a:ext cx="4206240" cy="502920"/>
          </a:xfrm>
          <a:prstGeom prst="rect">
            <a:avLst/>
          </a:prstGeom>
          <a:noFill/>
          <a:ln/>
        </p:spPr>
        <p:txBody>
          <a:bodyPr wrap="square" rtlCol="0" anchor="ctr"/>
          <a:lstStyle/>
          <a:p>
            <a:pPr marL="0" indent="0">
              <a:lnSpc>
                <a:spcPct val="110000"/>
              </a:lnSpc>
              <a:buNone/>
            </a:pPr>
            <a:r>
              <a:rPr lang="en-US" sz="1050" dirty="0">
                <a:solidFill>
                  <a:srgbClr val="47566B"/>
                </a:solidFill>
                <a:latin typeface="Segoe UI" pitchFamily="34" charset="0"/>
                <a:ea typeface="Segoe UI" pitchFamily="34" charset="-122"/>
                <a:cs typeface="Segoe UI" pitchFamily="34" charset="-120"/>
              </a:rPr>
              <a:t>Cerrar la resolución de recorrección de preguntas.</a:t>
            </a:r>
            <a:endParaRPr lang="en-US" sz="1050" dirty="0"/>
          </a:p>
        </p:txBody>
      </p:sp>
      <p:sp>
        <p:nvSpPr>
          <p:cNvPr id="36" name="Shape 33"/>
          <p:cNvSpPr/>
          <p:nvPr/>
        </p:nvSpPr>
        <p:spPr>
          <a:xfrm>
            <a:off x="6281928" y="3877056"/>
            <a:ext cx="5257800" cy="1024128"/>
          </a:xfrm>
          <a:prstGeom prst="roundRect">
            <a:avLst>
              <a:gd name="adj" fmla="val 5357"/>
            </a:avLst>
          </a:prstGeom>
          <a:solidFill>
            <a:srgbClr val="FFFFFF"/>
          </a:solidFill>
          <a:ln w="12700">
            <a:solidFill>
              <a:srgbClr val="DCE4EE"/>
            </a:solidFill>
            <a:prstDash val="solid"/>
          </a:ln>
        </p:spPr>
      </p:sp>
      <p:sp>
        <p:nvSpPr>
          <p:cNvPr id="37" name="Shape 34"/>
          <p:cNvSpPr/>
          <p:nvPr/>
        </p:nvSpPr>
        <p:spPr>
          <a:xfrm>
            <a:off x="6281928" y="3877056"/>
            <a:ext cx="50292" cy="1024128"/>
          </a:xfrm>
          <a:prstGeom prst="rect">
            <a:avLst/>
          </a:prstGeom>
          <a:solidFill>
            <a:srgbClr val="DCE4EE"/>
          </a:solidFill>
          <a:ln/>
        </p:spPr>
      </p:sp>
      <p:sp>
        <p:nvSpPr>
          <p:cNvPr id="38" name="Text 35"/>
          <p:cNvSpPr/>
          <p:nvPr/>
        </p:nvSpPr>
        <p:spPr>
          <a:xfrm>
            <a:off x="6537960" y="4005072"/>
            <a:ext cx="548640" cy="320040"/>
          </a:xfrm>
          <a:prstGeom prst="rect">
            <a:avLst/>
          </a:prstGeom>
          <a:noFill/>
          <a:ln/>
        </p:spPr>
        <p:txBody>
          <a:bodyPr wrap="square" rtlCol="0" anchor="ctr"/>
          <a:lstStyle/>
          <a:p>
            <a:pPr marL="0" indent="0">
              <a:buNone/>
            </a:pPr>
            <a:r>
              <a:rPr lang="en-US" sz="1500" b="1" dirty="0">
                <a:solidFill>
                  <a:srgbClr val="F5B041"/>
                </a:solidFill>
                <a:latin typeface="Segoe UI" pitchFamily="34" charset="0"/>
                <a:ea typeface="Segoe UI" pitchFamily="34" charset="-122"/>
                <a:cs typeface="Segoe UI" pitchFamily="34" charset="-120"/>
              </a:rPr>
              <a:t>06</a:t>
            </a:r>
            <a:endParaRPr lang="en-US" sz="1500" dirty="0"/>
          </a:p>
        </p:txBody>
      </p:sp>
      <p:sp>
        <p:nvSpPr>
          <p:cNvPr id="39" name="Text 36"/>
          <p:cNvSpPr/>
          <p:nvPr/>
        </p:nvSpPr>
        <p:spPr>
          <a:xfrm>
            <a:off x="7150608" y="3995928"/>
            <a:ext cx="4206240" cy="301752"/>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Documentar el contrato</a:t>
            </a:r>
            <a:endParaRPr lang="en-US" sz="1350" dirty="0"/>
          </a:p>
        </p:txBody>
      </p:sp>
      <p:sp>
        <p:nvSpPr>
          <p:cNvPr id="40" name="Text 37"/>
          <p:cNvSpPr/>
          <p:nvPr/>
        </p:nvSpPr>
        <p:spPr>
          <a:xfrm>
            <a:off x="7150608" y="4306824"/>
            <a:ext cx="4206240" cy="502920"/>
          </a:xfrm>
          <a:prstGeom prst="rect">
            <a:avLst/>
          </a:prstGeom>
          <a:noFill/>
          <a:ln/>
        </p:spPr>
        <p:txBody>
          <a:bodyPr wrap="square" rtlCol="0" anchor="ctr"/>
          <a:lstStyle/>
          <a:p>
            <a:pPr marL="0" indent="0">
              <a:lnSpc>
                <a:spcPct val="110000"/>
              </a:lnSpc>
              <a:buNone/>
            </a:pPr>
            <a:r>
              <a:rPr lang="en-US" sz="1050" dirty="0">
                <a:solidFill>
                  <a:srgbClr val="47566B"/>
                </a:solidFill>
                <a:latin typeface="Segoe UI" pitchFamily="34" charset="0"/>
                <a:ea typeface="Segoe UI" pitchFamily="34" charset="-122"/>
                <a:cs typeface="Segoe UI" pitchFamily="34" charset="-120"/>
              </a:rPr>
              <a:t>Especificación OpenAPI versionada que unifique las fuentes actuales.</a:t>
            </a:r>
            <a:endParaRPr lang="en-US" sz="1050" dirty="0"/>
          </a:p>
        </p:txBody>
      </p:sp>
      <p:sp>
        <p:nvSpPr>
          <p:cNvPr id="41" name="Shape 38"/>
          <p:cNvSpPr/>
          <p:nvPr/>
        </p:nvSpPr>
        <p:spPr>
          <a:xfrm>
            <a:off x="658368" y="5029200"/>
            <a:ext cx="5257800" cy="1024128"/>
          </a:xfrm>
          <a:prstGeom prst="roundRect">
            <a:avLst>
              <a:gd name="adj" fmla="val 5357"/>
            </a:avLst>
          </a:prstGeom>
          <a:solidFill>
            <a:srgbClr val="FFFFFF"/>
          </a:solidFill>
          <a:ln w="12700">
            <a:solidFill>
              <a:srgbClr val="DCE4EE"/>
            </a:solidFill>
            <a:prstDash val="solid"/>
          </a:ln>
        </p:spPr>
      </p:sp>
      <p:sp>
        <p:nvSpPr>
          <p:cNvPr id="42" name="Shape 39"/>
          <p:cNvSpPr/>
          <p:nvPr/>
        </p:nvSpPr>
        <p:spPr>
          <a:xfrm>
            <a:off x="658368" y="5029200"/>
            <a:ext cx="50292" cy="1024128"/>
          </a:xfrm>
          <a:prstGeom prst="rect">
            <a:avLst/>
          </a:prstGeom>
          <a:solidFill>
            <a:srgbClr val="DCE4EE"/>
          </a:solidFill>
          <a:ln/>
        </p:spPr>
      </p:sp>
      <p:sp>
        <p:nvSpPr>
          <p:cNvPr id="43" name="Text 40"/>
          <p:cNvSpPr/>
          <p:nvPr/>
        </p:nvSpPr>
        <p:spPr>
          <a:xfrm>
            <a:off x="914400" y="5157216"/>
            <a:ext cx="548640" cy="320040"/>
          </a:xfrm>
          <a:prstGeom prst="rect">
            <a:avLst/>
          </a:prstGeom>
          <a:noFill/>
          <a:ln/>
        </p:spPr>
        <p:txBody>
          <a:bodyPr wrap="square" rtlCol="0" anchor="ctr"/>
          <a:lstStyle/>
          <a:p>
            <a:pPr marL="0" indent="0">
              <a:buNone/>
            </a:pPr>
            <a:r>
              <a:rPr lang="en-US" sz="1500" b="1" dirty="0">
                <a:solidFill>
                  <a:srgbClr val="F5B041"/>
                </a:solidFill>
                <a:latin typeface="Segoe UI" pitchFamily="34" charset="0"/>
                <a:ea typeface="Segoe UI" pitchFamily="34" charset="-122"/>
                <a:cs typeface="Segoe UI" pitchFamily="34" charset="-120"/>
              </a:rPr>
              <a:t>07</a:t>
            </a:r>
            <a:endParaRPr lang="en-US" sz="1500" dirty="0"/>
          </a:p>
        </p:txBody>
      </p:sp>
      <p:sp>
        <p:nvSpPr>
          <p:cNvPr id="44" name="Text 41"/>
          <p:cNvSpPr/>
          <p:nvPr/>
        </p:nvSpPr>
        <p:spPr>
          <a:xfrm>
            <a:off x="1527048" y="5148072"/>
            <a:ext cx="4206240" cy="301752"/>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Integrar y adecuar los clientes</a:t>
            </a:r>
            <a:endParaRPr lang="en-US" sz="1350" dirty="0"/>
          </a:p>
        </p:txBody>
      </p:sp>
      <p:sp>
        <p:nvSpPr>
          <p:cNvPr id="45" name="Text 42"/>
          <p:cNvSpPr/>
          <p:nvPr/>
        </p:nvSpPr>
        <p:spPr>
          <a:xfrm>
            <a:off x="1527048" y="5458968"/>
            <a:ext cx="4206240" cy="502920"/>
          </a:xfrm>
          <a:prstGeom prst="rect">
            <a:avLst/>
          </a:prstGeom>
          <a:noFill/>
          <a:ln/>
        </p:spPr>
        <p:txBody>
          <a:bodyPr wrap="square" rtlCol="0" anchor="ctr"/>
          <a:lstStyle/>
          <a:p>
            <a:pPr marL="0" indent="0">
              <a:lnSpc>
                <a:spcPct val="110000"/>
              </a:lnSpc>
              <a:buNone/>
            </a:pPr>
            <a:r>
              <a:rPr lang="en-US" sz="1050" dirty="0">
                <a:solidFill>
                  <a:srgbClr val="47566B"/>
                </a:solidFill>
                <a:latin typeface="Segoe UI" pitchFamily="34" charset="0"/>
                <a:ea typeface="Segoe UI" pitchFamily="34" charset="-122"/>
                <a:cs typeface="Segoe UI" pitchFamily="34" charset="-120"/>
              </a:rPr>
              <a:t>Configuración nativa de la app y ajuste al contrato y a la autenticación.</a:t>
            </a:r>
            <a:endParaRPr lang="en-US" sz="1050" dirty="0"/>
          </a:p>
        </p:txBody>
      </p:sp>
      <p:sp>
        <p:nvSpPr>
          <p:cNvPr id="46" name="Text 43"/>
          <p:cNvSpPr/>
          <p:nvPr/>
        </p:nvSpPr>
        <p:spPr>
          <a:xfrm>
            <a:off x="658368" y="6053328"/>
            <a:ext cx="10863072" cy="292608"/>
          </a:xfrm>
          <a:prstGeom prst="rect">
            <a:avLst/>
          </a:prstGeom>
          <a:noFill/>
          <a:ln/>
        </p:spPr>
        <p:txBody>
          <a:bodyPr wrap="square" rtlCol="0" anchor="ctr"/>
          <a:lstStyle/>
          <a:p>
            <a:pPr marL="0" indent="0">
              <a:buNone/>
            </a:pPr>
            <a:r>
              <a:rPr lang="en-US" sz="1100" i="1" dirty="0">
                <a:solidFill>
                  <a:srgbClr val="7A8AA0"/>
                </a:solidFill>
                <a:latin typeface="Segoe UI" pitchFamily="34" charset="0"/>
                <a:ea typeface="Segoe UI" pitchFamily="34" charset="-122"/>
                <a:cs typeface="Segoe UI" pitchFamily="34" charset="-120"/>
              </a:rPr>
              <a:t>Los objetivos específicos son etapas metodológicas de ingeniería, no funcionalidades del producto.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FRONTERAS DEL PROYECTO</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Alcance y delimitaciones</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6 / 16</a:t>
            </a:r>
            <a:endParaRPr lang="en-US" sz="900" dirty="0"/>
          </a:p>
        </p:txBody>
      </p:sp>
      <p:sp>
        <p:nvSpPr>
          <p:cNvPr id="11" name="Text 8"/>
          <p:cNvSpPr/>
          <p:nvPr/>
        </p:nvSpPr>
        <p:spPr>
          <a:xfrm>
            <a:off x="658368" y="1572768"/>
            <a:ext cx="5029200" cy="219456"/>
          </a:xfrm>
          <a:prstGeom prst="rect">
            <a:avLst/>
          </a:prstGeom>
          <a:noFill/>
          <a:ln/>
        </p:spPr>
        <p:txBody>
          <a:bodyPr wrap="square" rtlCol="0" anchor="ctr"/>
          <a:lstStyle/>
          <a:p>
            <a:pPr marL="0" indent="0">
              <a:buNone/>
            </a:pPr>
            <a:r>
              <a:rPr lang="en-US" sz="950" b="1" kern="0" spc="120" dirty="0">
                <a:solidFill>
                  <a:srgbClr val="10B981"/>
                </a:solidFill>
                <a:latin typeface="Segoe UI" pitchFamily="34" charset="0"/>
                <a:ea typeface="Segoe UI" pitchFamily="34" charset="-122"/>
                <a:cs typeface="Segoe UI" pitchFamily="34" charset="-120"/>
              </a:rPr>
              <a:t>DENTRO DEL ALCANCE</a:t>
            </a:r>
            <a:endParaRPr lang="en-US" sz="950" dirty="0"/>
          </a:p>
        </p:txBody>
      </p:sp>
      <p:sp>
        <p:nvSpPr>
          <p:cNvPr id="12" name="Shape 9"/>
          <p:cNvSpPr/>
          <p:nvPr/>
        </p:nvSpPr>
        <p:spPr>
          <a:xfrm>
            <a:off x="658368" y="1847088"/>
            <a:ext cx="5257800" cy="3246120"/>
          </a:xfrm>
          <a:prstGeom prst="roundRect">
            <a:avLst>
              <a:gd name="adj" fmla="val 1690"/>
            </a:avLst>
          </a:prstGeom>
          <a:solidFill>
            <a:srgbClr val="FFFFFF"/>
          </a:solidFill>
          <a:ln w="12700">
            <a:solidFill>
              <a:srgbClr val="DCE4EE"/>
            </a:solidFill>
            <a:prstDash val="solid"/>
          </a:ln>
        </p:spPr>
      </p:sp>
      <p:sp>
        <p:nvSpPr>
          <p:cNvPr id="13" name="Shape 10"/>
          <p:cNvSpPr/>
          <p:nvPr/>
        </p:nvSpPr>
        <p:spPr>
          <a:xfrm>
            <a:off x="658368" y="1847088"/>
            <a:ext cx="50292" cy="3246120"/>
          </a:xfrm>
          <a:prstGeom prst="rect">
            <a:avLst/>
          </a:prstGeom>
          <a:solidFill>
            <a:srgbClr val="10B981"/>
          </a:solidFill>
          <a:ln/>
        </p:spPr>
      </p:sp>
      <p:sp>
        <p:nvSpPr>
          <p:cNvPr id="14" name="Shape 11"/>
          <p:cNvSpPr/>
          <p:nvPr/>
        </p:nvSpPr>
        <p:spPr>
          <a:xfrm>
            <a:off x="987552" y="2194560"/>
            <a:ext cx="128016" cy="128016"/>
          </a:xfrm>
          <a:prstGeom prst="ellipse">
            <a:avLst/>
          </a:prstGeom>
          <a:solidFill>
            <a:srgbClr val="10B981"/>
          </a:solidFill>
          <a:ln/>
        </p:spPr>
      </p:sp>
      <p:sp>
        <p:nvSpPr>
          <p:cNvPr id="15" name="Text 12"/>
          <p:cNvSpPr/>
          <p:nvPr/>
        </p:nvSpPr>
        <p:spPr>
          <a:xfrm>
            <a:off x="1234440" y="2103120"/>
            <a:ext cx="4480560" cy="256032"/>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App móvil del alumno</a:t>
            </a:r>
            <a:endParaRPr lang="en-US" sz="1250" dirty="0"/>
          </a:p>
        </p:txBody>
      </p:sp>
      <p:sp>
        <p:nvSpPr>
          <p:cNvPr id="16" name="Text 13"/>
          <p:cNvSpPr/>
          <p:nvPr/>
        </p:nvSpPr>
        <p:spPr>
          <a:xfrm>
            <a:off x="1234440" y="2359152"/>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Flutter · iOS y Android · frontend y backend</a:t>
            </a:r>
            <a:endParaRPr lang="en-US" sz="1000" dirty="0"/>
          </a:p>
        </p:txBody>
      </p:sp>
      <p:sp>
        <p:nvSpPr>
          <p:cNvPr id="17" name="Shape 14"/>
          <p:cNvSpPr/>
          <p:nvPr/>
        </p:nvSpPr>
        <p:spPr>
          <a:xfrm>
            <a:off x="987552" y="2770632"/>
            <a:ext cx="128016" cy="128016"/>
          </a:xfrm>
          <a:prstGeom prst="ellipse">
            <a:avLst/>
          </a:prstGeom>
          <a:solidFill>
            <a:srgbClr val="10B981"/>
          </a:solidFill>
          <a:ln/>
        </p:spPr>
      </p:sp>
      <p:sp>
        <p:nvSpPr>
          <p:cNvPr id="18" name="Text 15"/>
          <p:cNvSpPr/>
          <p:nvPr/>
        </p:nvSpPr>
        <p:spPr>
          <a:xfrm>
            <a:off x="1234440" y="2679192"/>
            <a:ext cx="4480560" cy="256032"/>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Sitio web del alumno</a:t>
            </a:r>
            <a:endParaRPr lang="en-US" sz="1250" dirty="0"/>
          </a:p>
        </p:txBody>
      </p:sp>
      <p:sp>
        <p:nvSpPr>
          <p:cNvPr id="19" name="Text 16"/>
          <p:cNvSpPr/>
          <p:nvPr/>
        </p:nvSpPr>
        <p:spPr>
          <a:xfrm>
            <a:off x="1234440" y="2935224"/>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React + Vite · frontend y backend</a:t>
            </a:r>
            <a:endParaRPr lang="en-US" sz="1000" dirty="0"/>
          </a:p>
        </p:txBody>
      </p:sp>
      <p:sp>
        <p:nvSpPr>
          <p:cNvPr id="20" name="Shape 17"/>
          <p:cNvSpPr/>
          <p:nvPr/>
        </p:nvSpPr>
        <p:spPr>
          <a:xfrm>
            <a:off x="987552" y="3346704"/>
            <a:ext cx="128016" cy="128016"/>
          </a:xfrm>
          <a:prstGeom prst="ellipse">
            <a:avLst/>
          </a:prstGeom>
          <a:solidFill>
            <a:srgbClr val="10B981"/>
          </a:solidFill>
          <a:ln/>
        </p:spPr>
      </p:sp>
      <p:sp>
        <p:nvSpPr>
          <p:cNvPr id="21" name="Text 18"/>
          <p:cNvSpPr/>
          <p:nvPr/>
        </p:nvSpPr>
        <p:spPr>
          <a:xfrm>
            <a:off x="1234440" y="3255264"/>
            <a:ext cx="4480560" cy="256032"/>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API REST del estudiante</a:t>
            </a:r>
            <a:endParaRPr lang="en-US" sz="1250" dirty="0"/>
          </a:p>
        </p:txBody>
      </p:sp>
      <p:sp>
        <p:nvSpPr>
          <p:cNvPr id="22" name="Text 19"/>
          <p:cNvSpPr/>
          <p:nvPr/>
        </p:nvSpPr>
        <p:spPr>
          <a:xfrm>
            <a:off x="1234440" y="3511296"/>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Node.js + Express · servicio compartido por ambos clientes</a:t>
            </a:r>
            <a:endParaRPr lang="en-US" sz="1000" dirty="0"/>
          </a:p>
        </p:txBody>
      </p:sp>
      <p:sp>
        <p:nvSpPr>
          <p:cNvPr id="23" name="Shape 20"/>
          <p:cNvSpPr/>
          <p:nvPr/>
        </p:nvSpPr>
        <p:spPr>
          <a:xfrm>
            <a:off x="987552" y="3922776"/>
            <a:ext cx="128016" cy="128016"/>
          </a:xfrm>
          <a:prstGeom prst="ellipse">
            <a:avLst/>
          </a:prstGeom>
          <a:solidFill>
            <a:srgbClr val="10B981"/>
          </a:solidFill>
          <a:ln/>
        </p:spPr>
      </p:sp>
      <p:sp>
        <p:nvSpPr>
          <p:cNvPr id="24" name="Text 21"/>
          <p:cNvSpPr/>
          <p:nvPr/>
        </p:nvSpPr>
        <p:spPr>
          <a:xfrm>
            <a:off x="1234440" y="3831336"/>
            <a:ext cx="4480560" cy="256032"/>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Base de datos</a:t>
            </a:r>
            <a:endParaRPr lang="en-US" sz="1250" dirty="0"/>
          </a:p>
        </p:txBody>
      </p:sp>
      <p:sp>
        <p:nvSpPr>
          <p:cNvPr id="25" name="Text 22"/>
          <p:cNvSpPr/>
          <p:nvPr/>
        </p:nvSpPr>
        <p:spPr>
          <a:xfrm>
            <a:off x="1234440" y="4087368"/>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Migración y modelado en Cloud Firestore</a:t>
            </a:r>
            <a:endParaRPr lang="en-US" sz="1000" dirty="0"/>
          </a:p>
        </p:txBody>
      </p:sp>
      <p:sp>
        <p:nvSpPr>
          <p:cNvPr id="26" name="Shape 23"/>
          <p:cNvSpPr/>
          <p:nvPr/>
        </p:nvSpPr>
        <p:spPr>
          <a:xfrm>
            <a:off x="987552" y="4498848"/>
            <a:ext cx="128016" cy="128016"/>
          </a:xfrm>
          <a:prstGeom prst="ellipse">
            <a:avLst/>
          </a:prstGeom>
          <a:solidFill>
            <a:srgbClr val="10B981"/>
          </a:solidFill>
          <a:ln/>
        </p:spPr>
      </p:sp>
      <p:sp>
        <p:nvSpPr>
          <p:cNvPr id="27" name="Text 24"/>
          <p:cNvSpPr/>
          <p:nvPr/>
        </p:nvSpPr>
        <p:spPr>
          <a:xfrm>
            <a:off x="1234440" y="4407408"/>
            <a:ext cx="4480560" cy="256032"/>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Despliegue</a:t>
            </a:r>
            <a:endParaRPr lang="en-US" sz="1250" dirty="0"/>
          </a:p>
        </p:txBody>
      </p:sp>
      <p:sp>
        <p:nvSpPr>
          <p:cNvPr id="28" name="Text 25"/>
          <p:cNvSpPr/>
          <p:nvPr/>
        </p:nvSpPr>
        <p:spPr>
          <a:xfrm>
            <a:off x="1234440" y="4663440"/>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Publicación continua y empaquetado en contenedores</a:t>
            </a:r>
            <a:endParaRPr lang="en-US" sz="1000" dirty="0"/>
          </a:p>
        </p:txBody>
      </p:sp>
      <p:sp>
        <p:nvSpPr>
          <p:cNvPr id="29" name="Text 26"/>
          <p:cNvSpPr/>
          <p:nvPr/>
        </p:nvSpPr>
        <p:spPr>
          <a:xfrm>
            <a:off x="6281928" y="1572768"/>
            <a:ext cx="5029200" cy="219456"/>
          </a:xfrm>
          <a:prstGeom prst="rect">
            <a:avLst/>
          </a:prstGeom>
          <a:noFill/>
          <a:ln/>
        </p:spPr>
        <p:txBody>
          <a:bodyPr wrap="square" rtlCol="0" anchor="ctr"/>
          <a:lstStyle/>
          <a:p>
            <a:pPr marL="0" indent="0">
              <a:buNone/>
            </a:pPr>
            <a:r>
              <a:rPr lang="en-US" sz="950" b="1" kern="0" spc="120" dirty="0">
                <a:solidFill>
                  <a:srgbClr val="7A8AA0"/>
                </a:solidFill>
                <a:latin typeface="Segoe UI" pitchFamily="34" charset="0"/>
                <a:ea typeface="Segoe UI" pitchFamily="34" charset="-122"/>
                <a:cs typeface="Segoe UI" pitchFamily="34" charset="-120"/>
              </a:rPr>
              <a:t>FUERA DEL ALCANCE</a:t>
            </a:r>
            <a:endParaRPr lang="en-US" sz="950" dirty="0"/>
          </a:p>
        </p:txBody>
      </p:sp>
      <p:sp>
        <p:nvSpPr>
          <p:cNvPr id="30" name="Shape 27"/>
          <p:cNvSpPr/>
          <p:nvPr/>
        </p:nvSpPr>
        <p:spPr>
          <a:xfrm>
            <a:off x="6281928" y="1847088"/>
            <a:ext cx="5257800" cy="3246120"/>
          </a:xfrm>
          <a:prstGeom prst="roundRect">
            <a:avLst>
              <a:gd name="adj" fmla="val 1690"/>
            </a:avLst>
          </a:prstGeom>
          <a:solidFill>
            <a:srgbClr val="F1F5FA"/>
          </a:solidFill>
          <a:ln w="12700">
            <a:solidFill>
              <a:srgbClr val="DCE4EE"/>
            </a:solidFill>
            <a:prstDash val="solid"/>
          </a:ln>
        </p:spPr>
      </p:sp>
      <p:sp>
        <p:nvSpPr>
          <p:cNvPr id="31" name="Shape 28"/>
          <p:cNvSpPr/>
          <p:nvPr/>
        </p:nvSpPr>
        <p:spPr>
          <a:xfrm>
            <a:off x="6281928" y="1847088"/>
            <a:ext cx="50292" cy="3246120"/>
          </a:xfrm>
          <a:prstGeom prst="rect">
            <a:avLst/>
          </a:prstGeom>
          <a:solidFill>
            <a:srgbClr val="7A8AA0"/>
          </a:solidFill>
          <a:ln/>
        </p:spPr>
      </p:sp>
      <p:sp>
        <p:nvSpPr>
          <p:cNvPr id="32" name="Text 29"/>
          <p:cNvSpPr/>
          <p:nvPr/>
        </p:nvSpPr>
        <p:spPr>
          <a:xfrm>
            <a:off x="6611112" y="2103120"/>
            <a:ext cx="274320" cy="256032"/>
          </a:xfrm>
          <a:prstGeom prst="rect">
            <a:avLst/>
          </a:prstGeom>
          <a:noFill/>
          <a:ln/>
        </p:spPr>
        <p:txBody>
          <a:bodyPr wrap="square" rtlCol="0" anchor="ctr"/>
          <a:lstStyle/>
          <a:p>
            <a:pPr marL="0" indent="0">
              <a:buNone/>
            </a:pPr>
            <a:r>
              <a:rPr lang="en-US" sz="1200" b="1" dirty="0">
                <a:solidFill>
                  <a:srgbClr val="7A8AA0"/>
                </a:solidFill>
                <a:latin typeface="Segoe UI" pitchFamily="34" charset="0"/>
                <a:ea typeface="Segoe UI" pitchFamily="34" charset="-122"/>
                <a:cs typeface="Segoe UI" pitchFamily="34" charset="-120"/>
              </a:rPr>
              <a:t>—</a:t>
            </a:r>
            <a:endParaRPr lang="en-US" sz="1200" dirty="0"/>
          </a:p>
        </p:txBody>
      </p:sp>
      <p:sp>
        <p:nvSpPr>
          <p:cNvPr id="33" name="Text 30"/>
          <p:cNvSpPr/>
          <p:nvPr/>
        </p:nvSpPr>
        <p:spPr>
          <a:xfrm>
            <a:off x="6858000" y="2103120"/>
            <a:ext cx="4480560" cy="256032"/>
          </a:xfrm>
          <a:prstGeom prst="rect">
            <a:avLst/>
          </a:prstGeom>
          <a:noFill/>
          <a:ln/>
        </p:spPr>
        <p:txBody>
          <a:bodyPr wrap="square" rtlCol="0" anchor="ctr"/>
          <a:lstStyle/>
          <a:p>
            <a:pPr marL="0" indent="0">
              <a:buNone/>
            </a:pPr>
            <a:r>
              <a:rPr lang="en-US" sz="1250" b="1" dirty="0">
                <a:solidFill>
                  <a:srgbClr val="47566B"/>
                </a:solidFill>
                <a:latin typeface="Segoe UI" pitchFamily="34" charset="0"/>
                <a:ea typeface="Segoe UI" pitchFamily="34" charset="-122"/>
                <a:cs typeface="Segoe UI" pitchFamily="34" charset="-120"/>
              </a:rPr>
              <a:t>Consola de administración</a:t>
            </a:r>
            <a:endParaRPr lang="en-US" sz="1250" dirty="0"/>
          </a:p>
        </p:txBody>
      </p:sp>
      <p:sp>
        <p:nvSpPr>
          <p:cNvPr id="34" name="Text 31"/>
          <p:cNvSpPr/>
          <p:nvPr/>
        </p:nvSpPr>
        <p:spPr>
          <a:xfrm>
            <a:off x="6858000" y="2359152"/>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Módulo existente, mantenido por la empresa</a:t>
            </a:r>
            <a:endParaRPr lang="en-US" sz="1000" dirty="0"/>
          </a:p>
        </p:txBody>
      </p:sp>
      <p:sp>
        <p:nvSpPr>
          <p:cNvPr id="35" name="Text 32"/>
          <p:cNvSpPr/>
          <p:nvPr/>
        </p:nvSpPr>
        <p:spPr>
          <a:xfrm>
            <a:off x="6611112" y="2679192"/>
            <a:ext cx="274320" cy="256032"/>
          </a:xfrm>
          <a:prstGeom prst="rect">
            <a:avLst/>
          </a:prstGeom>
          <a:noFill/>
          <a:ln/>
        </p:spPr>
        <p:txBody>
          <a:bodyPr wrap="square" rtlCol="0" anchor="ctr"/>
          <a:lstStyle/>
          <a:p>
            <a:pPr marL="0" indent="0">
              <a:buNone/>
            </a:pPr>
            <a:r>
              <a:rPr lang="en-US" sz="1200" b="1" dirty="0">
                <a:solidFill>
                  <a:srgbClr val="7A8AA0"/>
                </a:solidFill>
                <a:latin typeface="Segoe UI" pitchFamily="34" charset="0"/>
                <a:ea typeface="Segoe UI" pitchFamily="34" charset="-122"/>
                <a:cs typeface="Segoe UI" pitchFamily="34" charset="-120"/>
              </a:rPr>
              <a:t>—</a:t>
            </a:r>
            <a:endParaRPr lang="en-US" sz="1200" dirty="0"/>
          </a:p>
        </p:txBody>
      </p:sp>
      <p:sp>
        <p:nvSpPr>
          <p:cNvPr id="36" name="Text 33"/>
          <p:cNvSpPr/>
          <p:nvPr/>
        </p:nvSpPr>
        <p:spPr>
          <a:xfrm>
            <a:off x="6858000" y="2679192"/>
            <a:ext cx="4480560" cy="256032"/>
          </a:xfrm>
          <a:prstGeom prst="rect">
            <a:avLst/>
          </a:prstGeom>
          <a:noFill/>
          <a:ln/>
        </p:spPr>
        <p:txBody>
          <a:bodyPr wrap="square" rtlCol="0" anchor="ctr"/>
          <a:lstStyle/>
          <a:p>
            <a:pPr marL="0" indent="0">
              <a:buNone/>
            </a:pPr>
            <a:r>
              <a:rPr lang="en-US" sz="1250" b="1" dirty="0">
                <a:solidFill>
                  <a:srgbClr val="47566B"/>
                </a:solidFill>
                <a:latin typeface="Segoe UI" pitchFamily="34" charset="0"/>
                <a:ea typeface="Segoe UI" pitchFamily="34" charset="-122"/>
                <a:cs typeface="Segoe UI" pitchFamily="34" charset="-120"/>
              </a:rPr>
              <a:t>Generador de preguntas con IA</a:t>
            </a:r>
            <a:endParaRPr lang="en-US" sz="1250" dirty="0"/>
          </a:p>
        </p:txBody>
      </p:sp>
      <p:sp>
        <p:nvSpPr>
          <p:cNvPr id="37" name="Text 34"/>
          <p:cNvSpPr/>
          <p:nvPr/>
        </p:nvSpPr>
        <p:spPr>
          <a:xfrm>
            <a:off x="6858000" y="2935224"/>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Módulo independiente con su propio backend</a:t>
            </a:r>
            <a:endParaRPr lang="en-US" sz="1000" dirty="0"/>
          </a:p>
        </p:txBody>
      </p:sp>
      <p:sp>
        <p:nvSpPr>
          <p:cNvPr id="38" name="Text 35"/>
          <p:cNvSpPr/>
          <p:nvPr/>
        </p:nvSpPr>
        <p:spPr>
          <a:xfrm>
            <a:off x="6611112" y="3255264"/>
            <a:ext cx="274320" cy="256032"/>
          </a:xfrm>
          <a:prstGeom prst="rect">
            <a:avLst/>
          </a:prstGeom>
          <a:noFill/>
          <a:ln/>
        </p:spPr>
        <p:txBody>
          <a:bodyPr wrap="square" rtlCol="0" anchor="ctr"/>
          <a:lstStyle/>
          <a:p>
            <a:pPr marL="0" indent="0">
              <a:buNone/>
            </a:pPr>
            <a:r>
              <a:rPr lang="en-US" sz="1200" b="1" dirty="0">
                <a:solidFill>
                  <a:srgbClr val="7A8AA0"/>
                </a:solidFill>
                <a:latin typeface="Segoe UI" pitchFamily="34" charset="0"/>
                <a:ea typeface="Segoe UI" pitchFamily="34" charset="-122"/>
                <a:cs typeface="Segoe UI" pitchFamily="34" charset="-120"/>
              </a:rPr>
              <a:t>—</a:t>
            </a:r>
            <a:endParaRPr lang="en-US" sz="1200" dirty="0"/>
          </a:p>
        </p:txBody>
      </p:sp>
      <p:sp>
        <p:nvSpPr>
          <p:cNvPr id="39" name="Text 36"/>
          <p:cNvSpPr/>
          <p:nvPr/>
        </p:nvSpPr>
        <p:spPr>
          <a:xfrm>
            <a:off x="6858000" y="3255264"/>
            <a:ext cx="4480560" cy="256032"/>
          </a:xfrm>
          <a:prstGeom prst="rect">
            <a:avLst/>
          </a:prstGeom>
          <a:noFill/>
          <a:ln/>
        </p:spPr>
        <p:txBody>
          <a:bodyPr wrap="square" rtlCol="0" anchor="ctr"/>
          <a:lstStyle/>
          <a:p>
            <a:pPr marL="0" indent="0">
              <a:buNone/>
            </a:pPr>
            <a:r>
              <a:rPr lang="en-US" sz="1250" b="1" dirty="0">
                <a:solidFill>
                  <a:srgbClr val="47566B"/>
                </a:solidFill>
                <a:latin typeface="Segoe UI" pitchFamily="34" charset="0"/>
                <a:ea typeface="Segoe UI" pitchFamily="34" charset="-122"/>
                <a:cs typeface="Segoe UI" pitchFamily="34" charset="-120"/>
              </a:rPr>
              <a:t>Panel de revisión</a:t>
            </a:r>
            <a:endParaRPr lang="en-US" sz="1250" dirty="0"/>
          </a:p>
        </p:txBody>
      </p:sp>
      <p:sp>
        <p:nvSpPr>
          <p:cNvPr id="40" name="Text 37"/>
          <p:cNvSpPr/>
          <p:nvPr/>
        </p:nvSpPr>
        <p:spPr>
          <a:xfrm>
            <a:off x="6858000" y="3511296"/>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Especificado por la empresa, sin implementación</a:t>
            </a:r>
            <a:endParaRPr lang="en-US" sz="1000" dirty="0"/>
          </a:p>
        </p:txBody>
      </p:sp>
      <p:sp>
        <p:nvSpPr>
          <p:cNvPr id="41" name="Text 38"/>
          <p:cNvSpPr/>
          <p:nvPr/>
        </p:nvSpPr>
        <p:spPr>
          <a:xfrm>
            <a:off x="6611112" y="3831336"/>
            <a:ext cx="274320" cy="256032"/>
          </a:xfrm>
          <a:prstGeom prst="rect">
            <a:avLst/>
          </a:prstGeom>
          <a:noFill/>
          <a:ln/>
        </p:spPr>
        <p:txBody>
          <a:bodyPr wrap="square" rtlCol="0" anchor="ctr"/>
          <a:lstStyle/>
          <a:p>
            <a:pPr marL="0" indent="0">
              <a:buNone/>
            </a:pPr>
            <a:r>
              <a:rPr lang="en-US" sz="1200" b="1" dirty="0">
                <a:solidFill>
                  <a:srgbClr val="7A8AA0"/>
                </a:solidFill>
                <a:latin typeface="Segoe UI" pitchFamily="34" charset="0"/>
                <a:ea typeface="Segoe UI" pitchFamily="34" charset="-122"/>
                <a:cs typeface="Segoe UI" pitchFamily="34" charset="-120"/>
              </a:rPr>
              <a:t>—</a:t>
            </a:r>
            <a:endParaRPr lang="en-US" sz="1200" dirty="0"/>
          </a:p>
        </p:txBody>
      </p:sp>
      <p:sp>
        <p:nvSpPr>
          <p:cNvPr id="42" name="Text 39"/>
          <p:cNvSpPr/>
          <p:nvPr/>
        </p:nvSpPr>
        <p:spPr>
          <a:xfrm>
            <a:off x="6858000" y="3831336"/>
            <a:ext cx="4480560" cy="256032"/>
          </a:xfrm>
          <a:prstGeom prst="rect">
            <a:avLst/>
          </a:prstGeom>
          <a:noFill/>
          <a:ln/>
        </p:spPr>
        <p:txBody>
          <a:bodyPr wrap="square" rtlCol="0" anchor="ctr"/>
          <a:lstStyle/>
          <a:p>
            <a:pPr marL="0" indent="0">
              <a:buNone/>
            </a:pPr>
            <a:r>
              <a:rPr lang="en-US" sz="1250" b="1" dirty="0">
                <a:solidFill>
                  <a:srgbClr val="47566B"/>
                </a:solidFill>
                <a:latin typeface="Segoe UI" pitchFamily="34" charset="0"/>
                <a:ea typeface="Segoe UI" pitchFamily="34" charset="-122"/>
                <a:cs typeface="Segoe UI" pitchFamily="34" charset="-120"/>
              </a:rPr>
              <a:t>Portal del tutor</a:t>
            </a:r>
            <a:endParaRPr lang="en-US" sz="1250" dirty="0"/>
          </a:p>
        </p:txBody>
      </p:sp>
      <p:sp>
        <p:nvSpPr>
          <p:cNvPr id="43" name="Text 40"/>
          <p:cNvSpPr/>
          <p:nvPr/>
        </p:nvSpPr>
        <p:spPr>
          <a:xfrm>
            <a:off x="6858000" y="4087368"/>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El lado profesor del marketplace</a:t>
            </a:r>
            <a:endParaRPr lang="en-US" sz="1000" dirty="0"/>
          </a:p>
        </p:txBody>
      </p:sp>
      <p:sp>
        <p:nvSpPr>
          <p:cNvPr id="44" name="Text 41"/>
          <p:cNvSpPr/>
          <p:nvPr/>
        </p:nvSpPr>
        <p:spPr>
          <a:xfrm>
            <a:off x="6611112" y="4407408"/>
            <a:ext cx="274320" cy="256032"/>
          </a:xfrm>
          <a:prstGeom prst="rect">
            <a:avLst/>
          </a:prstGeom>
          <a:noFill/>
          <a:ln/>
        </p:spPr>
        <p:txBody>
          <a:bodyPr wrap="square" rtlCol="0" anchor="ctr"/>
          <a:lstStyle/>
          <a:p>
            <a:pPr marL="0" indent="0">
              <a:buNone/>
            </a:pPr>
            <a:r>
              <a:rPr lang="en-US" sz="1200" b="1" dirty="0">
                <a:solidFill>
                  <a:srgbClr val="7A8AA0"/>
                </a:solidFill>
                <a:latin typeface="Segoe UI" pitchFamily="34" charset="0"/>
                <a:ea typeface="Segoe UI" pitchFamily="34" charset="-122"/>
                <a:cs typeface="Segoe UI" pitchFamily="34" charset="-120"/>
              </a:rPr>
              <a:t>—</a:t>
            </a:r>
            <a:endParaRPr lang="en-US" sz="1200" dirty="0"/>
          </a:p>
        </p:txBody>
      </p:sp>
      <p:sp>
        <p:nvSpPr>
          <p:cNvPr id="45" name="Text 42"/>
          <p:cNvSpPr/>
          <p:nvPr/>
        </p:nvSpPr>
        <p:spPr>
          <a:xfrm>
            <a:off x="6858000" y="4407408"/>
            <a:ext cx="4480560" cy="256032"/>
          </a:xfrm>
          <a:prstGeom prst="rect">
            <a:avLst/>
          </a:prstGeom>
          <a:noFill/>
          <a:ln/>
        </p:spPr>
        <p:txBody>
          <a:bodyPr wrap="square" rtlCol="0" anchor="ctr"/>
          <a:lstStyle/>
          <a:p>
            <a:pPr marL="0" indent="0">
              <a:buNone/>
            </a:pPr>
            <a:r>
              <a:rPr lang="en-US" sz="1250" b="1" dirty="0">
                <a:solidFill>
                  <a:srgbClr val="47566B"/>
                </a:solidFill>
                <a:latin typeface="Segoe UI" pitchFamily="34" charset="0"/>
                <a:ea typeface="Segoe UI" pitchFamily="34" charset="-122"/>
                <a:cs typeface="Segoe UI" pitchFamily="34" charset="-120"/>
              </a:rPr>
              <a:t>Pago de clases en la plataforma</a:t>
            </a:r>
            <a:endParaRPr lang="en-US" sz="1250" dirty="0"/>
          </a:p>
        </p:txBody>
      </p:sp>
      <p:sp>
        <p:nvSpPr>
          <p:cNvPr id="46" name="Text 43"/>
          <p:cNvSpPr/>
          <p:nvPr/>
        </p:nvSpPr>
        <p:spPr>
          <a:xfrm>
            <a:off x="6858000" y="4663440"/>
            <a:ext cx="4480560" cy="237744"/>
          </a:xfrm>
          <a:prstGeom prst="rect">
            <a:avLst/>
          </a:prstGeom>
          <a:noFill/>
          <a:ln/>
        </p:spPr>
        <p:txBody>
          <a:bodyPr wrap="square" rtlCol="0" anchor="ctr"/>
          <a:lstStyle/>
          <a:p>
            <a:pPr marL="0" indent="0">
              <a:buNone/>
            </a:pPr>
            <a:r>
              <a:rPr lang="en-US" sz="1000" dirty="0">
                <a:solidFill>
                  <a:srgbClr val="7A8AA0"/>
                </a:solidFill>
                <a:latin typeface="Segoe UI" pitchFamily="34" charset="0"/>
                <a:ea typeface="Segoe UI" pitchFamily="34" charset="-122"/>
                <a:cs typeface="Segoe UI" pitchFamily="34" charset="-120"/>
              </a:rPr>
              <a:t>Declarado como funcionalidad futura</a:t>
            </a:r>
            <a:endParaRPr lang="en-US" sz="1000" dirty="0"/>
          </a:p>
        </p:txBody>
      </p:sp>
      <p:sp>
        <p:nvSpPr>
          <p:cNvPr id="47" name="Shape 44"/>
          <p:cNvSpPr/>
          <p:nvPr/>
        </p:nvSpPr>
        <p:spPr>
          <a:xfrm>
            <a:off x="658368" y="5285232"/>
            <a:ext cx="10863072" cy="713232"/>
          </a:xfrm>
          <a:prstGeom prst="roundRect">
            <a:avLst>
              <a:gd name="adj" fmla="val 7692"/>
            </a:avLst>
          </a:prstGeom>
          <a:solidFill>
            <a:srgbClr val="FFFFFF"/>
          </a:solidFill>
          <a:ln w="12700">
            <a:solidFill>
              <a:srgbClr val="DCE4EE"/>
            </a:solidFill>
            <a:prstDash val="solid"/>
          </a:ln>
        </p:spPr>
      </p:sp>
      <p:sp>
        <p:nvSpPr>
          <p:cNvPr id="48" name="Text 45"/>
          <p:cNvSpPr/>
          <p:nvPr/>
        </p:nvSpPr>
        <p:spPr>
          <a:xfrm>
            <a:off x="960120" y="5413248"/>
            <a:ext cx="10332720" cy="457200"/>
          </a:xfrm>
          <a:prstGeom prst="rect">
            <a:avLst/>
          </a:prstGeom>
          <a:noFill/>
          <a:ln/>
        </p:spPr>
        <p:txBody>
          <a:bodyPr wrap="square" rtlCol="0" anchor="ctr"/>
          <a:lstStyle/>
          <a:p>
            <a:pPr marL="0" indent="0">
              <a:buNone/>
            </a:pPr>
            <a:r>
              <a:rPr lang="en-US" sz="1200" b="1" dirty="0">
                <a:solidFill>
                  <a:srgbClr val="1A365D"/>
                </a:solidFill>
                <a:latin typeface="Segoe UI" pitchFamily="34" charset="0"/>
                <a:ea typeface="Segoe UI" pitchFamily="34" charset="-122"/>
                <a:cs typeface="Segoe UI" pitchFamily="34" charset="-120"/>
              </a:rPr>
              <a:t>Criterio de recorte.  </a:t>
            </a:r>
            <a:r>
              <a:rPr lang="en-US" sz="1200" dirty="0">
                <a:solidFill>
                  <a:srgbClr val="47566B"/>
                </a:solidFill>
                <a:latin typeface="Segoe UI" pitchFamily="34" charset="0"/>
                <a:ea typeface="Segoe UI" pitchFamily="34" charset="-122"/>
                <a:cs typeface="Segoe UI" pitchFamily="34" charset="-120"/>
              </a:rPr>
              <a:t>Un alcance menor terminado por completo vale más que uno amplio a medio hacer en trece semanas.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ESPECIFICACIÓN DE INGENIERÍA</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Requerimientos funcionales y no funcionales</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7 / 16</a:t>
            </a:r>
            <a:endParaRPr lang="en-US" sz="900" dirty="0"/>
          </a:p>
        </p:txBody>
      </p:sp>
      <p:sp>
        <p:nvSpPr>
          <p:cNvPr id="11" name="Text 8"/>
          <p:cNvSpPr/>
          <p:nvPr/>
        </p:nvSpPr>
        <p:spPr>
          <a:xfrm>
            <a:off x="658368" y="1536192"/>
            <a:ext cx="5029200" cy="219456"/>
          </a:xfrm>
          <a:prstGeom prst="rect">
            <a:avLst/>
          </a:prstGeom>
          <a:noFill/>
          <a:ln/>
        </p:spPr>
        <p:txBody>
          <a:bodyPr wrap="square" rtlCol="0" anchor="ctr"/>
          <a:lstStyle/>
          <a:p>
            <a:pPr marL="0" indent="0">
              <a:buNone/>
            </a:pPr>
            <a:r>
              <a:rPr lang="en-US" sz="950" b="1" kern="0" spc="120" dirty="0">
                <a:solidFill>
                  <a:srgbClr val="2D5A9E"/>
                </a:solidFill>
                <a:latin typeface="Segoe UI" pitchFamily="34" charset="0"/>
                <a:ea typeface="Segoe UI" pitchFamily="34" charset="-122"/>
                <a:cs typeface="Segoe UI" pitchFamily="34" charset="-120"/>
              </a:rPr>
              <a:t>REQUERIMIENTOS FUNCIONALES</a:t>
            </a:r>
            <a:endParaRPr lang="en-US" sz="950" dirty="0"/>
          </a:p>
        </p:txBody>
      </p:sp>
      <p:sp>
        <p:nvSpPr>
          <p:cNvPr id="12" name="Shape 9"/>
          <p:cNvSpPr/>
          <p:nvPr/>
        </p:nvSpPr>
        <p:spPr>
          <a:xfrm>
            <a:off x="658368" y="1792224"/>
            <a:ext cx="5257800" cy="4160520"/>
          </a:xfrm>
          <a:prstGeom prst="roundRect">
            <a:avLst>
              <a:gd name="adj" fmla="val 1319"/>
            </a:avLst>
          </a:prstGeom>
          <a:solidFill>
            <a:srgbClr val="FFFFFF"/>
          </a:solidFill>
          <a:ln w="12700">
            <a:solidFill>
              <a:srgbClr val="DCE4EE"/>
            </a:solidFill>
            <a:prstDash val="solid"/>
          </a:ln>
        </p:spPr>
      </p:sp>
      <p:sp>
        <p:nvSpPr>
          <p:cNvPr id="13" name="Text 10"/>
          <p:cNvSpPr/>
          <p:nvPr/>
        </p:nvSpPr>
        <p:spPr>
          <a:xfrm>
            <a:off x="914400" y="195681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RF-01</a:t>
            </a:r>
            <a:endParaRPr lang="en-US" sz="950" dirty="0"/>
          </a:p>
        </p:txBody>
      </p:sp>
      <p:sp>
        <p:nvSpPr>
          <p:cNvPr id="14" name="Text 11"/>
          <p:cNvSpPr/>
          <p:nvPr/>
        </p:nvSpPr>
        <p:spPr>
          <a:xfrm>
            <a:off x="1645920" y="193852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Registro y acceso con correo, proveedores externos y verificación telefónica</a:t>
            </a:r>
            <a:endParaRPr lang="en-US" sz="1050" dirty="0"/>
          </a:p>
        </p:txBody>
      </p:sp>
      <p:sp>
        <p:nvSpPr>
          <p:cNvPr id="15" name="Text 12"/>
          <p:cNvSpPr/>
          <p:nvPr/>
        </p:nvSpPr>
        <p:spPr>
          <a:xfrm>
            <a:off x="914400" y="234543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RF-02</a:t>
            </a:r>
            <a:endParaRPr lang="en-US" sz="950" dirty="0"/>
          </a:p>
        </p:txBody>
      </p:sp>
      <p:sp>
        <p:nvSpPr>
          <p:cNvPr id="16" name="Text 13"/>
          <p:cNvSpPr/>
          <p:nvPr/>
        </p:nvSpPr>
        <p:spPr>
          <a:xfrm>
            <a:off x="1645920" y="232714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Onboarding: país, idioma, grado y asignaturas</a:t>
            </a:r>
            <a:endParaRPr lang="en-US" sz="1050" dirty="0"/>
          </a:p>
        </p:txBody>
      </p:sp>
      <p:sp>
        <p:nvSpPr>
          <p:cNvPr id="17" name="Text 14"/>
          <p:cNvSpPr/>
          <p:nvPr/>
        </p:nvSpPr>
        <p:spPr>
          <a:xfrm>
            <a:off x="914400" y="273405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RF-03</a:t>
            </a:r>
            <a:endParaRPr lang="en-US" sz="950" dirty="0"/>
          </a:p>
        </p:txBody>
      </p:sp>
      <p:sp>
        <p:nvSpPr>
          <p:cNvPr id="18" name="Text 15"/>
          <p:cNvSpPr/>
          <p:nvPr/>
        </p:nvSpPr>
        <p:spPr>
          <a:xfrm>
            <a:off x="1645920" y="271576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Práctica con cuota diaria (10 base, hasta 20 con bonos)</a:t>
            </a:r>
            <a:endParaRPr lang="en-US" sz="1050" dirty="0"/>
          </a:p>
        </p:txBody>
      </p:sp>
      <p:sp>
        <p:nvSpPr>
          <p:cNvPr id="19" name="Text 16"/>
          <p:cNvSpPr/>
          <p:nvPr/>
        </p:nvSpPr>
        <p:spPr>
          <a:xfrm>
            <a:off x="914400" y="312267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RF-04</a:t>
            </a:r>
            <a:endParaRPr lang="en-US" sz="950" dirty="0"/>
          </a:p>
        </p:txBody>
      </p:sp>
      <p:sp>
        <p:nvSpPr>
          <p:cNvPr id="20" name="Text 17"/>
          <p:cNvSpPr/>
          <p:nvPr/>
        </p:nvSpPr>
        <p:spPr>
          <a:xfrm>
            <a:off x="1645920" y="310438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Corrección, explicación y árbol de habilidades</a:t>
            </a:r>
            <a:endParaRPr lang="en-US" sz="1050" dirty="0"/>
          </a:p>
        </p:txBody>
      </p:sp>
      <p:sp>
        <p:nvSpPr>
          <p:cNvPr id="21" name="Text 18"/>
          <p:cNvSpPr/>
          <p:nvPr/>
        </p:nvSpPr>
        <p:spPr>
          <a:xfrm>
            <a:off x="914400" y="351129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RF-05</a:t>
            </a:r>
            <a:endParaRPr lang="en-US" sz="950" dirty="0"/>
          </a:p>
        </p:txBody>
      </p:sp>
      <p:sp>
        <p:nvSpPr>
          <p:cNvPr id="22" name="Text 19"/>
          <p:cNvSpPr/>
          <p:nvPr/>
        </p:nvSpPr>
        <p:spPr>
          <a:xfrm>
            <a:off x="1645920" y="349300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Medallas, canje, regalos y beneficios de sponsors</a:t>
            </a:r>
            <a:endParaRPr lang="en-US" sz="1050" dirty="0"/>
          </a:p>
        </p:txBody>
      </p:sp>
      <p:sp>
        <p:nvSpPr>
          <p:cNvPr id="23" name="Text 20"/>
          <p:cNvSpPr/>
          <p:nvPr/>
        </p:nvSpPr>
        <p:spPr>
          <a:xfrm>
            <a:off x="914400" y="389991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RF-06</a:t>
            </a:r>
            <a:endParaRPr lang="en-US" sz="950" dirty="0"/>
          </a:p>
        </p:txBody>
      </p:sp>
      <p:sp>
        <p:nvSpPr>
          <p:cNvPr id="24" name="Text 21"/>
          <p:cNvSpPr/>
          <p:nvPr/>
        </p:nvSpPr>
        <p:spPr>
          <a:xfrm>
            <a:off x="1645920" y="388162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Grupos de estudio con invitaciones y estadísticas</a:t>
            </a:r>
            <a:endParaRPr lang="en-US" sz="1050" dirty="0"/>
          </a:p>
        </p:txBody>
      </p:sp>
      <p:sp>
        <p:nvSpPr>
          <p:cNvPr id="25" name="Text 22"/>
          <p:cNvSpPr/>
          <p:nvPr/>
        </p:nvSpPr>
        <p:spPr>
          <a:xfrm>
            <a:off x="914400" y="428853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RF-07</a:t>
            </a:r>
            <a:endParaRPr lang="en-US" sz="950" dirty="0"/>
          </a:p>
        </p:txBody>
      </p:sp>
      <p:sp>
        <p:nvSpPr>
          <p:cNvPr id="26" name="Text 23"/>
          <p:cNvSpPr/>
          <p:nvPr/>
        </p:nvSpPr>
        <p:spPr>
          <a:xfrm>
            <a:off x="1645920" y="427024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Comunidad: publicaciones, comentarios y reacciones</a:t>
            </a:r>
            <a:endParaRPr lang="en-US" sz="1050" dirty="0"/>
          </a:p>
        </p:txBody>
      </p:sp>
      <p:sp>
        <p:nvSpPr>
          <p:cNvPr id="27" name="Text 24"/>
          <p:cNvSpPr/>
          <p:nvPr/>
        </p:nvSpPr>
        <p:spPr>
          <a:xfrm>
            <a:off x="914400" y="467715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RF-08</a:t>
            </a:r>
            <a:endParaRPr lang="en-US" sz="950" dirty="0"/>
          </a:p>
        </p:txBody>
      </p:sp>
      <p:sp>
        <p:nvSpPr>
          <p:cNvPr id="28" name="Text 25"/>
          <p:cNvSpPr/>
          <p:nvPr/>
        </p:nvSpPr>
        <p:spPr>
          <a:xfrm>
            <a:off x="1645920" y="465886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Marketplace de tutores, chat y análisis de falencias</a:t>
            </a:r>
            <a:endParaRPr lang="en-US" sz="1050" dirty="0"/>
          </a:p>
        </p:txBody>
      </p:sp>
      <p:sp>
        <p:nvSpPr>
          <p:cNvPr id="29" name="Text 26"/>
          <p:cNvSpPr/>
          <p:nvPr/>
        </p:nvSpPr>
        <p:spPr>
          <a:xfrm>
            <a:off x="914400" y="506577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RF-09</a:t>
            </a:r>
            <a:endParaRPr lang="en-US" sz="950" dirty="0"/>
          </a:p>
        </p:txBody>
      </p:sp>
      <p:sp>
        <p:nvSpPr>
          <p:cNvPr id="30" name="Text 27"/>
          <p:cNvSpPr/>
          <p:nvPr/>
        </p:nvSpPr>
        <p:spPr>
          <a:xfrm>
            <a:off x="1645920" y="504748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Suscripciones y gestión del plan</a:t>
            </a:r>
            <a:endParaRPr lang="en-US" sz="1050" dirty="0"/>
          </a:p>
        </p:txBody>
      </p:sp>
      <p:sp>
        <p:nvSpPr>
          <p:cNvPr id="31" name="Text 28"/>
          <p:cNvSpPr/>
          <p:nvPr/>
        </p:nvSpPr>
        <p:spPr>
          <a:xfrm>
            <a:off x="914400" y="5454396"/>
            <a:ext cx="685800" cy="274320"/>
          </a:xfrm>
          <a:prstGeom prst="rect">
            <a:avLst/>
          </a:prstGeom>
          <a:noFill/>
          <a:ln/>
        </p:spPr>
        <p:txBody>
          <a:bodyPr wrap="square" rtlCol="0" anchor="ctr"/>
          <a:lstStyle/>
          <a:p>
            <a:pPr marL="0" indent="0">
              <a:buNone/>
            </a:pPr>
            <a:r>
              <a:rPr lang="en-US" sz="950" b="1" dirty="0">
                <a:solidFill>
                  <a:srgbClr val="2D5A9E"/>
                </a:solidFill>
                <a:latin typeface="Consolas" pitchFamily="34" charset="0"/>
                <a:ea typeface="Consolas" pitchFamily="34" charset="-122"/>
                <a:cs typeface="Consolas" pitchFamily="34" charset="-120"/>
              </a:rPr>
              <a:t>RF-10</a:t>
            </a:r>
            <a:endParaRPr lang="en-US" sz="950" dirty="0"/>
          </a:p>
        </p:txBody>
      </p:sp>
      <p:sp>
        <p:nvSpPr>
          <p:cNvPr id="32" name="Text 29"/>
          <p:cNvSpPr/>
          <p:nvPr/>
        </p:nvSpPr>
        <p:spPr>
          <a:xfrm>
            <a:off x="1645920" y="5436108"/>
            <a:ext cx="4069080" cy="329184"/>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Solicitud y resolución de recorrección de preguntas</a:t>
            </a:r>
            <a:endParaRPr lang="en-US" sz="1050" dirty="0"/>
          </a:p>
        </p:txBody>
      </p:sp>
      <p:sp>
        <p:nvSpPr>
          <p:cNvPr id="33" name="Text 30"/>
          <p:cNvSpPr/>
          <p:nvPr/>
        </p:nvSpPr>
        <p:spPr>
          <a:xfrm>
            <a:off x="6281928" y="1536192"/>
            <a:ext cx="5029200" cy="219456"/>
          </a:xfrm>
          <a:prstGeom prst="rect">
            <a:avLst/>
          </a:prstGeom>
          <a:noFill/>
          <a:ln/>
        </p:spPr>
        <p:txBody>
          <a:bodyPr wrap="square" rtlCol="0" anchor="ctr"/>
          <a:lstStyle/>
          <a:p>
            <a:pPr marL="0" indent="0">
              <a:buNone/>
            </a:pPr>
            <a:r>
              <a:rPr lang="en-US" sz="950" b="1" kern="0" spc="120" dirty="0">
                <a:solidFill>
                  <a:srgbClr val="F5B041"/>
                </a:solidFill>
                <a:latin typeface="Segoe UI" pitchFamily="34" charset="0"/>
                <a:ea typeface="Segoe UI" pitchFamily="34" charset="-122"/>
                <a:cs typeface="Segoe UI" pitchFamily="34" charset="-120"/>
              </a:rPr>
              <a:t>REQUERIMIENTOS NO FUNCIONALES</a:t>
            </a:r>
            <a:endParaRPr lang="en-US" sz="950" dirty="0"/>
          </a:p>
        </p:txBody>
      </p:sp>
      <p:sp>
        <p:nvSpPr>
          <p:cNvPr id="34" name="Shape 31"/>
          <p:cNvSpPr/>
          <p:nvPr/>
        </p:nvSpPr>
        <p:spPr>
          <a:xfrm>
            <a:off x="6281928" y="1792224"/>
            <a:ext cx="5257800" cy="4160520"/>
          </a:xfrm>
          <a:prstGeom prst="roundRect">
            <a:avLst>
              <a:gd name="adj" fmla="val 1319"/>
            </a:avLst>
          </a:prstGeom>
          <a:solidFill>
            <a:srgbClr val="FFFFFF"/>
          </a:solidFill>
          <a:ln w="12700">
            <a:solidFill>
              <a:srgbClr val="DCE4EE"/>
            </a:solidFill>
            <a:prstDash val="solid"/>
          </a:ln>
        </p:spPr>
      </p:sp>
      <p:sp>
        <p:nvSpPr>
          <p:cNvPr id="35" name="Shape 32"/>
          <p:cNvSpPr/>
          <p:nvPr/>
        </p:nvSpPr>
        <p:spPr>
          <a:xfrm>
            <a:off x="6281928" y="1792224"/>
            <a:ext cx="50292" cy="4160520"/>
          </a:xfrm>
          <a:prstGeom prst="rect">
            <a:avLst/>
          </a:prstGeom>
          <a:solidFill>
            <a:srgbClr val="F5B041"/>
          </a:solidFill>
          <a:ln/>
        </p:spPr>
      </p:sp>
      <p:sp>
        <p:nvSpPr>
          <p:cNvPr id="36" name="Text 33"/>
          <p:cNvSpPr/>
          <p:nvPr/>
        </p:nvSpPr>
        <p:spPr>
          <a:xfrm>
            <a:off x="6583680" y="1947672"/>
            <a:ext cx="841248" cy="502920"/>
          </a:xfrm>
          <a:prstGeom prst="rect">
            <a:avLst/>
          </a:prstGeom>
          <a:noFill/>
          <a:ln/>
        </p:spPr>
        <p:txBody>
          <a:bodyPr wrap="square" rtlCol="0" anchor="ctr"/>
          <a:lstStyle/>
          <a:p>
            <a:pPr marL="0" indent="0">
              <a:buNone/>
            </a:pPr>
            <a:r>
              <a:rPr lang="en-US" sz="950" b="1" dirty="0">
                <a:solidFill>
                  <a:srgbClr val="B3261E"/>
                </a:solidFill>
                <a:latin typeface="Consolas" pitchFamily="34" charset="0"/>
                <a:ea typeface="Consolas" pitchFamily="34" charset="-122"/>
                <a:cs typeface="Consolas" pitchFamily="34" charset="-120"/>
              </a:rPr>
              <a:t>RNF-01</a:t>
            </a:r>
            <a:endParaRPr lang="en-US" sz="950" dirty="0"/>
          </a:p>
        </p:txBody>
      </p:sp>
      <p:sp>
        <p:nvSpPr>
          <p:cNvPr id="37" name="Text 34"/>
          <p:cNvSpPr/>
          <p:nvPr/>
        </p:nvSpPr>
        <p:spPr>
          <a:xfrm>
            <a:off x="7461504" y="1947672"/>
            <a:ext cx="3886200" cy="502920"/>
          </a:xfrm>
          <a:prstGeom prst="rect">
            <a:avLst/>
          </a:prstGeom>
          <a:noFill/>
          <a:ln/>
        </p:spPr>
        <p:txBody>
          <a:bodyPr wrap="square" rtlCol="0" anchor="ctr"/>
          <a:lstStyle/>
          <a:p>
            <a:pPr marL="0" indent="0">
              <a:lnSpc>
                <a:spcPct val="108000"/>
              </a:lnSpc>
              <a:buNone/>
            </a:pPr>
            <a:r>
              <a:rPr lang="en-US" sz="1050" dirty="0">
                <a:solidFill>
                  <a:srgbClr val="47566B"/>
                </a:solidFill>
                <a:latin typeface="Segoe UI" pitchFamily="34" charset="0"/>
                <a:ea typeface="Segoe UI" pitchFamily="34" charset="-122"/>
                <a:cs typeface="Segoe UI" pitchFamily="34" charset="-120"/>
              </a:rPr>
              <a:t>Seguridad: identidad verificada contra el proveedor, rotación de tokens, secretos fuera del código</a:t>
            </a:r>
            <a:endParaRPr lang="en-US" sz="1050" dirty="0"/>
          </a:p>
        </p:txBody>
      </p:sp>
      <p:sp>
        <p:nvSpPr>
          <p:cNvPr id="38" name="Text 35"/>
          <p:cNvSpPr/>
          <p:nvPr/>
        </p:nvSpPr>
        <p:spPr>
          <a:xfrm>
            <a:off x="6583680" y="2505456"/>
            <a:ext cx="841248" cy="502920"/>
          </a:xfrm>
          <a:prstGeom prst="rect">
            <a:avLst/>
          </a:prstGeom>
          <a:noFill/>
          <a:ln/>
        </p:spPr>
        <p:txBody>
          <a:bodyPr wrap="square" rtlCol="0" anchor="ctr"/>
          <a:lstStyle/>
          <a:p>
            <a:pPr marL="0" indent="0">
              <a:buNone/>
            </a:pPr>
            <a:r>
              <a:rPr lang="en-US" sz="950" b="1" dirty="0">
                <a:solidFill>
                  <a:srgbClr val="B3261E"/>
                </a:solidFill>
                <a:latin typeface="Consolas" pitchFamily="34" charset="0"/>
                <a:ea typeface="Consolas" pitchFamily="34" charset="-122"/>
                <a:cs typeface="Consolas" pitchFamily="34" charset="-120"/>
              </a:rPr>
              <a:t>RNF-02</a:t>
            </a:r>
            <a:endParaRPr lang="en-US" sz="950" dirty="0"/>
          </a:p>
        </p:txBody>
      </p:sp>
      <p:sp>
        <p:nvSpPr>
          <p:cNvPr id="39" name="Text 36"/>
          <p:cNvSpPr/>
          <p:nvPr/>
        </p:nvSpPr>
        <p:spPr>
          <a:xfrm>
            <a:off x="7461504" y="2505456"/>
            <a:ext cx="3886200" cy="502920"/>
          </a:xfrm>
          <a:prstGeom prst="rect">
            <a:avLst/>
          </a:prstGeom>
          <a:noFill/>
          <a:ln/>
        </p:spPr>
        <p:txBody>
          <a:bodyPr wrap="square" rtlCol="0" anchor="ctr"/>
          <a:lstStyle/>
          <a:p>
            <a:pPr marL="0" indent="0">
              <a:lnSpc>
                <a:spcPct val="108000"/>
              </a:lnSpc>
              <a:buNone/>
            </a:pPr>
            <a:r>
              <a:rPr lang="en-US" sz="1050" dirty="0">
                <a:solidFill>
                  <a:srgbClr val="47566B"/>
                </a:solidFill>
                <a:latin typeface="Segoe UI" pitchFamily="34" charset="0"/>
                <a:ea typeface="Segoe UI" pitchFamily="34" charset="-122"/>
                <a:cs typeface="Segoe UI" pitchFamily="34" charset="-120"/>
              </a:rPr>
              <a:t>Privacidad: datos de menores conforme a Ley 21.719, exportación y borrado de cuenta</a:t>
            </a:r>
            <a:endParaRPr lang="en-US" sz="1050" dirty="0"/>
          </a:p>
        </p:txBody>
      </p:sp>
      <p:sp>
        <p:nvSpPr>
          <p:cNvPr id="40" name="Text 37"/>
          <p:cNvSpPr/>
          <p:nvPr/>
        </p:nvSpPr>
        <p:spPr>
          <a:xfrm>
            <a:off x="6583680" y="3063240"/>
            <a:ext cx="841248" cy="502920"/>
          </a:xfrm>
          <a:prstGeom prst="rect">
            <a:avLst/>
          </a:prstGeom>
          <a:noFill/>
          <a:ln/>
        </p:spPr>
        <p:txBody>
          <a:bodyPr wrap="square" rtlCol="0" anchor="ctr"/>
          <a:lstStyle/>
          <a:p>
            <a:pPr marL="0" indent="0">
              <a:buNone/>
            </a:pPr>
            <a:r>
              <a:rPr lang="en-US" sz="950" b="1" dirty="0">
                <a:solidFill>
                  <a:srgbClr val="F5B041"/>
                </a:solidFill>
                <a:latin typeface="Consolas" pitchFamily="34" charset="0"/>
                <a:ea typeface="Consolas" pitchFamily="34" charset="-122"/>
                <a:cs typeface="Consolas" pitchFamily="34" charset="-120"/>
              </a:rPr>
              <a:t>RNF-03</a:t>
            </a:r>
            <a:endParaRPr lang="en-US" sz="950" dirty="0"/>
          </a:p>
        </p:txBody>
      </p:sp>
      <p:sp>
        <p:nvSpPr>
          <p:cNvPr id="41" name="Text 38"/>
          <p:cNvSpPr/>
          <p:nvPr/>
        </p:nvSpPr>
        <p:spPr>
          <a:xfrm>
            <a:off x="7461504" y="3063240"/>
            <a:ext cx="3886200" cy="502920"/>
          </a:xfrm>
          <a:prstGeom prst="rect">
            <a:avLst/>
          </a:prstGeom>
          <a:noFill/>
          <a:ln/>
        </p:spPr>
        <p:txBody>
          <a:bodyPr wrap="square" rtlCol="0" anchor="ctr"/>
          <a:lstStyle/>
          <a:p>
            <a:pPr marL="0" indent="0">
              <a:lnSpc>
                <a:spcPct val="108000"/>
              </a:lnSpc>
              <a:buNone/>
            </a:pPr>
            <a:r>
              <a:rPr lang="en-US" sz="1050" dirty="0">
                <a:solidFill>
                  <a:srgbClr val="47566B"/>
                </a:solidFill>
                <a:latin typeface="Segoe UI" pitchFamily="34" charset="0"/>
                <a:ea typeface="Segoe UI" pitchFamily="34" charset="-122"/>
                <a:cs typeface="Segoe UI" pitchFamily="34" charset="-120"/>
              </a:rPr>
              <a:t>Persistencia: base gestionada con índices y reglas de acceso</a:t>
            </a:r>
            <a:endParaRPr lang="en-US" sz="1050" dirty="0"/>
          </a:p>
        </p:txBody>
      </p:sp>
      <p:sp>
        <p:nvSpPr>
          <p:cNvPr id="42" name="Text 39"/>
          <p:cNvSpPr/>
          <p:nvPr/>
        </p:nvSpPr>
        <p:spPr>
          <a:xfrm>
            <a:off x="6583680" y="3621024"/>
            <a:ext cx="841248" cy="502920"/>
          </a:xfrm>
          <a:prstGeom prst="rect">
            <a:avLst/>
          </a:prstGeom>
          <a:noFill/>
          <a:ln/>
        </p:spPr>
        <p:txBody>
          <a:bodyPr wrap="square" rtlCol="0" anchor="ctr"/>
          <a:lstStyle/>
          <a:p>
            <a:pPr marL="0" indent="0">
              <a:buNone/>
            </a:pPr>
            <a:r>
              <a:rPr lang="en-US" sz="950" b="1" dirty="0">
                <a:solidFill>
                  <a:srgbClr val="F5B041"/>
                </a:solidFill>
                <a:latin typeface="Consolas" pitchFamily="34" charset="0"/>
                <a:ea typeface="Consolas" pitchFamily="34" charset="-122"/>
                <a:cs typeface="Consolas" pitchFamily="34" charset="-120"/>
              </a:rPr>
              <a:t>RNF-04</a:t>
            </a:r>
            <a:endParaRPr lang="en-US" sz="950" dirty="0"/>
          </a:p>
        </p:txBody>
      </p:sp>
      <p:sp>
        <p:nvSpPr>
          <p:cNvPr id="43" name="Text 40"/>
          <p:cNvSpPr/>
          <p:nvPr/>
        </p:nvSpPr>
        <p:spPr>
          <a:xfrm>
            <a:off x="7461504" y="3621024"/>
            <a:ext cx="3886200" cy="502920"/>
          </a:xfrm>
          <a:prstGeom prst="rect">
            <a:avLst/>
          </a:prstGeom>
          <a:noFill/>
          <a:ln/>
        </p:spPr>
        <p:txBody>
          <a:bodyPr wrap="square" rtlCol="0" anchor="ctr"/>
          <a:lstStyle/>
          <a:p>
            <a:pPr marL="0" indent="0">
              <a:lnSpc>
                <a:spcPct val="108000"/>
              </a:lnSpc>
              <a:buNone/>
            </a:pPr>
            <a:r>
              <a:rPr lang="en-US" sz="1050" dirty="0">
                <a:solidFill>
                  <a:srgbClr val="47566B"/>
                </a:solidFill>
                <a:latin typeface="Segoe UI" pitchFamily="34" charset="0"/>
                <a:ea typeface="Segoe UI" pitchFamily="34" charset="-122"/>
                <a:cs typeface="Segoe UI" pitchFamily="34" charset="-120"/>
              </a:rPr>
              <a:t>Disponibilidad: despliegue reproducible en contenedores</a:t>
            </a:r>
            <a:endParaRPr lang="en-US" sz="1050" dirty="0"/>
          </a:p>
        </p:txBody>
      </p:sp>
      <p:sp>
        <p:nvSpPr>
          <p:cNvPr id="44" name="Text 41"/>
          <p:cNvSpPr/>
          <p:nvPr/>
        </p:nvSpPr>
        <p:spPr>
          <a:xfrm>
            <a:off x="6583680" y="4178808"/>
            <a:ext cx="841248" cy="502920"/>
          </a:xfrm>
          <a:prstGeom prst="rect">
            <a:avLst/>
          </a:prstGeom>
          <a:noFill/>
          <a:ln/>
        </p:spPr>
        <p:txBody>
          <a:bodyPr wrap="square" rtlCol="0" anchor="ctr"/>
          <a:lstStyle/>
          <a:p>
            <a:pPr marL="0" indent="0">
              <a:buNone/>
            </a:pPr>
            <a:r>
              <a:rPr lang="en-US" sz="950" b="1" dirty="0">
                <a:solidFill>
                  <a:srgbClr val="F5B041"/>
                </a:solidFill>
                <a:latin typeface="Consolas" pitchFamily="34" charset="0"/>
                <a:ea typeface="Consolas" pitchFamily="34" charset="-122"/>
                <a:cs typeface="Consolas" pitchFamily="34" charset="-120"/>
              </a:rPr>
              <a:t>RNF-05</a:t>
            </a:r>
            <a:endParaRPr lang="en-US" sz="950" dirty="0"/>
          </a:p>
        </p:txBody>
      </p:sp>
      <p:sp>
        <p:nvSpPr>
          <p:cNvPr id="45" name="Text 42"/>
          <p:cNvSpPr/>
          <p:nvPr/>
        </p:nvSpPr>
        <p:spPr>
          <a:xfrm>
            <a:off x="7461504" y="4178808"/>
            <a:ext cx="3886200" cy="502920"/>
          </a:xfrm>
          <a:prstGeom prst="rect">
            <a:avLst/>
          </a:prstGeom>
          <a:noFill/>
          <a:ln/>
        </p:spPr>
        <p:txBody>
          <a:bodyPr wrap="square" rtlCol="0" anchor="ctr"/>
          <a:lstStyle/>
          <a:p>
            <a:pPr marL="0" indent="0">
              <a:lnSpc>
                <a:spcPct val="108000"/>
              </a:lnSpc>
              <a:buNone/>
            </a:pPr>
            <a:r>
              <a:rPr lang="en-US" sz="1050" dirty="0">
                <a:solidFill>
                  <a:srgbClr val="47566B"/>
                </a:solidFill>
                <a:latin typeface="Segoe UI" pitchFamily="34" charset="0"/>
                <a:ea typeface="Segoe UI" pitchFamily="34" charset="-122"/>
                <a:cs typeface="Segoe UI" pitchFamily="34" charset="-120"/>
              </a:rPr>
              <a:t>Calidad: pruebas automatizadas sobre reglas críticas</a:t>
            </a:r>
            <a:endParaRPr lang="en-US" sz="1050" dirty="0"/>
          </a:p>
        </p:txBody>
      </p:sp>
      <p:sp>
        <p:nvSpPr>
          <p:cNvPr id="46" name="Text 43"/>
          <p:cNvSpPr/>
          <p:nvPr/>
        </p:nvSpPr>
        <p:spPr>
          <a:xfrm>
            <a:off x="6583680" y="4736592"/>
            <a:ext cx="841248" cy="502920"/>
          </a:xfrm>
          <a:prstGeom prst="rect">
            <a:avLst/>
          </a:prstGeom>
          <a:noFill/>
          <a:ln/>
        </p:spPr>
        <p:txBody>
          <a:bodyPr wrap="square" rtlCol="0" anchor="ctr"/>
          <a:lstStyle/>
          <a:p>
            <a:pPr marL="0" indent="0">
              <a:buNone/>
            </a:pPr>
            <a:r>
              <a:rPr lang="en-US" sz="950" b="1" dirty="0">
                <a:solidFill>
                  <a:srgbClr val="F5B041"/>
                </a:solidFill>
                <a:latin typeface="Consolas" pitchFamily="34" charset="0"/>
                <a:ea typeface="Consolas" pitchFamily="34" charset="-122"/>
                <a:cs typeface="Consolas" pitchFamily="34" charset="-120"/>
              </a:rPr>
              <a:t>RNF-06</a:t>
            </a:r>
            <a:endParaRPr lang="en-US" sz="950" dirty="0"/>
          </a:p>
        </p:txBody>
      </p:sp>
      <p:sp>
        <p:nvSpPr>
          <p:cNvPr id="47" name="Text 44"/>
          <p:cNvSpPr/>
          <p:nvPr/>
        </p:nvSpPr>
        <p:spPr>
          <a:xfrm>
            <a:off x="7461504" y="4736592"/>
            <a:ext cx="3886200" cy="502920"/>
          </a:xfrm>
          <a:prstGeom prst="rect">
            <a:avLst/>
          </a:prstGeom>
          <a:noFill/>
          <a:ln/>
        </p:spPr>
        <p:txBody>
          <a:bodyPr wrap="square" rtlCol="0" anchor="ctr"/>
          <a:lstStyle/>
          <a:p>
            <a:pPr marL="0" indent="0">
              <a:lnSpc>
                <a:spcPct val="108000"/>
              </a:lnSpc>
              <a:buNone/>
            </a:pPr>
            <a:r>
              <a:rPr lang="en-US" sz="1050" dirty="0">
                <a:solidFill>
                  <a:srgbClr val="47566B"/>
                </a:solidFill>
                <a:latin typeface="Segoe UI" pitchFamily="34" charset="0"/>
                <a:ea typeface="Segoe UI" pitchFamily="34" charset="-122"/>
                <a:cs typeface="Segoe UI" pitchFamily="34" charset="-120"/>
              </a:rPr>
              <a:t>Mantenibilidad: contrato de API versionado en OpenAPI</a:t>
            </a:r>
            <a:endParaRPr lang="en-US" sz="1050" dirty="0"/>
          </a:p>
        </p:txBody>
      </p:sp>
      <p:sp>
        <p:nvSpPr>
          <p:cNvPr id="48" name="Text 45"/>
          <p:cNvSpPr/>
          <p:nvPr/>
        </p:nvSpPr>
        <p:spPr>
          <a:xfrm>
            <a:off x="6583680" y="5294376"/>
            <a:ext cx="841248" cy="502920"/>
          </a:xfrm>
          <a:prstGeom prst="rect">
            <a:avLst/>
          </a:prstGeom>
          <a:noFill/>
          <a:ln/>
        </p:spPr>
        <p:txBody>
          <a:bodyPr wrap="square" rtlCol="0" anchor="ctr"/>
          <a:lstStyle/>
          <a:p>
            <a:pPr marL="0" indent="0">
              <a:buNone/>
            </a:pPr>
            <a:r>
              <a:rPr lang="en-US" sz="950" b="1" dirty="0">
                <a:solidFill>
                  <a:srgbClr val="F5B041"/>
                </a:solidFill>
                <a:latin typeface="Consolas" pitchFamily="34" charset="0"/>
                <a:ea typeface="Consolas" pitchFamily="34" charset="-122"/>
                <a:cs typeface="Consolas" pitchFamily="34" charset="-120"/>
              </a:rPr>
              <a:t>RNF-07</a:t>
            </a:r>
            <a:endParaRPr lang="en-US" sz="950" dirty="0"/>
          </a:p>
        </p:txBody>
      </p:sp>
      <p:sp>
        <p:nvSpPr>
          <p:cNvPr id="49" name="Text 46"/>
          <p:cNvSpPr/>
          <p:nvPr/>
        </p:nvSpPr>
        <p:spPr>
          <a:xfrm>
            <a:off x="7461504" y="5294376"/>
            <a:ext cx="3886200" cy="502920"/>
          </a:xfrm>
          <a:prstGeom prst="rect">
            <a:avLst/>
          </a:prstGeom>
          <a:noFill/>
          <a:ln/>
        </p:spPr>
        <p:txBody>
          <a:bodyPr wrap="square" rtlCol="0" anchor="ctr"/>
          <a:lstStyle/>
          <a:p>
            <a:pPr marL="0" indent="0">
              <a:lnSpc>
                <a:spcPct val="108000"/>
              </a:lnSpc>
              <a:buNone/>
            </a:pPr>
            <a:r>
              <a:rPr lang="en-US" sz="1050" dirty="0">
                <a:solidFill>
                  <a:srgbClr val="47566B"/>
                </a:solidFill>
                <a:latin typeface="Segoe UI" pitchFamily="34" charset="0"/>
                <a:ea typeface="Segoe UI" pitchFamily="34" charset="-122"/>
                <a:cs typeface="Segoe UI" pitchFamily="34" charset="-120"/>
              </a:rPr>
              <a:t>Usabilidad: interfaz responsiva, ES/EN y tema claro u oscuro</a:t>
            </a:r>
            <a:endParaRPr lang="en-US" sz="1050" dirty="0"/>
          </a:p>
        </p:txBody>
      </p:sp>
      <p:sp>
        <p:nvSpPr>
          <p:cNvPr id="50" name="Text 47"/>
          <p:cNvSpPr/>
          <p:nvPr/>
        </p:nvSpPr>
        <p:spPr>
          <a:xfrm>
            <a:off x="658368" y="6035040"/>
            <a:ext cx="10863072" cy="274320"/>
          </a:xfrm>
          <a:prstGeom prst="rect">
            <a:avLst/>
          </a:prstGeom>
          <a:noFill/>
          <a:ln/>
        </p:spPr>
        <p:txBody>
          <a:bodyPr wrap="square" rtlCol="0" anchor="ctr"/>
          <a:lstStyle/>
          <a:p>
            <a:pPr marL="0" indent="0">
              <a:buNone/>
            </a:pPr>
            <a:r>
              <a:rPr lang="en-US" sz="1100" i="1" dirty="0">
                <a:solidFill>
                  <a:srgbClr val="7A8AA0"/>
                </a:solidFill>
                <a:latin typeface="Segoe UI" pitchFamily="34" charset="0"/>
                <a:ea typeface="Segoe UI" pitchFamily="34" charset="-122"/>
                <a:cs typeface="Segoe UI" pitchFamily="34" charset="-120"/>
              </a:rPr>
              <a:t>Los dos primeros requerimientos no funcionales son bloqueantes para salir a producción.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PROCESO DE INGENIERÍA DE SOFTWARE</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Metodología: Scrum adaptado</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8 / 16</a:t>
            </a:r>
            <a:endParaRPr lang="en-US" sz="900" dirty="0"/>
          </a:p>
        </p:txBody>
      </p:sp>
      <p:sp>
        <p:nvSpPr>
          <p:cNvPr id="11" name="Shape 8"/>
          <p:cNvSpPr/>
          <p:nvPr/>
        </p:nvSpPr>
        <p:spPr>
          <a:xfrm>
            <a:off x="658368" y="1572768"/>
            <a:ext cx="3429000" cy="1051560"/>
          </a:xfrm>
          <a:prstGeom prst="roundRect">
            <a:avLst>
              <a:gd name="adj" fmla="val 5217"/>
            </a:avLst>
          </a:prstGeom>
          <a:solidFill>
            <a:srgbClr val="FFFFFF"/>
          </a:solidFill>
          <a:ln w="12700">
            <a:solidFill>
              <a:srgbClr val="DCE4EE"/>
            </a:solidFill>
            <a:prstDash val="solid"/>
          </a:ln>
        </p:spPr>
      </p:sp>
      <p:sp>
        <p:nvSpPr>
          <p:cNvPr id="12" name="Text 9"/>
          <p:cNvSpPr/>
          <p:nvPr/>
        </p:nvSpPr>
        <p:spPr>
          <a:xfrm>
            <a:off x="932688" y="1719072"/>
            <a:ext cx="2926080" cy="274320"/>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Entregas incrementales</a:t>
            </a:r>
            <a:endParaRPr lang="en-US" sz="1300" dirty="0"/>
          </a:p>
        </p:txBody>
      </p:sp>
      <p:sp>
        <p:nvSpPr>
          <p:cNvPr id="13" name="Text 10"/>
          <p:cNvSpPr/>
          <p:nvPr/>
        </p:nvSpPr>
        <p:spPr>
          <a:xfrm>
            <a:off x="932688" y="2011680"/>
            <a:ext cx="2926080" cy="457200"/>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La empresa exige reporte de avance semanal</a:t>
            </a:r>
            <a:endParaRPr lang="en-US" sz="1050" dirty="0"/>
          </a:p>
        </p:txBody>
      </p:sp>
      <p:sp>
        <p:nvSpPr>
          <p:cNvPr id="14" name="Shape 11"/>
          <p:cNvSpPr/>
          <p:nvPr/>
        </p:nvSpPr>
        <p:spPr>
          <a:xfrm>
            <a:off x="4379976" y="1572768"/>
            <a:ext cx="3429000" cy="1051560"/>
          </a:xfrm>
          <a:prstGeom prst="roundRect">
            <a:avLst>
              <a:gd name="adj" fmla="val 5217"/>
            </a:avLst>
          </a:prstGeom>
          <a:solidFill>
            <a:srgbClr val="FFFFFF"/>
          </a:solidFill>
          <a:ln w="12700">
            <a:solidFill>
              <a:srgbClr val="DCE4EE"/>
            </a:solidFill>
            <a:prstDash val="solid"/>
          </a:ln>
        </p:spPr>
      </p:sp>
      <p:sp>
        <p:nvSpPr>
          <p:cNvPr id="15" name="Text 12"/>
          <p:cNvSpPr/>
          <p:nvPr/>
        </p:nvSpPr>
        <p:spPr>
          <a:xfrm>
            <a:off x="4654296" y="1719072"/>
            <a:ext cx="2926080" cy="274320"/>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Capacidad de adaptación</a:t>
            </a:r>
            <a:endParaRPr lang="en-US" sz="1300" dirty="0"/>
          </a:p>
        </p:txBody>
      </p:sp>
      <p:sp>
        <p:nvSpPr>
          <p:cNvPr id="16" name="Text 13"/>
          <p:cNvSpPr/>
          <p:nvPr/>
        </p:nvSpPr>
        <p:spPr>
          <a:xfrm>
            <a:off x="4654296" y="2011680"/>
            <a:ext cx="2926080" cy="457200"/>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Hay decisiones de alcance aún abiertas</a:t>
            </a:r>
            <a:endParaRPr lang="en-US" sz="1050" dirty="0"/>
          </a:p>
        </p:txBody>
      </p:sp>
      <p:sp>
        <p:nvSpPr>
          <p:cNvPr id="17" name="Shape 14"/>
          <p:cNvSpPr/>
          <p:nvPr/>
        </p:nvSpPr>
        <p:spPr>
          <a:xfrm>
            <a:off x="8101584" y="1572768"/>
            <a:ext cx="3429000" cy="1051560"/>
          </a:xfrm>
          <a:prstGeom prst="roundRect">
            <a:avLst>
              <a:gd name="adj" fmla="val 5217"/>
            </a:avLst>
          </a:prstGeom>
          <a:solidFill>
            <a:srgbClr val="FFFFFF"/>
          </a:solidFill>
          <a:ln w="12700">
            <a:solidFill>
              <a:srgbClr val="DCE4EE"/>
            </a:solidFill>
            <a:prstDash val="solid"/>
          </a:ln>
        </p:spPr>
      </p:sp>
      <p:sp>
        <p:nvSpPr>
          <p:cNvPr id="18" name="Text 15"/>
          <p:cNvSpPr/>
          <p:nvPr/>
        </p:nvSpPr>
        <p:spPr>
          <a:xfrm>
            <a:off x="8375904" y="1719072"/>
            <a:ext cx="2926080" cy="274320"/>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Equipo pequeño</a:t>
            </a:r>
            <a:endParaRPr lang="en-US" sz="1300" dirty="0"/>
          </a:p>
        </p:txBody>
      </p:sp>
      <p:sp>
        <p:nvSpPr>
          <p:cNvPr id="19" name="Text 16"/>
          <p:cNvSpPr/>
          <p:nvPr/>
        </p:nvSpPr>
        <p:spPr>
          <a:xfrm>
            <a:off x="8375904" y="2011680"/>
            <a:ext cx="2926080" cy="457200"/>
          </a:xfrm>
          <a:prstGeom prst="rect">
            <a:avLst/>
          </a:prstGeom>
          <a:noFill/>
          <a:ln/>
        </p:spPr>
        <p:txBody>
          <a:bodyPr wrap="square" rtlCol="0" anchor="ctr"/>
          <a:lstStyle/>
          <a:p>
            <a:pPr marL="0" indent="0">
              <a:buNone/>
            </a:pPr>
            <a:r>
              <a:rPr lang="en-US" sz="1050" dirty="0">
                <a:solidFill>
                  <a:srgbClr val="47566B"/>
                </a:solidFill>
                <a:latin typeface="Segoe UI" pitchFamily="34" charset="0"/>
                <a:ea typeface="Segoe UI" pitchFamily="34" charset="-122"/>
                <a:cs typeface="Segoe UI" pitchFamily="34" charset="-120"/>
              </a:rPr>
              <a:t>Dos integrantes sin dedicación exclusiva</a:t>
            </a:r>
            <a:endParaRPr lang="en-US" sz="1050" dirty="0"/>
          </a:p>
        </p:txBody>
      </p:sp>
      <p:sp>
        <p:nvSpPr>
          <p:cNvPr id="20" name="Text 17"/>
          <p:cNvSpPr/>
          <p:nvPr/>
        </p:nvSpPr>
        <p:spPr>
          <a:xfrm>
            <a:off x="658368" y="2816352"/>
            <a:ext cx="5486400" cy="219456"/>
          </a:xfrm>
          <a:prstGeom prst="rect">
            <a:avLst/>
          </a:prstGeom>
          <a:noFill/>
          <a:ln/>
        </p:spPr>
        <p:txBody>
          <a:bodyPr wrap="square" rtlCol="0" anchor="ctr"/>
          <a:lstStyle/>
          <a:p>
            <a:pPr marL="0" indent="0">
              <a:buNone/>
            </a:pPr>
            <a:r>
              <a:rPr lang="en-US" sz="950" b="1" kern="0" spc="120" dirty="0">
                <a:solidFill>
                  <a:srgbClr val="2D5A9E"/>
                </a:solidFill>
                <a:latin typeface="Segoe UI" pitchFamily="34" charset="0"/>
                <a:ea typeface="Segoe UI" pitchFamily="34" charset="-122"/>
                <a:cs typeface="Segoe UI" pitchFamily="34" charset="-120"/>
              </a:rPr>
              <a:t>SIETE SPRINTS DE DOS SEMANAS</a:t>
            </a:r>
            <a:endParaRPr lang="en-US" sz="950" dirty="0"/>
          </a:p>
        </p:txBody>
      </p:sp>
      <p:sp>
        <p:nvSpPr>
          <p:cNvPr id="21" name="Shape 18"/>
          <p:cNvSpPr/>
          <p:nvPr/>
        </p:nvSpPr>
        <p:spPr>
          <a:xfrm>
            <a:off x="658368" y="3127248"/>
            <a:ext cx="1444752" cy="1188720"/>
          </a:xfrm>
          <a:prstGeom prst="roundRect">
            <a:avLst>
              <a:gd name="adj" fmla="val 3846"/>
            </a:avLst>
          </a:prstGeom>
          <a:solidFill>
            <a:srgbClr val="FFFFFF"/>
          </a:solidFill>
          <a:ln w="12700">
            <a:solidFill>
              <a:srgbClr val="DCE4EE"/>
            </a:solidFill>
            <a:prstDash val="solid"/>
          </a:ln>
        </p:spPr>
      </p:sp>
      <p:sp>
        <p:nvSpPr>
          <p:cNvPr id="22" name="Text 19"/>
          <p:cNvSpPr/>
          <p:nvPr/>
        </p:nvSpPr>
        <p:spPr>
          <a:xfrm>
            <a:off x="658368" y="3236976"/>
            <a:ext cx="1444752" cy="274320"/>
          </a:xfrm>
          <a:prstGeom prst="rect">
            <a:avLst/>
          </a:prstGeom>
          <a:noFill/>
          <a:ln/>
        </p:spPr>
        <p:txBody>
          <a:bodyPr wrap="square" rtlCol="0" anchor="ctr"/>
          <a:lstStyle/>
          <a:p>
            <a:pPr marL="0" indent="0" algn="ctr">
              <a:buNone/>
            </a:pPr>
            <a:r>
              <a:rPr lang="en-US" sz="1300" b="1" dirty="0">
                <a:solidFill>
                  <a:srgbClr val="2D5A9E"/>
                </a:solidFill>
                <a:latin typeface="Segoe UI" pitchFamily="34" charset="0"/>
                <a:ea typeface="Segoe UI" pitchFamily="34" charset="-122"/>
                <a:cs typeface="Segoe UI" pitchFamily="34" charset="-120"/>
              </a:rPr>
              <a:t>S0</a:t>
            </a:r>
            <a:endParaRPr lang="en-US" sz="1300" dirty="0"/>
          </a:p>
        </p:txBody>
      </p:sp>
      <p:sp>
        <p:nvSpPr>
          <p:cNvPr id="23" name="Text 20"/>
          <p:cNvSpPr/>
          <p:nvPr/>
        </p:nvSpPr>
        <p:spPr>
          <a:xfrm>
            <a:off x="658368" y="3511296"/>
            <a:ext cx="1444752" cy="237744"/>
          </a:xfrm>
          <a:prstGeom prst="rect">
            <a:avLst/>
          </a:prstGeom>
          <a:noFill/>
          <a:ln/>
        </p:spPr>
        <p:txBody>
          <a:bodyPr wrap="square" rtlCol="0" anchor="ctr"/>
          <a:lstStyle/>
          <a:p>
            <a:pPr marL="0" indent="0" algn="ctr">
              <a:buNone/>
            </a:pPr>
            <a:r>
              <a:rPr lang="en-US" sz="900" dirty="0">
                <a:solidFill>
                  <a:srgbClr val="7A8AA0"/>
                </a:solidFill>
                <a:latin typeface="Consolas" pitchFamily="34" charset="0"/>
                <a:ea typeface="Consolas" pitchFamily="34" charset="-122"/>
                <a:cs typeface="Consolas" pitchFamily="34" charset="-120"/>
              </a:rPr>
              <a:t>S5–6</a:t>
            </a:r>
            <a:endParaRPr lang="en-US" sz="900" dirty="0"/>
          </a:p>
        </p:txBody>
      </p:sp>
      <p:sp>
        <p:nvSpPr>
          <p:cNvPr id="24" name="Text 21"/>
          <p:cNvSpPr/>
          <p:nvPr/>
        </p:nvSpPr>
        <p:spPr>
          <a:xfrm>
            <a:off x="749808" y="3767328"/>
            <a:ext cx="1261872" cy="502920"/>
          </a:xfrm>
          <a:prstGeom prst="rect">
            <a:avLst/>
          </a:prstGeom>
          <a:noFill/>
          <a:ln/>
        </p:spPr>
        <p:txBody>
          <a:bodyPr wrap="square" rtlCol="0" anchor="ctr"/>
          <a:lstStyle/>
          <a:p>
            <a:pPr marL="0" indent="0" algn="ctr">
              <a:lnSpc>
                <a:spcPct val="105000"/>
              </a:lnSpc>
              <a:buNone/>
            </a:pPr>
            <a:r>
              <a:rPr lang="en-US" sz="950" dirty="0">
                <a:solidFill>
                  <a:srgbClr val="47566B"/>
                </a:solidFill>
                <a:latin typeface="Segoe UI" pitchFamily="34" charset="0"/>
                <a:ea typeface="Segoe UI" pitchFamily="34" charset="-122"/>
                <a:cs typeface="Segoe UI" pitchFamily="34" charset="-120"/>
              </a:rPr>
              <a:t>Definición y entorno</a:t>
            </a:r>
            <a:endParaRPr lang="en-US" sz="950" dirty="0"/>
          </a:p>
        </p:txBody>
      </p:sp>
      <p:sp>
        <p:nvSpPr>
          <p:cNvPr id="25" name="Shape 22"/>
          <p:cNvSpPr/>
          <p:nvPr/>
        </p:nvSpPr>
        <p:spPr>
          <a:xfrm>
            <a:off x="2212848" y="3127248"/>
            <a:ext cx="1444752" cy="1188720"/>
          </a:xfrm>
          <a:prstGeom prst="roundRect">
            <a:avLst>
              <a:gd name="adj" fmla="val 3846"/>
            </a:avLst>
          </a:prstGeom>
          <a:solidFill>
            <a:srgbClr val="FFFFFF"/>
          </a:solidFill>
          <a:ln w="12700">
            <a:solidFill>
              <a:srgbClr val="DCE4EE"/>
            </a:solidFill>
            <a:prstDash val="solid"/>
          </a:ln>
        </p:spPr>
      </p:sp>
      <p:sp>
        <p:nvSpPr>
          <p:cNvPr id="26" name="Text 23"/>
          <p:cNvSpPr/>
          <p:nvPr/>
        </p:nvSpPr>
        <p:spPr>
          <a:xfrm>
            <a:off x="2212848" y="3236976"/>
            <a:ext cx="1444752" cy="274320"/>
          </a:xfrm>
          <a:prstGeom prst="rect">
            <a:avLst/>
          </a:prstGeom>
          <a:noFill/>
          <a:ln/>
        </p:spPr>
        <p:txBody>
          <a:bodyPr wrap="square" rtlCol="0" anchor="ctr"/>
          <a:lstStyle/>
          <a:p>
            <a:pPr marL="0" indent="0" algn="ctr">
              <a:buNone/>
            </a:pPr>
            <a:r>
              <a:rPr lang="en-US" sz="1300" b="1" dirty="0">
                <a:solidFill>
                  <a:srgbClr val="2D5A9E"/>
                </a:solidFill>
                <a:latin typeface="Segoe UI" pitchFamily="34" charset="0"/>
                <a:ea typeface="Segoe UI" pitchFamily="34" charset="-122"/>
                <a:cs typeface="Segoe UI" pitchFamily="34" charset="-120"/>
              </a:rPr>
              <a:t>S1</a:t>
            </a:r>
            <a:endParaRPr lang="en-US" sz="1300" dirty="0"/>
          </a:p>
        </p:txBody>
      </p:sp>
      <p:sp>
        <p:nvSpPr>
          <p:cNvPr id="27" name="Text 24"/>
          <p:cNvSpPr/>
          <p:nvPr/>
        </p:nvSpPr>
        <p:spPr>
          <a:xfrm>
            <a:off x="2212848" y="3511296"/>
            <a:ext cx="1444752" cy="237744"/>
          </a:xfrm>
          <a:prstGeom prst="rect">
            <a:avLst/>
          </a:prstGeom>
          <a:noFill/>
          <a:ln/>
        </p:spPr>
        <p:txBody>
          <a:bodyPr wrap="square" rtlCol="0" anchor="ctr"/>
          <a:lstStyle/>
          <a:p>
            <a:pPr marL="0" indent="0" algn="ctr">
              <a:buNone/>
            </a:pPr>
            <a:r>
              <a:rPr lang="en-US" sz="900" dirty="0">
                <a:solidFill>
                  <a:srgbClr val="7A8AA0"/>
                </a:solidFill>
                <a:latin typeface="Consolas" pitchFamily="34" charset="0"/>
                <a:ea typeface="Consolas" pitchFamily="34" charset="-122"/>
                <a:cs typeface="Consolas" pitchFamily="34" charset="-120"/>
              </a:rPr>
              <a:t>S7–8</a:t>
            </a:r>
            <a:endParaRPr lang="en-US" sz="900" dirty="0"/>
          </a:p>
        </p:txBody>
      </p:sp>
      <p:sp>
        <p:nvSpPr>
          <p:cNvPr id="28" name="Text 25"/>
          <p:cNvSpPr/>
          <p:nvPr/>
        </p:nvSpPr>
        <p:spPr>
          <a:xfrm>
            <a:off x="2304288" y="3767328"/>
            <a:ext cx="1261872" cy="502920"/>
          </a:xfrm>
          <a:prstGeom prst="rect">
            <a:avLst/>
          </a:prstGeom>
          <a:noFill/>
          <a:ln/>
        </p:spPr>
        <p:txBody>
          <a:bodyPr wrap="square" rtlCol="0" anchor="ctr"/>
          <a:lstStyle/>
          <a:p>
            <a:pPr marL="0" indent="0" algn="ctr">
              <a:lnSpc>
                <a:spcPct val="105000"/>
              </a:lnSpc>
              <a:buNone/>
            </a:pPr>
            <a:r>
              <a:rPr lang="en-US" sz="950" dirty="0">
                <a:solidFill>
                  <a:srgbClr val="47566B"/>
                </a:solidFill>
                <a:latin typeface="Segoe UI" pitchFamily="34" charset="0"/>
                <a:ea typeface="Segoe UI" pitchFamily="34" charset="-122"/>
                <a:cs typeface="Segoe UI" pitchFamily="34" charset="-120"/>
              </a:rPr>
              <a:t>Firestore y despliegue</a:t>
            </a:r>
            <a:endParaRPr lang="en-US" sz="950" dirty="0"/>
          </a:p>
        </p:txBody>
      </p:sp>
      <p:sp>
        <p:nvSpPr>
          <p:cNvPr id="29" name="Shape 26"/>
          <p:cNvSpPr/>
          <p:nvPr/>
        </p:nvSpPr>
        <p:spPr>
          <a:xfrm>
            <a:off x="3767328" y="3127248"/>
            <a:ext cx="1444752" cy="1188720"/>
          </a:xfrm>
          <a:prstGeom prst="roundRect">
            <a:avLst>
              <a:gd name="adj" fmla="val 3846"/>
            </a:avLst>
          </a:prstGeom>
          <a:solidFill>
            <a:srgbClr val="1A365D"/>
          </a:solidFill>
          <a:ln w="12700">
            <a:solidFill>
              <a:srgbClr val="1A365D"/>
            </a:solidFill>
            <a:prstDash val="solid"/>
          </a:ln>
        </p:spPr>
      </p:sp>
      <p:sp>
        <p:nvSpPr>
          <p:cNvPr id="30" name="Text 27"/>
          <p:cNvSpPr/>
          <p:nvPr/>
        </p:nvSpPr>
        <p:spPr>
          <a:xfrm>
            <a:off x="3767328" y="3236976"/>
            <a:ext cx="1444752" cy="274320"/>
          </a:xfrm>
          <a:prstGeom prst="rect">
            <a:avLst/>
          </a:prstGeom>
          <a:noFill/>
          <a:ln/>
        </p:spPr>
        <p:txBody>
          <a:bodyPr wrap="square" rtlCol="0" anchor="ctr"/>
          <a:lstStyle/>
          <a:p>
            <a:pPr marL="0" indent="0" algn="ctr">
              <a:buNone/>
            </a:pPr>
            <a:r>
              <a:rPr lang="en-US" sz="1300" b="1" dirty="0">
                <a:solidFill>
                  <a:srgbClr val="F5B041"/>
                </a:solidFill>
                <a:latin typeface="Segoe UI" pitchFamily="34" charset="0"/>
                <a:ea typeface="Segoe UI" pitchFamily="34" charset="-122"/>
                <a:cs typeface="Segoe UI" pitchFamily="34" charset="-120"/>
              </a:rPr>
              <a:t>S2</a:t>
            </a:r>
            <a:endParaRPr lang="en-US" sz="1300" dirty="0"/>
          </a:p>
        </p:txBody>
      </p:sp>
      <p:sp>
        <p:nvSpPr>
          <p:cNvPr id="31" name="Text 28"/>
          <p:cNvSpPr/>
          <p:nvPr/>
        </p:nvSpPr>
        <p:spPr>
          <a:xfrm>
            <a:off x="3767328" y="3511296"/>
            <a:ext cx="1444752" cy="237744"/>
          </a:xfrm>
          <a:prstGeom prst="rect">
            <a:avLst/>
          </a:prstGeom>
          <a:noFill/>
          <a:ln/>
        </p:spPr>
        <p:txBody>
          <a:bodyPr wrap="square" rtlCol="0" anchor="ctr"/>
          <a:lstStyle/>
          <a:p>
            <a:pPr marL="0" indent="0" algn="ctr">
              <a:buNone/>
            </a:pPr>
            <a:r>
              <a:rPr lang="en-US" sz="900" dirty="0">
                <a:solidFill>
                  <a:srgbClr val="C7D6EA"/>
                </a:solidFill>
                <a:latin typeface="Consolas" pitchFamily="34" charset="0"/>
                <a:ea typeface="Consolas" pitchFamily="34" charset="-122"/>
                <a:cs typeface="Consolas" pitchFamily="34" charset="-120"/>
              </a:rPr>
              <a:t>S9–10</a:t>
            </a:r>
            <a:endParaRPr lang="en-US" sz="900" dirty="0"/>
          </a:p>
        </p:txBody>
      </p:sp>
      <p:sp>
        <p:nvSpPr>
          <p:cNvPr id="32" name="Text 29"/>
          <p:cNvSpPr/>
          <p:nvPr/>
        </p:nvSpPr>
        <p:spPr>
          <a:xfrm>
            <a:off x="3858768" y="3767328"/>
            <a:ext cx="1261872" cy="502920"/>
          </a:xfrm>
          <a:prstGeom prst="rect">
            <a:avLst/>
          </a:prstGeom>
          <a:noFill/>
          <a:ln/>
        </p:spPr>
        <p:txBody>
          <a:bodyPr wrap="square" rtlCol="0" anchor="ctr"/>
          <a:lstStyle/>
          <a:p>
            <a:pPr marL="0" indent="0" algn="ctr">
              <a:lnSpc>
                <a:spcPct val="105000"/>
              </a:lnSpc>
              <a:buNone/>
            </a:pPr>
            <a:r>
              <a:rPr lang="en-US" sz="950" dirty="0">
                <a:solidFill>
                  <a:srgbClr val="FFFFFF"/>
                </a:solidFill>
                <a:latin typeface="Segoe UI" pitchFamily="34" charset="0"/>
                <a:ea typeface="Segoe UI" pitchFamily="34" charset="-122"/>
                <a:cs typeface="Segoe UI" pitchFamily="34" charset="-120"/>
              </a:rPr>
              <a:t>Seguridad crítica y app nativa</a:t>
            </a:r>
            <a:endParaRPr lang="en-US" sz="950" dirty="0"/>
          </a:p>
        </p:txBody>
      </p:sp>
      <p:sp>
        <p:nvSpPr>
          <p:cNvPr id="33" name="Shape 30"/>
          <p:cNvSpPr/>
          <p:nvPr/>
        </p:nvSpPr>
        <p:spPr>
          <a:xfrm>
            <a:off x="5321808" y="3127248"/>
            <a:ext cx="1444752" cy="1188720"/>
          </a:xfrm>
          <a:prstGeom prst="roundRect">
            <a:avLst>
              <a:gd name="adj" fmla="val 3846"/>
            </a:avLst>
          </a:prstGeom>
          <a:solidFill>
            <a:srgbClr val="FFFFFF"/>
          </a:solidFill>
          <a:ln w="12700">
            <a:solidFill>
              <a:srgbClr val="DCE4EE"/>
            </a:solidFill>
            <a:prstDash val="solid"/>
          </a:ln>
        </p:spPr>
      </p:sp>
      <p:sp>
        <p:nvSpPr>
          <p:cNvPr id="34" name="Text 31"/>
          <p:cNvSpPr/>
          <p:nvPr/>
        </p:nvSpPr>
        <p:spPr>
          <a:xfrm>
            <a:off x="5321808" y="3236976"/>
            <a:ext cx="1444752" cy="274320"/>
          </a:xfrm>
          <a:prstGeom prst="rect">
            <a:avLst/>
          </a:prstGeom>
          <a:noFill/>
          <a:ln/>
        </p:spPr>
        <p:txBody>
          <a:bodyPr wrap="square" rtlCol="0" anchor="ctr"/>
          <a:lstStyle/>
          <a:p>
            <a:pPr marL="0" indent="0" algn="ctr">
              <a:buNone/>
            </a:pPr>
            <a:r>
              <a:rPr lang="en-US" sz="1300" b="1" dirty="0">
                <a:solidFill>
                  <a:srgbClr val="2D5A9E"/>
                </a:solidFill>
                <a:latin typeface="Segoe UI" pitchFamily="34" charset="0"/>
                <a:ea typeface="Segoe UI" pitchFamily="34" charset="-122"/>
                <a:cs typeface="Segoe UI" pitchFamily="34" charset="-120"/>
              </a:rPr>
              <a:t>S3</a:t>
            </a:r>
            <a:endParaRPr lang="en-US" sz="1300" dirty="0"/>
          </a:p>
        </p:txBody>
      </p:sp>
      <p:sp>
        <p:nvSpPr>
          <p:cNvPr id="35" name="Text 32"/>
          <p:cNvSpPr/>
          <p:nvPr/>
        </p:nvSpPr>
        <p:spPr>
          <a:xfrm>
            <a:off x="5321808" y="3511296"/>
            <a:ext cx="1444752" cy="237744"/>
          </a:xfrm>
          <a:prstGeom prst="rect">
            <a:avLst/>
          </a:prstGeom>
          <a:noFill/>
          <a:ln/>
        </p:spPr>
        <p:txBody>
          <a:bodyPr wrap="square" rtlCol="0" anchor="ctr"/>
          <a:lstStyle/>
          <a:p>
            <a:pPr marL="0" indent="0" algn="ctr">
              <a:buNone/>
            </a:pPr>
            <a:r>
              <a:rPr lang="en-US" sz="900" dirty="0">
                <a:solidFill>
                  <a:srgbClr val="7A8AA0"/>
                </a:solidFill>
                <a:latin typeface="Consolas" pitchFamily="34" charset="0"/>
                <a:ea typeface="Consolas" pitchFamily="34" charset="-122"/>
                <a:cs typeface="Consolas" pitchFamily="34" charset="-120"/>
              </a:rPr>
              <a:t>S11–12</a:t>
            </a:r>
            <a:endParaRPr lang="en-US" sz="900" dirty="0"/>
          </a:p>
        </p:txBody>
      </p:sp>
      <p:sp>
        <p:nvSpPr>
          <p:cNvPr id="36" name="Text 33"/>
          <p:cNvSpPr/>
          <p:nvPr/>
        </p:nvSpPr>
        <p:spPr>
          <a:xfrm>
            <a:off x="5413248" y="3767328"/>
            <a:ext cx="1261872" cy="502920"/>
          </a:xfrm>
          <a:prstGeom prst="rect">
            <a:avLst/>
          </a:prstGeom>
          <a:noFill/>
          <a:ln/>
        </p:spPr>
        <p:txBody>
          <a:bodyPr wrap="square" rtlCol="0" anchor="ctr"/>
          <a:lstStyle/>
          <a:p>
            <a:pPr marL="0" indent="0" algn="ctr">
              <a:lnSpc>
                <a:spcPct val="105000"/>
              </a:lnSpc>
              <a:buNone/>
            </a:pPr>
            <a:r>
              <a:rPr lang="en-US" sz="950" dirty="0">
                <a:solidFill>
                  <a:srgbClr val="47566B"/>
                </a:solidFill>
                <a:latin typeface="Segoe UI" pitchFamily="34" charset="0"/>
                <a:ea typeface="Segoe UI" pitchFamily="34" charset="-122"/>
                <a:cs typeface="Segoe UI" pitchFamily="34" charset="-120"/>
              </a:rPr>
              <a:t>Seguridad y pruebas</a:t>
            </a:r>
            <a:endParaRPr lang="en-US" sz="950" dirty="0"/>
          </a:p>
        </p:txBody>
      </p:sp>
      <p:sp>
        <p:nvSpPr>
          <p:cNvPr id="37" name="Shape 34"/>
          <p:cNvSpPr/>
          <p:nvPr/>
        </p:nvSpPr>
        <p:spPr>
          <a:xfrm>
            <a:off x="6876288" y="3127248"/>
            <a:ext cx="1444752" cy="1188720"/>
          </a:xfrm>
          <a:prstGeom prst="roundRect">
            <a:avLst>
              <a:gd name="adj" fmla="val 3846"/>
            </a:avLst>
          </a:prstGeom>
          <a:solidFill>
            <a:srgbClr val="FFFFFF"/>
          </a:solidFill>
          <a:ln w="12700">
            <a:solidFill>
              <a:srgbClr val="DCE4EE"/>
            </a:solidFill>
            <a:prstDash val="solid"/>
          </a:ln>
        </p:spPr>
      </p:sp>
      <p:sp>
        <p:nvSpPr>
          <p:cNvPr id="38" name="Text 35"/>
          <p:cNvSpPr/>
          <p:nvPr/>
        </p:nvSpPr>
        <p:spPr>
          <a:xfrm>
            <a:off x="6876288" y="3236976"/>
            <a:ext cx="1444752" cy="274320"/>
          </a:xfrm>
          <a:prstGeom prst="rect">
            <a:avLst/>
          </a:prstGeom>
          <a:noFill/>
          <a:ln/>
        </p:spPr>
        <p:txBody>
          <a:bodyPr wrap="square" rtlCol="0" anchor="ctr"/>
          <a:lstStyle/>
          <a:p>
            <a:pPr marL="0" indent="0" algn="ctr">
              <a:buNone/>
            </a:pPr>
            <a:r>
              <a:rPr lang="en-US" sz="1300" b="1" dirty="0">
                <a:solidFill>
                  <a:srgbClr val="2D5A9E"/>
                </a:solidFill>
                <a:latin typeface="Segoe UI" pitchFamily="34" charset="0"/>
                <a:ea typeface="Segoe UI" pitchFamily="34" charset="-122"/>
                <a:cs typeface="Segoe UI" pitchFamily="34" charset="-120"/>
              </a:rPr>
              <a:t>S4</a:t>
            </a:r>
            <a:endParaRPr lang="en-US" sz="1300" dirty="0"/>
          </a:p>
        </p:txBody>
      </p:sp>
      <p:sp>
        <p:nvSpPr>
          <p:cNvPr id="39" name="Text 36"/>
          <p:cNvSpPr/>
          <p:nvPr/>
        </p:nvSpPr>
        <p:spPr>
          <a:xfrm>
            <a:off x="6876288" y="3511296"/>
            <a:ext cx="1444752" cy="237744"/>
          </a:xfrm>
          <a:prstGeom prst="rect">
            <a:avLst/>
          </a:prstGeom>
          <a:noFill/>
          <a:ln/>
        </p:spPr>
        <p:txBody>
          <a:bodyPr wrap="square" rtlCol="0" anchor="ctr"/>
          <a:lstStyle/>
          <a:p>
            <a:pPr marL="0" indent="0" algn="ctr">
              <a:buNone/>
            </a:pPr>
            <a:r>
              <a:rPr lang="en-US" sz="900" dirty="0">
                <a:solidFill>
                  <a:srgbClr val="7A8AA0"/>
                </a:solidFill>
                <a:latin typeface="Consolas" pitchFamily="34" charset="0"/>
                <a:ea typeface="Consolas" pitchFamily="34" charset="-122"/>
                <a:cs typeface="Consolas" pitchFamily="34" charset="-120"/>
              </a:rPr>
              <a:t>S13–14</a:t>
            </a:r>
            <a:endParaRPr lang="en-US" sz="900" dirty="0"/>
          </a:p>
        </p:txBody>
      </p:sp>
      <p:sp>
        <p:nvSpPr>
          <p:cNvPr id="40" name="Text 37"/>
          <p:cNvSpPr/>
          <p:nvPr/>
        </p:nvSpPr>
        <p:spPr>
          <a:xfrm>
            <a:off x="6967728" y="3767328"/>
            <a:ext cx="1261872" cy="502920"/>
          </a:xfrm>
          <a:prstGeom prst="rect">
            <a:avLst/>
          </a:prstGeom>
          <a:noFill/>
          <a:ln/>
        </p:spPr>
        <p:txBody>
          <a:bodyPr wrap="square" rtlCol="0" anchor="ctr"/>
          <a:lstStyle/>
          <a:p>
            <a:pPr marL="0" indent="0" algn="ctr">
              <a:lnSpc>
                <a:spcPct val="105000"/>
              </a:lnSpc>
              <a:buNone/>
            </a:pPr>
            <a:r>
              <a:rPr lang="en-US" sz="950" dirty="0">
                <a:solidFill>
                  <a:srgbClr val="47566B"/>
                </a:solidFill>
                <a:latin typeface="Segoe UI" pitchFamily="34" charset="0"/>
                <a:ea typeface="Segoe UI" pitchFamily="34" charset="-122"/>
                <a:cs typeface="Segoe UI" pitchFamily="34" charset="-120"/>
              </a:rPr>
              <a:t>Flujos e integración</a:t>
            </a:r>
            <a:endParaRPr lang="en-US" sz="950" dirty="0"/>
          </a:p>
        </p:txBody>
      </p:sp>
      <p:sp>
        <p:nvSpPr>
          <p:cNvPr id="41" name="Shape 38"/>
          <p:cNvSpPr/>
          <p:nvPr/>
        </p:nvSpPr>
        <p:spPr>
          <a:xfrm>
            <a:off x="8430768" y="3127248"/>
            <a:ext cx="1444752" cy="1188720"/>
          </a:xfrm>
          <a:prstGeom prst="roundRect">
            <a:avLst>
              <a:gd name="adj" fmla="val 3846"/>
            </a:avLst>
          </a:prstGeom>
          <a:solidFill>
            <a:srgbClr val="1A365D"/>
          </a:solidFill>
          <a:ln w="12700">
            <a:solidFill>
              <a:srgbClr val="1A365D"/>
            </a:solidFill>
            <a:prstDash val="solid"/>
          </a:ln>
        </p:spPr>
      </p:sp>
      <p:sp>
        <p:nvSpPr>
          <p:cNvPr id="42" name="Text 39"/>
          <p:cNvSpPr/>
          <p:nvPr/>
        </p:nvSpPr>
        <p:spPr>
          <a:xfrm>
            <a:off x="8430768" y="3236976"/>
            <a:ext cx="1444752" cy="274320"/>
          </a:xfrm>
          <a:prstGeom prst="rect">
            <a:avLst/>
          </a:prstGeom>
          <a:noFill/>
          <a:ln/>
        </p:spPr>
        <p:txBody>
          <a:bodyPr wrap="square" rtlCol="0" anchor="ctr"/>
          <a:lstStyle/>
          <a:p>
            <a:pPr marL="0" indent="0" algn="ctr">
              <a:buNone/>
            </a:pPr>
            <a:r>
              <a:rPr lang="en-US" sz="1300" b="1" dirty="0">
                <a:solidFill>
                  <a:srgbClr val="F5B041"/>
                </a:solidFill>
                <a:latin typeface="Segoe UI" pitchFamily="34" charset="0"/>
                <a:ea typeface="Segoe UI" pitchFamily="34" charset="-122"/>
                <a:cs typeface="Segoe UI" pitchFamily="34" charset="-120"/>
              </a:rPr>
              <a:t>S5</a:t>
            </a:r>
            <a:endParaRPr lang="en-US" sz="1300" dirty="0"/>
          </a:p>
        </p:txBody>
      </p:sp>
      <p:sp>
        <p:nvSpPr>
          <p:cNvPr id="43" name="Text 40"/>
          <p:cNvSpPr/>
          <p:nvPr/>
        </p:nvSpPr>
        <p:spPr>
          <a:xfrm>
            <a:off x="8430768" y="3511296"/>
            <a:ext cx="1444752" cy="237744"/>
          </a:xfrm>
          <a:prstGeom prst="rect">
            <a:avLst/>
          </a:prstGeom>
          <a:noFill/>
          <a:ln/>
        </p:spPr>
        <p:txBody>
          <a:bodyPr wrap="square" rtlCol="0" anchor="ctr"/>
          <a:lstStyle/>
          <a:p>
            <a:pPr marL="0" indent="0" algn="ctr">
              <a:buNone/>
            </a:pPr>
            <a:r>
              <a:rPr lang="en-US" sz="900" dirty="0">
                <a:solidFill>
                  <a:srgbClr val="C7D6EA"/>
                </a:solidFill>
                <a:latin typeface="Consolas" pitchFamily="34" charset="0"/>
                <a:ea typeface="Consolas" pitchFamily="34" charset="-122"/>
                <a:cs typeface="Consolas" pitchFamily="34" charset="-120"/>
              </a:rPr>
              <a:t>S15–16</a:t>
            </a:r>
            <a:endParaRPr lang="en-US" sz="900" dirty="0"/>
          </a:p>
        </p:txBody>
      </p:sp>
      <p:sp>
        <p:nvSpPr>
          <p:cNvPr id="44" name="Text 41"/>
          <p:cNvSpPr/>
          <p:nvPr/>
        </p:nvSpPr>
        <p:spPr>
          <a:xfrm>
            <a:off x="8522208" y="3767328"/>
            <a:ext cx="1261872" cy="502920"/>
          </a:xfrm>
          <a:prstGeom prst="rect">
            <a:avLst/>
          </a:prstGeom>
          <a:noFill/>
          <a:ln/>
        </p:spPr>
        <p:txBody>
          <a:bodyPr wrap="square" rtlCol="0" anchor="ctr"/>
          <a:lstStyle/>
          <a:p>
            <a:pPr marL="0" indent="0" algn="ctr">
              <a:lnSpc>
                <a:spcPct val="105000"/>
              </a:lnSpc>
              <a:buNone/>
            </a:pPr>
            <a:r>
              <a:rPr lang="en-US" sz="950" dirty="0">
                <a:solidFill>
                  <a:srgbClr val="FFFFFF"/>
                </a:solidFill>
                <a:latin typeface="Segoe UI" pitchFamily="34" charset="0"/>
                <a:ea typeface="Segoe UI" pitchFamily="34" charset="-122"/>
                <a:cs typeface="Segoe UI" pitchFamily="34" charset="-120"/>
              </a:rPr>
              <a:t>OpenAPI y contenedores</a:t>
            </a:r>
            <a:endParaRPr lang="en-US" sz="950" dirty="0"/>
          </a:p>
        </p:txBody>
      </p:sp>
      <p:sp>
        <p:nvSpPr>
          <p:cNvPr id="45" name="Shape 42"/>
          <p:cNvSpPr/>
          <p:nvPr/>
        </p:nvSpPr>
        <p:spPr>
          <a:xfrm>
            <a:off x="9985248" y="3127248"/>
            <a:ext cx="1444752" cy="1188720"/>
          </a:xfrm>
          <a:prstGeom prst="roundRect">
            <a:avLst>
              <a:gd name="adj" fmla="val 3846"/>
            </a:avLst>
          </a:prstGeom>
          <a:solidFill>
            <a:srgbClr val="FFFFFF"/>
          </a:solidFill>
          <a:ln w="12700">
            <a:solidFill>
              <a:srgbClr val="DCE4EE"/>
            </a:solidFill>
            <a:prstDash val="solid"/>
          </a:ln>
        </p:spPr>
      </p:sp>
      <p:sp>
        <p:nvSpPr>
          <p:cNvPr id="46" name="Text 43"/>
          <p:cNvSpPr/>
          <p:nvPr/>
        </p:nvSpPr>
        <p:spPr>
          <a:xfrm>
            <a:off x="9985248" y="3236976"/>
            <a:ext cx="1444752" cy="274320"/>
          </a:xfrm>
          <a:prstGeom prst="rect">
            <a:avLst/>
          </a:prstGeom>
          <a:noFill/>
          <a:ln/>
        </p:spPr>
        <p:txBody>
          <a:bodyPr wrap="square" rtlCol="0" anchor="ctr"/>
          <a:lstStyle/>
          <a:p>
            <a:pPr marL="0" indent="0" algn="ctr">
              <a:buNone/>
            </a:pPr>
            <a:r>
              <a:rPr lang="en-US" sz="1300" b="1" dirty="0">
                <a:solidFill>
                  <a:srgbClr val="2D5A9E"/>
                </a:solidFill>
                <a:latin typeface="Segoe UI" pitchFamily="34" charset="0"/>
                <a:ea typeface="Segoe UI" pitchFamily="34" charset="-122"/>
                <a:cs typeface="Segoe UI" pitchFamily="34" charset="-120"/>
              </a:rPr>
              <a:t>—</a:t>
            </a:r>
            <a:endParaRPr lang="en-US" sz="1300" dirty="0"/>
          </a:p>
        </p:txBody>
      </p:sp>
      <p:sp>
        <p:nvSpPr>
          <p:cNvPr id="47" name="Text 44"/>
          <p:cNvSpPr/>
          <p:nvPr/>
        </p:nvSpPr>
        <p:spPr>
          <a:xfrm>
            <a:off x="9985248" y="3511296"/>
            <a:ext cx="1444752" cy="237744"/>
          </a:xfrm>
          <a:prstGeom prst="rect">
            <a:avLst/>
          </a:prstGeom>
          <a:noFill/>
          <a:ln/>
        </p:spPr>
        <p:txBody>
          <a:bodyPr wrap="square" rtlCol="0" anchor="ctr"/>
          <a:lstStyle/>
          <a:p>
            <a:pPr marL="0" indent="0" algn="ctr">
              <a:buNone/>
            </a:pPr>
            <a:r>
              <a:rPr lang="en-US" sz="900" dirty="0">
                <a:solidFill>
                  <a:srgbClr val="7A8AA0"/>
                </a:solidFill>
                <a:latin typeface="Consolas" pitchFamily="34" charset="0"/>
                <a:ea typeface="Consolas" pitchFamily="34" charset="-122"/>
                <a:cs typeface="Consolas" pitchFamily="34" charset="-120"/>
              </a:rPr>
              <a:t>S17–18</a:t>
            </a:r>
            <a:endParaRPr lang="en-US" sz="900" dirty="0"/>
          </a:p>
        </p:txBody>
      </p:sp>
      <p:sp>
        <p:nvSpPr>
          <p:cNvPr id="48" name="Text 45"/>
          <p:cNvSpPr/>
          <p:nvPr/>
        </p:nvSpPr>
        <p:spPr>
          <a:xfrm>
            <a:off x="10076688" y="3767328"/>
            <a:ext cx="1261872" cy="502920"/>
          </a:xfrm>
          <a:prstGeom prst="rect">
            <a:avLst/>
          </a:prstGeom>
          <a:noFill/>
          <a:ln/>
        </p:spPr>
        <p:txBody>
          <a:bodyPr wrap="square" rtlCol="0" anchor="ctr"/>
          <a:lstStyle/>
          <a:p>
            <a:pPr marL="0" indent="0" algn="ctr">
              <a:lnSpc>
                <a:spcPct val="105000"/>
              </a:lnSpc>
              <a:buNone/>
            </a:pPr>
            <a:r>
              <a:rPr lang="en-US" sz="950" dirty="0">
                <a:solidFill>
                  <a:srgbClr val="47566B"/>
                </a:solidFill>
                <a:latin typeface="Segoe UI" pitchFamily="34" charset="0"/>
                <a:ea typeface="Segoe UI" pitchFamily="34" charset="-122"/>
                <a:cs typeface="Segoe UI" pitchFamily="34" charset="-120"/>
              </a:rPr>
              <a:t>Presentación final</a:t>
            </a:r>
            <a:endParaRPr lang="en-US" sz="950" dirty="0"/>
          </a:p>
        </p:txBody>
      </p:sp>
      <p:sp>
        <p:nvSpPr>
          <p:cNvPr id="49" name="Text 46"/>
          <p:cNvSpPr/>
          <p:nvPr/>
        </p:nvSpPr>
        <p:spPr>
          <a:xfrm>
            <a:off x="658368" y="4526280"/>
            <a:ext cx="5029200" cy="219456"/>
          </a:xfrm>
          <a:prstGeom prst="rect">
            <a:avLst/>
          </a:prstGeom>
          <a:noFill/>
          <a:ln/>
        </p:spPr>
        <p:txBody>
          <a:bodyPr wrap="square" rtlCol="0" anchor="ctr"/>
          <a:lstStyle/>
          <a:p>
            <a:pPr marL="0" indent="0">
              <a:buNone/>
            </a:pPr>
            <a:r>
              <a:rPr lang="en-US" sz="950" b="1" kern="0" spc="120" dirty="0">
                <a:solidFill>
                  <a:srgbClr val="2D5A9E"/>
                </a:solidFill>
                <a:latin typeface="Segoe UI" pitchFamily="34" charset="0"/>
                <a:ea typeface="Segoe UI" pitchFamily="34" charset="-122"/>
                <a:cs typeface="Segoe UI" pitchFamily="34" charset="-120"/>
              </a:rPr>
              <a:t>CEREMONIAS</a:t>
            </a:r>
            <a:endParaRPr lang="en-US" sz="950" dirty="0"/>
          </a:p>
        </p:txBody>
      </p:sp>
      <p:sp>
        <p:nvSpPr>
          <p:cNvPr id="50" name="Shape 47"/>
          <p:cNvSpPr/>
          <p:nvPr/>
        </p:nvSpPr>
        <p:spPr>
          <a:xfrm>
            <a:off x="658368" y="4773168"/>
            <a:ext cx="5257800" cy="1234440"/>
          </a:xfrm>
          <a:prstGeom prst="roundRect">
            <a:avLst>
              <a:gd name="adj" fmla="val 4444"/>
            </a:avLst>
          </a:prstGeom>
          <a:solidFill>
            <a:srgbClr val="FFFFFF"/>
          </a:solidFill>
          <a:ln w="12700">
            <a:solidFill>
              <a:srgbClr val="DCE4EE"/>
            </a:solidFill>
            <a:prstDash val="solid"/>
          </a:ln>
        </p:spPr>
      </p:sp>
      <p:sp>
        <p:nvSpPr>
          <p:cNvPr id="51" name="Text 48"/>
          <p:cNvSpPr/>
          <p:nvPr/>
        </p:nvSpPr>
        <p:spPr>
          <a:xfrm>
            <a:off x="1024128" y="4882896"/>
            <a:ext cx="4572000" cy="1188720"/>
          </a:xfrm>
          <a:prstGeom prst="rect">
            <a:avLst/>
          </a:prstGeom>
          <a:noFill/>
          <a:ln/>
        </p:spPr>
        <p:txBody>
          <a:bodyPr wrap="square" rtlCol="0" anchor="t"/>
          <a:lstStyle/>
          <a:p>
            <a:pPr marL="342900" indent="-342900">
              <a:lnSpc>
                <a:spcPct val="105000"/>
              </a:lnSpc>
              <a:buSzPct val="100000"/>
              <a:buChar char="•"/>
            </a:pPr>
            <a:r>
              <a:rPr lang="en-US" sz="1050" dirty="0">
                <a:solidFill>
                  <a:srgbClr val="47566B"/>
                </a:solidFill>
                <a:latin typeface="Segoe UI" pitchFamily="34" charset="0"/>
                <a:ea typeface="Segoe UI" pitchFamily="34" charset="-122"/>
                <a:cs typeface="Segoe UI" pitchFamily="34" charset="-120"/>
              </a:rPr>
              <a:t>Sprint Planning al inicio de cada sprint</a:t>
            </a:r>
            <a:endParaRPr lang="en-US" sz="1050" dirty="0"/>
          </a:p>
          <a:p>
            <a:pPr marL="342900" indent="-342900">
              <a:lnSpc>
                <a:spcPct val="105000"/>
              </a:lnSpc>
              <a:buSzPct val="100000"/>
              <a:buChar char="•"/>
            </a:pPr>
            <a:r>
              <a:rPr lang="en-US" sz="1050" dirty="0">
                <a:solidFill>
                  <a:srgbClr val="47566B"/>
                </a:solidFill>
                <a:latin typeface="Segoe UI" pitchFamily="34" charset="0"/>
                <a:ea typeface="Segoe UI" pitchFamily="34" charset="-122"/>
                <a:cs typeface="Segoe UI" pitchFamily="34" charset="-120"/>
              </a:rPr>
              <a:t>Daily asíncrona de coordinación</a:t>
            </a:r>
            <a:endParaRPr lang="en-US" sz="1050" dirty="0"/>
          </a:p>
          <a:p>
            <a:pPr marL="342900" indent="-342900">
              <a:lnSpc>
                <a:spcPct val="105000"/>
              </a:lnSpc>
              <a:buSzPct val="100000"/>
              <a:buChar char="•"/>
            </a:pPr>
            <a:r>
              <a:rPr lang="en-US" sz="1050" dirty="0">
                <a:solidFill>
                  <a:srgbClr val="47566B"/>
                </a:solidFill>
                <a:latin typeface="Segoe UI" pitchFamily="34" charset="0"/>
                <a:ea typeface="Segoe UI" pitchFamily="34" charset="-122"/>
                <a:cs typeface="Segoe UI" pitchFamily="34" charset="-120"/>
              </a:rPr>
              <a:t>Review al cierre, junto al reporte a la empresa</a:t>
            </a:r>
            <a:endParaRPr lang="en-US" sz="1050" dirty="0"/>
          </a:p>
          <a:p>
            <a:pPr marL="342900" indent="-342900">
              <a:lnSpc>
                <a:spcPct val="105000"/>
              </a:lnSpc>
              <a:buSzPct val="100000"/>
              <a:buChar char="•"/>
            </a:pPr>
            <a:r>
              <a:rPr lang="en-US" sz="1050" dirty="0">
                <a:solidFill>
                  <a:srgbClr val="47566B"/>
                </a:solidFill>
                <a:latin typeface="Segoe UI" pitchFamily="34" charset="0"/>
                <a:ea typeface="Segoe UI" pitchFamily="34" charset="-122"/>
                <a:cs typeface="Segoe UI" pitchFamily="34" charset="-120"/>
              </a:rPr>
              <a:t>Retrospective para ajustar el proceso</a:t>
            </a:r>
            <a:endParaRPr lang="en-US" sz="1050" dirty="0"/>
          </a:p>
        </p:txBody>
      </p:sp>
      <p:sp>
        <p:nvSpPr>
          <p:cNvPr id="52" name="Text 49"/>
          <p:cNvSpPr/>
          <p:nvPr/>
        </p:nvSpPr>
        <p:spPr>
          <a:xfrm>
            <a:off x="6281928" y="4526280"/>
            <a:ext cx="5029200" cy="219456"/>
          </a:xfrm>
          <a:prstGeom prst="rect">
            <a:avLst/>
          </a:prstGeom>
          <a:noFill/>
          <a:ln/>
        </p:spPr>
        <p:txBody>
          <a:bodyPr wrap="square" rtlCol="0" anchor="ctr"/>
          <a:lstStyle/>
          <a:p>
            <a:pPr marL="0" indent="0">
              <a:buNone/>
            </a:pPr>
            <a:r>
              <a:rPr lang="en-US" sz="950" b="1" kern="0" spc="120" dirty="0">
                <a:solidFill>
                  <a:srgbClr val="2D5A9E"/>
                </a:solidFill>
                <a:latin typeface="Segoe UI" pitchFamily="34" charset="0"/>
                <a:ea typeface="Segoe UI" pitchFamily="34" charset="-122"/>
                <a:cs typeface="Segoe UI" pitchFamily="34" charset="-120"/>
              </a:rPr>
              <a:t>GESTIÓN DEL TRABAJO</a:t>
            </a:r>
            <a:endParaRPr lang="en-US" sz="950" dirty="0"/>
          </a:p>
        </p:txBody>
      </p:sp>
      <p:sp>
        <p:nvSpPr>
          <p:cNvPr id="53" name="Shape 50"/>
          <p:cNvSpPr/>
          <p:nvPr/>
        </p:nvSpPr>
        <p:spPr>
          <a:xfrm>
            <a:off x="6281928" y="4773168"/>
            <a:ext cx="5257800" cy="1234440"/>
          </a:xfrm>
          <a:prstGeom prst="roundRect">
            <a:avLst>
              <a:gd name="adj" fmla="val 4444"/>
            </a:avLst>
          </a:prstGeom>
          <a:solidFill>
            <a:srgbClr val="FFFFFF"/>
          </a:solidFill>
          <a:ln w="12700">
            <a:solidFill>
              <a:srgbClr val="DCE4EE"/>
            </a:solidFill>
            <a:prstDash val="solid"/>
          </a:ln>
        </p:spPr>
      </p:sp>
      <p:sp>
        <p:nvSpPr>
          <p:cNvPr id="54" name="Text 51"/>
          <p:cNvSpPr/>
          <p:nvPr/>
        </p:nvSpPr>
        <p:spPr>
          <a:xfrm>
            <a:off x="6647688" y="4882896"/>
            <a:ext cx="4572000" cy="1188720"/>
          </a:xfrm>
          <a:prstGeom prst="rect">
            <a:avLst/>
          </a:prstGeom>
          <a:noFill/>
          <a:ln/>
        </p:spPr>
        <p:txBody>
          <a:bodyPr wrap="square" rtlCol="0" anchor="t"/>
          <a:lstStyle/>
          <a:p>
            <a:pPr marL="342900" indent="-342900">
              <a:lnSpc>
                <a:spcPct val="105000"/>
              </a:lnSpc>
              <a:buSzPct val="100000"/>
              <a:buChar char="•"/>
            </a:pPr>
            <a:r>
              <a:rPr lang="en-US" sz="1050" dirty="0">
                <a:solidFill>
                  <a:srgbClr val="47566B"/>
                </a:solidFill>
                <a:latin typeface="Segoe UI" pitchFamily="34" charset="0"/>
                <a:ea typeface="Segoe UI" pitchFamily="34" charset="-122"/>
                <a:cs typeface="Segoe UI" pitchFamily="34" charset="-120"/>
              </a:rPr>
              <a:t>Repositorio único en GitHub, una rama por funcionalidad</a:t>
            </a:r>
            <a:endParaRPr lang="en-US" sz="1050" dirty="0"/>
          </a:p>
          <a:p>
            <a:pPr marL="342900" indent="-342900">
              <a:lnSpc>
                <a:spcPct val="105000"/>
              </a:lnSpc>
              <a:buSzPct val="100000"/>
              <a:buChar char="•"/>
            </a:pPr>
            <a:r>
              <a:rPr lang="en-US" sz="1050" dirty="0">
                <a:solidFill>
                  <a:srgbClr val="47566B"/>
                </a:solidFill>
                <a:latin typeface="Segoe UI" pitchFamily="34" charset="0"/>
                <a:ea typeface="Segoe UI" pitchFamily="34" charset="-122"/>
                <a:cs typeface="Segoe UI" pitchFamily="34" charset="-120"/>
              </a:rPr>
              <a:t>Revisión cruzada antes de integrar</a:t>
            </a:r>
            <a:endParaRPr lang="en-US" sz="1050" dirty="0"/>
          </a:p>
          <a:p>
            <a:pPr marL="342900" indent="-342900">
              <a:lnSpc>
                <a:spcPct val="105000"/>
              </a:lnSpc>
              <a:buSzPct val="100000"/>
              <a:buChar char="•"/>
            </a:pPr>
            <a:r>
              <a:rPr lang="en-US" sz="1050" dirty="0">
                <a:solidFill>
                  <a:srgbClr val="47566B"/>
                </a:solidFill>
                <a:latin typeface="Segoe UI" pitchFamily="34" charset="0"/>
                <a:ea typeface="Segoe UI" pitchFamily="34" charset="-122"/>
                <a:cs typeface="Segoe UI" pitchFamily="34" charset="-120"/>
              </a:rPr>
              <a:t>El historial de commits es la evidencia de avance semanal</a:t>
            </a:r>
            <a:endParaRPr lang="en-US" sz="1050" dirty="0"/>
          </a:p>
          <a:p>
            <a:pPr marL="342900" indent="-342900">
              <a:lnSpc>
                <a:spcPct val="105000"/>
              </a:lnSpc>
              <a:buSzPct val="100000"/>
              <a:buChar char="•"/>
            </a:pPr>
            <a:r>
              <a:rPr lang="en-US" sz="1050" dirty="0">
                <a:solidFill>
                  <a:srgbClr val="47566B"/>
                </a:solidFill>
                <a:latin typeface="Segoe UI" pitchFamily="34" charset="0"/>
                <a:ea typeface="Segoe UI" pitchFamily="34" charset="-122"/>
                <a:cs typeface="Segoe UI" pitchFamily="34" charset="-120"/>
              </a:rPr>
              <a:t>Tablero de backlog compartido con la empresa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PLANIFICACIÓN TEMPORAL · 18 SEMANAS</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Cronograma y hitos de evaluación</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9 / 16</a:t>
            </a:r>
            <a:endParaRPr lang="en-US" sz="900" dirty="0"/>
          </a:p>
        </p:txBody>
      </p:sp>
      <p:sp>
        <p:nvSpPr>
          <p:cNvPr id="11" name="Text 8"/>
          <p:cNvSpPr/>
          <p:nvPr/>
        </p:nvSpPr>
        <p:spPr>
          <a:xfrm>
            <a:off x="3703320"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a:t>
            </a:r>
            <a:endParaRPr lang="en-US" sz="850" dirty="0"/>
          </a:p>
        </p:txBody>
      </p:sp>
      <p:sp>
        <p:nvSpPr>
          <p:cNvPr id="12" name="Text 9"/>
          <p:cNvSpPr/>
          <p:nvPr/>
        </p:nvSpPr>
        <p:spPr>
          <a:xfrm>
            <a:off x="4134917"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S2</a:t>
            </a:r>
            <a:endParaRPr lang="en-US" sz="850" dirty="0"/>
          </a:p>
        </p:txBody>
      </p:sp>
      <p:sp>
        <p:nvSpPr>
          <p:cNvPr id="13" name="Text 10"/>
          <p:cNvSpPr/>
          <p:nvPr/>
        </p:nvSpPr>
        <p:spPr>
          <a:xfrm>
            <a:off x="4566514"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S3</a:t>
            </a:r>
            <a:endParaRPr lang="en-US" sz="850" dirty="0"/>
          </a:p>
        </p:txBody>
      </p:sp>
      <p:sp>
        <p:nvSpPr>
          <p:cNvPr id="14" name="Text 11"/>
          <p:cNvSpPr/>
          <p:nvPr/>
        </p:nvSpPr>
        <p:spPr>
          <a:xfrm>
            <a:off x="4998110"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S4</a:t>
            </a:r>
            <a:endParaRPr lang="en-US" sz="850" dirty="0"/>
          </a:p>
        </p:txBody>
      </p:sp>
      <p:sp>
        <p:nvSpPr>
          <p:cNvPr id="15" name="Text 12"/>
          <p:cNvSpPr/>
          <p:nvPr/>
        </p:nvSpPr>
        <p:spPr>
          <a:xfrm>
            <a:off x="5429707"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S5</a:t>
            </a:r>
            <a:endParaRPr lang="en-US" sz="850" dirty="0"/>
          </a:p>
        </p:txBody>
      </p:sp>
      <p:sp>
        <p:nvSpPr>
          <p:cNvPr id="16" name="Text 13"/>
          <p:cNvSpPr/>
          <p:nvPr/>
        </p:nvSpPr>
        <p:spPr>
          <a:xfrm>
            <a:off x="5861304"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S6</a:t>
            </a:r>
            <a:endParaRPr lang="en-US" sz="850" dirty="0"/>
          </a:p>
        </p:txBody>
      </p:sp>
      <p:sp>
        <p:nvSpPr>
          <p:cNvPr id="17" name="Text 14"/>
          <p:cNvSpPr/>
          <p:nvPr/>
        </p:nvSpPr>
        <p:spPr>
          <a:xfrm>
            <a:off x="6292901"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S7</a:t>
            </a:r>
            <a:endParaRPr lang="en-US" sz="850" dirty="0"/>
          </a:p>
        </p:txBody>
      </p:sp>
      <p:sp>
        <p:nvSpPr>
          <p:cNvPr id="18" name="Text 15"/>
          <p:cNvSpPr/>
          <p:nvPr/>
        </p:nvSpPr>
        <p:spPr>
          <a:xfrm>
            <a:off x="6724498"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S8</a:t>
            </a:r>
            <a:endParaRPr lang="en-US" sz="850" dirty="0"/>
          </a:p>
        </p:txBody>
      </p:sp>
      <p:sp>
        <p:nvSpPr>
          <p:cNvPr id="19" name="Text 16"/>
          <p:cNvSpPr/>
          <p:nvPr/>
        </p:nvSpPr>
        <p:spPr>
          <a:xfrm>
            <a:off x="7156094"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S9</a:t>
            </a:r>
            <a:endParaRPr lang="en-US" sz="850" dirty="0"/>
          </a:p>
        </p:txBody>
      </p:sp>
      <p:sp>
        <p:nvSpPr>
          <p:cNvPr id="20" name="Text 17"/>
          <p:cNvSpPr/>
          <p:nvPr/>
        </p:nvSpPr>
        <p:spPr>
          <a:xfrm>
            <a:off x="7587691"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S10</a:t>
            </a:r>
            <a:endParaRPr lang="en-US" sz="850" dirty="0"/>
          </a:p>
        </p:txBody>
      </p:sp>
      <p:sp>
        <p:nvSpPr>
          <p:cNvPr id="21" name="Text 18"/>
          <p:cNvSpPr/>
          <p:nvPr/>
        </p:nvSpPr>
        <p:spPr>
          <a:xfrm>
            <a:off x="8019288"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S11</a:t>
            </a:r>
            <a:endParaRPr lang="en-US" sz="850" dirty="0"/>
          </a:p>
        </p:txBody>
      </p:sp>
      <p:sp>
        <p:nvSpPr>
          <p:cNvPr id="22" name="Text 19"/>
          <p:cNvSpPr/>
          <p:nvPr/>
        </p:nvSpPr>
        <p:spPr>
          <a:xfrm>
            <a:off x="8450885"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S12</a:t>
            </a:r>
            <a:endParaRPr lang="en-US" sz="850" dirty="0"/>
          </a:p>
        </p:txBody>
      </p:sp>
      <p:sp>
        <p:nvSpPr>
          <p:cNvPr id="23" name="Text 20"/>
          <p:cNvSpPr/>
          <p:nvPr/>
        </p:nvSpPr>
        <p:spPr>
          <a:xfrm>
            <a:off x="8882482"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S13</a:t>
            </a:r>
            <a:endParaRPr lang="en-US" sz="850" dirty="0"/>
          </a:p>
        </p:txBody>
      </p:sp>
      <p:sp>
        <p:nvSpPr>
          <p:cNvPr id="24" name="Text 21"/>
          <p:cNvSpPr/>
          <p:nvPr/>
        </p:nvSpPr>
        <p:spPr>
          <a:xfrm>
            <a:off x="9314078"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S14</a:t>
            </a:r>
            <a:endParaRPr lang="en-US" sz="850" dirty="0"/>
          </a:p>
        </p:txBody>
      </p:sp>
      <p:sp>
        <p:nvSpPr>
          <p:cNvPr id="25" name="Text 22"/>
          <p:cNvSpPr/>
          <p:nvPr/>
        </p:nvSpPr>
        <p:spPr>
          <a:xfrm>
            <a:off x="9745675"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S15</a:t>
            </a:r>
            <a:endParaRPr lang="en-US" sz="850" dirty="0"/>
          </a:p>
        </p:txBody>
      </p:sp>
      <p:sp>
        <p:nvSpPr>
          <p:cNvPr id="26" name="Text 23"/>
          <p:cNvSpPr/>
          <p:nvPr/>
        </p:nvSpPr>
        <p:spPr>
          <a:xfrm>
            <a:off x="10177272"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S16</a:t>
            </a:r>
            <a:endParaRPr lang="en-US" sz="850" dirty="0"/>
          </a:p>
        </p:txBody>
      </p:sp>
      <p:sp>
        <p:nvSpPr>
          <p:cNvPr id="27" name="Text 24"/>
          <p:cNvSpPr/>
          <p:nvPr/>
        </p:nvSpPr>
        <p:spPr>
          <a:xfrm>
            <a:off x="10608869"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S17</a:t>
            </a:r>
            <a:endParaRPr lang="en-US" sz="850" dirty="0"/>
          </a:p>
        </p:txBody>
      </p:sp>
      <p:sp>
        <p:nvSpPr>
          <p:cNvPr id="28" name="Text 25"/>
          <p:cNvSpPr/>
          <p:nvPr/>
        </p:nvSpPr>
        <p:spPr>
          <a:xfrm>
            <a:off x="11040466" y="1609344"/>
            <a:ext cx="431597" cy="237744"/>
          </a:xfrm>
          <a:prstGeom prst="rect">
            <a:avLst/>
          </a:prstGeom>
          <a:noFill/>
          <a:ln/>
        </p:spPr>
        <p:txBody>
          <a:bodyPr wrap="square" rtlCol="0" anchor="ctr"/>
          <a:lstStyle/>
          <a:p>
            <a:pPr marL="0" indent="0" algn="ctr">
              <a:buNone/>
            </a:pPr>
            <a:r>
              <a:rPr lang="en-US" sz="850" dirty="0">
                <a:solidFill>
                  <a:srgbClr val="7A8AA0"/>
                </a:solidFill>
                <a:latin typeface="Segoe UI" pitchFamily="34" charset="0"/>
                <a:ea typeface="Segoe UI" pitchFamily="34" charset="-122"/>
                <a:cs typeface="Segoe UI" pitchFamily="34" charset="-120"/>
              </a:rPr>
              <a:t>S18</a:t>
            </a:r>
            <a:endParaRPr lang="en-US" sz="850" dirty="0"/>
          </a:p>
        </p:txBody>
      </p:sp>
      <p:sp>
        <p:nvSpPr>
          <p:cNvPr id="29" name="Shape 26"/>
          <p:cNvSpPr/>
          <p:nvPr/>
        </p:nvSpPr>
        <p:spPr>
          <a:xfrm>
            <a:off x="3703320" y="1883664"/>
            <a:ext cx="7768742" cy="10973"/>
          </a:xfrm>
          <a:prstGeom prst="rect">
            <a:avLst/>
          </a:prstGeom>
          <a:solidFill>
            <a:srgbClr val="DCE4EE"/>
          </a:solidFill>
          <a:ln/>
        </p:spPr>
      </p:sp>
      <p:sp>
        <p:nvSpPr>
          <p:cNvPr id="30" name="Shape 27"/>
          <p:cNvSpPr/>
          <p:nvPr/>
        </p:nvSpPr>
        <p:spPr>
          <a:xfrm>
            <a:off x="658368" y="1920240"/>
            <a:ext cx="10863072" cy="303581"/>
          </a:xfrm>
          <a:prstGeom prst="rect">
            <a:avLst/>
          </a:prstGeom>
          <a:solidFill>
            <a:srgbClr val="F1F5FA"/>
          </a:solidFill>
          <a:ln/>
        </p:spPr>
      </p:sp>
      <p:sp>
        <p:nvSpPr>
          <p:cNvPr id="31" name="Text 28"/>
          <p:cNvSpPr/>
          <p:nvPr/>
        </p:nvSpPr>
        <p:spPr>
          <a:xfrm>
            <a:off x="777240" y="1938528"/>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Definición del proyecto</a:t>
            </a:r>
            <a:endParaRPr lang="en-US" sz="1050" dirty="0"/>
          </a:p>
        </p:txBody>
      </p:sp>
      <p:sp>
        <p:nvSpPr>
          <p:cNvPr id="32" name="Shape 29"/>
          <p:cNvSpPr/>
          <p:nvPr/>
        </p:nvSpPr>
        <p:spPr>
          <a:xfrm>
            <a:off x="3730752" y="1965960"/>
            <a:ext cx="2103120" cy="219456"/>
          </a:xfrm>
          <a:prstGeom prst="roundRect">
            <a:avLst>
              <a:gd name="adj" fmla="val 16667"/>
            </a:avLst>
          </a:prstGeom>
          <a:solidFill>
            <a:srgbClr val="7A8AA0"/>
          </a:solidFill>
          <a:ln/>
        </p:spPr>
      </p:sp>
      <p:sp>
        <p:nvSpPr>
          <p:cNvPr id="33" name="Text 30"/>
          <p:cNvSpPr/>
          <p:nvPr/>
        </p:nvSpPr>
        <p:spPr>
          <a:xfrm>
            <a:off x="777240" y="2260397"/>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Configuración del entorno</a:t>
            </a:r>
            <a:endParaRPr lang="en-US" sz="1050" dirty="0"/>
          </a:p>
        </p:txBody>
      </p:sp>
      <p:sp>
        <p:nvSpPr>
          <p:cNvPr id="34" name="Shape 31"/>
          <p:cNvSpPr/>
          <p:nvPr/>
        </p:nvSpPr>
        <p:spPr>
          <a:xfrm>
            <a:off x="5457139" y="2287829"/>
            <a:ext cx="808330" cy="219456"/>
          </a:xfrm>
          <a:prstGeom prst="roundRect">
            <a:avLst>
              <a:gd name="adj" fmla="val 16667"/>
            </a:avLst>
          </a:prstGeom>
          <a:solidFill>
            <a:srgbClr val="2D5A9E"/>
          </a:solidFill>
          <a:ln/>
        </p:spPr>
      </p:sp>
      <p:sp>
        <p:nvSpPr>
          <p:cNvPr id="35" name="Shape 32"/>
          <p:cNvSpPr/>
          <p:nvPr/>
        </p:nvSpPr>
        <p:spPr>
          <a:xfrm>
            <a:off x="658368" y="2563978"/>
            <a:ext cx="10863072" cy="303581"/>
          </a:xfrm>
          <a:prstGeom prst="rect">
            <a:avLst/>
          </a:prstGeom>
          <a:solidFill>
            <a:srgbClr val="F1F5FA"/>
          </a:solidFill>
          <a:ln/>
        </p:spPr>
      </p:sp>
      <p:sp>
        <p:nvSpPr>
          <p:cNvPr id="36" name="Text 33"/>
          <p:cNvSpPr/>
          <p:nvPr/>
        </p:nvSpPr>
        <p:spPr>
          <a:xfrm>
            <a:off x="777240" y="2582266"/>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Migración a Cloud Firestore</a:t>
            </a:r>
            <a:endParaRPr lang="en-US" sz="1050" dirty="0"/>
          </a:p>
        </p:txBody>
      </p:sp>
      <p:sp>
        <p:nvSpPr>
          <p:cNvPr id="37" name="Shape 34"/>
          <p:cNvSpPr/>
          <p:nvPr/>
        </p:nvSpPr>
        <p:spPr>
          <a:xfrm>
            <a:off x="6320333" y="2609698"/>
            <a:ext cx="808330" cy="219456"/>
          </a:xfrm>
          <a:prstGeom prst="roundRect">
            <a:avLst>
              <a:gd name="adj" fmla="val 16667"/>
            </a:avLst>
          </a:prstGeom>
          <a:solidFill>
            <a:srgbClr val="2D5A9E"/>
          </a:solidFill>
          <a:ln/>
        </p:spPr>
      </p:sp>
      <p:sp>
        <p:nvSpPr>
          <p:cNvPr id="38" name="Text 35"/>
          <p:cNvSpPr/>
          <p:nvPr/>
        </p:nvSpPr>
        <p:spPr>
          <a:xfrm>
            <a:off x="777240" y="2904134"/>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Despliegue continuo</a:t>
            </a:r>
            <a:endParaRPr lang="en-US" sz="1050" dirty="0"/>
          </a:p>
        </p:txBody>
      </p:sp>
      <p:sp>
        <p:nvSpPr>
          <p:cNvPr id="39" name="Shape 36"/>
          <p:cNvSpPr/>
          <p:nvPr/>
        </p:nvSpPr>
        <p:spPr>
          <a:xfrm>
            <a:off x="6320333" y="2931566"/>
            <a:ext cx="808330" cy="219456"/>
          </a:xfrm>
          <a:prstGeom prst="roundRect">
            <a:avLst>
              <a:gd name="adj" fmla="val 16667"/>
            </a:avLst>
          </a:prstGeom>
          <a:solidFill>
            <a:srgbClr val="2D5A9E"/>
          </a:solidFill>
          <a:ln/>
        </p:spPr>
      </p:sp>
      <p:sp>
        <p:nvSpPr>
          <p:cNvPr id="40" name="Shape 37"/>
          <p:cNvSpPr/>
          <p:nvPr/>
        </p:nvSpPr>
        <p:spPr>
          <a:xfrm>
            <a:off x="658368" y="3207715"/>
            <a:ext cx="10863072" cy="303581"/>
          </a:xfrm>
          <a:prstGeom prst="rect">
            <a:avLst/>
          </a:prstGeom>
          <a:solidFill>
            <a:srgbClr val="F1F5FA"/>
          </a:solidFill>
          <a:ln/>
        </p:spPr>
      </p:sp>
      <p:sp>
        <p:nvSpPr>
          <p:cNvPr id="41" name="Text 38"/>
          <p:cNvSpPr/>
          <p:nvPr/>
        </p:nvSpPr>
        <p:spPr>
          <a:xfrm>
            <a:off x="777240" y="3226003"/>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Vulnerabilidades críticas</a:t>
            </a:r>
            <a:endParaRPr lang="en-US" sz="1050" dirty="0"/>
          </a:p>
        </p:txBody>
      </p:sp>
      <p:sp>
        <p:nvSpPr>
          <p:cNvPr id="42" name="Shape 39"/>
          <p:cNvSpPr/>
          <p:nvPr/>
        </p:nvSpPr>
        <p:spPr>
          <a:xfrm>
            <a:off x="7183526" y="3253435"/>
            <a:ext cx="808330" cy="219456"/>
          </a:xfrm>
          <a:prstGeom prst="roundRect">
            <a:avLst>
              <a:gd name="adj" fmla="val 16667"/>
            </a:avLst>
          </a:prstGeom>
          <a:solidFill>
            <a:srgbClr val="B3261E"/>
          </a:solidFill>
          <a:ln/>
        </p:spPr>
      </p:sp>
      <p:sp>
        <p:nvSpPr>
          <p:cNvPr id="43" name="Text 40"/>
          <p:cNvSpPr/>
          <p:nvPr/>
        </p:nvSpPr>
        <p:spPr>
          <a:xfrm>
            <a:off x="777240" y="3547872"/>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Configuración nativa de la app</a:t>
            </a:r>
            <a:endParaRPr lang="en-US" sz="1050" dirty="0"/>
          </a:p>
        </p:txBody>
      </p:sp>
      <p:sp>
        <p:nvSpPr>
          <p:cNvPr id="44" name="Shape 41"/>
          <p:cNvSpPr/>
          <p:nvPr/>
        </p:nvSpPr>
        <p:spPr>
          <a:xfrm>
            <a:off x="7183526" y="3575304"/>
            <a:ext cx="808330" cy="219456"/>
          </a:xfrm>
          <a:prstGeom prst="roundRect">
            <a:avLst>
              <a:gd name="adj" fmla="val 16667"/>
            </a:avLst>
          </a:prstGeom>
          <a:solidFill>
            <a:srgbClr val="2D5A9E"/>
          </a:solidFill>
          <a:ln/>
        </p:spPr>
      </p:sp>
      <p:sp>
        <p:nvSpPr>
          <p:cNvPr id="45" name="Shape 42"/>
          <p:cNvSpPr/>
          <p:nvPr/>
        </p:nvSpPr>
        <p:spPr>
          <a:xfrm>
            <a:off x="658368" y="3851453"/>
            <a:ext cx="10863072" cy="303581"/>
          </a:xfrm>
          <a:prstGeom prst="rect">
            <a:avLst/>
          </a:prstGeom>
          <a:solidFill>
            <a:srgbClr val="F1F5FA"/>
          </a:solidFill>
          <a:ln/>
        </p:spPr>
      </p:sp>
      <p:sp>
        <p:nvSpPr>
          <p:cNvPr id="46" name="Text 43"/>
          <p:cNvSpPr/>
          <p:nvPr/>
        </p:nvSpPr>
        <p:spPr>
          <a:xfrm>
            <a:off x="777240" y="3869741"/>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Vulnerabilidades restantes</a:t>
            </a:r>
            <a:endParaRPr lang="en-US" sz="1050" dirty="0"/>
          </a:p>
        </p:txBody>
      </p:sp>
      <p:sp>
        <p:nvSpPr>
          <p:cNvPr id="47" name="Shape 44"/>
          <p:cNvSpPr/>
          <p:nvPr/>
        </p:nvSpPr>
        <p:spPr>
          <a:xfrm>
            <a:off x="8046720" y="3897173"/>
            <a:ext cx="808330" cy="219456"/>
          </a:xfrm>
          <a:prstGeom prst="roundRect">
            <a:avLst>
              <a:gd name="adj" fmla="val 16667"/>
            </a:avLst>
          </a:prstGeom>
          <a:solidFill>
            <a:srgbClr val="B3261E"/>
          </a:solidFill>
          <a:ln/>
        </p:spPr>
      </p:sp>
      <p:sp>
        <p:nvSpPr>
          <p:cNvPr id="48" name="Text 45"/>
          <p:cNvSpPr/>
          <p:nvPr/>
        </p:nvSpPr>
        <p:spPr>
          <a:xfrm>
            <a:off x="777240" y="4191610"/>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Pruebas automatizadas</a:t>
            </a:r>
            <a:endParaRPr lang="en-US" sz="1050" dirty="0"/>
          </a:p>
        </p:txBody>
      </p:sp>
      <p:sp>
        <p:nvSpPr>
          <p:cNvPr id="49" name="Shape 46"/>
          <p:cNvSpPr/>
          <p:nvPr/>
        </p:nvSpPr>
        <p:spPr>
          <a:xfrm>
            <a:off x="8046720" y="4219042"/>
            <a:ext cx="808330" cy="219456"/>
          </a:xfrm>
          <a:prstGeom prst="roundRect">
            <a:avLst>
              <a:gd name="adj" fmla="val 16667"/>
            </a:avLst>
          </a:prstGeom>
          <a:solidFill>
            <a:srgbClr val="10B981"/>
          </a:solidFill>
          <a:ln/>
        </p:spPr>
      </p:sp>
      <p:sp>
        <p:nvSpPr>
          <p:cNvPr id="50" name="Shape 47"/>
          <p:cNvSpPr/>
          <p:nvPr/>
        </p:nvSpPr>
        <p:spPr>
          <a:xfrm>
            <a:off x="658368" y="4495190"/>
            <a:ext cx="10863072" cy="303581"/>
          </a:xfrm>
          <a:prstGeom prst="rect">
            <a:avLst/>
          </a:prstGeom>
          <a:solidFill>
            <a:srgbClr val="F1F5FA"/>
          </a:solidFill>
          <a:ln/>
        </p:spPr>
      </p:sp>
      <p:sp>
        <p:nvSpPr>
          <p:cNvPr id="51" name="Text 48"/>
          <p:cNvSpPr/>
          <p:nvPr/>
        </p:nvSpPr>
        <p:spPr>
          <a:xfrm>
            <a:off x="777240" y="4513478"/>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Cierre de flujos e integración</a:t>
            </a:r>
            <a:endParaRPr lang="en-US" sz="1050" dirty="0"/>
          </a:p>
        </p:txBody>
      </p:sp>
      <p:sp>
        <p:nvSpPr>
          <p:cNvPr id="52" name="Shape 49"/>
          <p:cNvSpPr/>
          <p:nvPr/>
        </p:nvSpPr>
        <p:spPr>
          <a:xfrm>
            <a:off x="8909914" y="4540910"/>
            <a:ext cx="808330" cy="219456"/>
          </a:xfrm>
          <a:prstGeom prst="roundRect">
            <a:avLst>
              <a:gd name="adj" fmla="val 16667"/>
            </a:avLst>
          </a:prstGeom>
          <a:solidFill>
            <a:srgbClr val="10B981"/>
          </a:solidFill>
          <a:ln/>
        </p:spPr>
      </p:sp>
      <p:sp>
        <p:nvSpPr>
          <p:cNvPr id="53" name="Text 50"/>
          <p:cNvSpPr/>
          <p:nvPr/>
        </p:nvSpPr>
        <p:spPr>
          <a:xfrm>
            <a:off x="777240" y="4835347"/>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OpenAPI y contenedores</a:t>
            </a:r>
            <a:endParaRPr lang="en-US" sz="1050" dirty="0"/>
          </a:p>
        </p:txBody>
      </p:sp>
      <p:sp>
        <p:nvSpPr>
          <p:cNvPr id="54" name="Shape 51"/>
          <p:cNvSpPr/>
          <p:nvPr/>
        </p:nvSpPr>
        <p:spPr>
          <a:xfrm>
            <a:off x="9773107" y="4862779"/>
            <a:ext cx="808330" cy="219456"/>
          </a:xfrm>
          <a:prstGeom prst="roundRect">
            <a:avLst>
              <a:gd name="adj" fmla="val 16667"/>
            </a:avLst>
          </a:prstGeom>
          <a:solidFill>
            <a:srgbClr val="F5B041"/>
          </a:solidFill>
          <a:ln/>
        </p:spPr>
      </p:sp>
      <p:sp>
        <p:nvSpPr>
          <p:cNvPr id="55" name="Shape 52"/>
          <p:cNvSpPr/>
          <p:nvPr/>
        </p:nvSpPr>
        <p:spPr>
          <a:xfrm>
            <a:off x="658368" y="5138928"/>
            <a:ext cx="10863072" cy="303581"/>
          </a:xfrm>
          <a:prstGeom prst="rect">
            <a:avLst/>
          </a:prstGeom>
          <a:solidFill>
            <a:srgbClr val="F1F5FA"/>
          </a:solidFill>
          <a:ln/>
        </p:spPr>
      </p:sp>
      <p:sp>
        <p:nvSpPr>
          <p:cNvPr id="56" name="Text 53"/>
          <p:cNvSpPr/>
          <p:nvPr/>
        </p:nvSpPr>
        <p:spPr>
          <a:xfrm>
            <a:off x="777240" y="5157216"/>
            <a:ext cx="2834640" cy="274320"/>
          </a:xfrm>
          <a:prstGeom prst="rect">
            <a:avLst/>
          </a:prstGeom>
          <a:noFill/>
          <a:ln/>
        </p:spPr>
        <p:txBody>
          <a:bodyPr wrap="square" rtlCol="0" anchor="ctr"/>
          <a:lstStyle/>
          <a:p>
            <a:pPr marL="0" indent="0">
              <a:buNone/>
            </a:pPr>
            <a:r>
              <a:rPr lang="en-US" sz="1050" dirty="0">
                <a:solidFill>
                  <a:srgbClr val="1E293B"/>
                </a:solidFill>
                <a:latin typeface="Segoe UI" pitchFamily="34" charset="0"/>
                <a:ea typeface="Segoe UI" pitchFamily="34" charset="-122"/>
                <a:cs typeface="Segoe UI" pitchFamily="34" charset="-120"/>
              </a:rPr>
              <a:t>Documentación y defensa</a:t>
            </a:r>
            <a:endParaRPr lang="en-US" sz="1050" dirty="0"/>
          </a:p>
        </p:txBody>
      </p:sp>
      <p:sp>
        <p:nvSpPr>
          <p:cNvPr id="57" name="Shape 54"/>
          <p:cNvSpPr/>
          <p:nvPr/>
        </p:nvSpPr>
        <p:spPr>
          <a:xfrm>
            <a:off x="10636301" y="5184648"/>
            <a:ext cx="808330" cy="219456"/>
          </a:xfrm>
          <a:prstGeom prst="roundRect">
            <a:avLst>
              <a:gd name="adj" fmla="val 16667"/>
            </a:avLst>
          </a:prstGeom>
          <a:solidFill>
            <a:srgbClr val="1A365D"/>
          </a:solidFill>
          <a:ln/>
        </p:spPr>
      </p:sp>
      <p:sp>
        <p:nvSpPr>
          <p:cNvPr id="58" name="Shape 55"/>
          <p:cNvSpPr/>
          <p:nvPr/>
        </p:nvSpPr>
        <p:spPr>
          <a:xfrm>
            <a:off x="5213909" y="1883664"/>
            <a:ext cx="16459" cy="3657600"/>
          </a:xfrm>
          <a:prstGeom prst="rect">
            <a:avLst/>
          </a:prstGeom>
          <a:solidFill>
            <a:srgbClr val="F5B041"/>
          </a:solidFill>
          <a:ln/>
        </p:spPr>
      </p:sp>
      <p:sp>
        <p:nvSpPr>
          <p:cNvPr id="59" name="Text 56"/>
          <p:cNvSpPr/>
          <p:nvPr/>
        </p:nvSpPr>
        <p:spPr>
          <a:xfrm>
            <a:off x="4528109" y="5559552"/>
            <a:ext cx="1371600" cy="256032"/>
          </a:xfrm>
          <a:prstGeom prst="rect">
            <a:avLst/>
          </a:prstGeom>
          <a:noFill/>
          <a:ln/>
        </p:spPr>
        <p:txBody>
          <a:bodyPr wrap="square" rtlCol="0" anchor="ctr"/>
          <a:lstStyle/>
          <a:p>
            <a:pPr marL="0" indent="0" algn="ctr">
              <a:buNone/>
            </a:pPr>
            <a:r>
              <a:rPr lang="en-US" sz="900" b="1" dirty="0">
                <a:solidFill>
                  <a:srgbClr val="1A365D"/>
                </a:solidFill>
                <a:latin typeface="Segoe UI" pitchFamily="34" charset="0"/>
                <a:ea typeface="Segoe UI" pitchFamily="34" charset="-122"/>
                <a:cs typeface="Segoe UI" pitchFamily="34" charset="-120"/>
              </a:rPr>
              <a:t>Definición</a:t>
            </a:r>
            <a:endParaRPr lang="en-US" sz="900" dirty="0"/>
          </a:p>
        </p:txBody>
      </p:sp>
      <p:sp>
        <p:nvSpPr>
          <p:cNvPr id="60" name="Shape 57"/>
          <p:cNvSpPr/>
          <p:nvPr/>
        </p:nvSpPr>
        <p:spPr>
          <a:xfrm>
            <a:off x="7803490" y="1883664"/>
            <a:ext cx="16459" cy="3657600"/>
          </a:xfrm>
          <a:prstGeom prst="rect">
            <a:avLst/>
          </a:prstGeom>
          <a:solidFill>
            <a:srgbClr val="F5B041"/>
          </a:solidFill>
          <a:ln/>
        </p:spPr>
      </p:sp>
      <p:sp>
        <p:nvSpPr>
          <p:cNvPr id="61" name="Text 58"/>
          <p:cNvSpPr/>
          <p:nvPr/>
        </p:nvSpPr>
        <p:spPr>
          <a:xfrm>
            <a:off x="7117690" y="5559552"/>
            <a:ext cx="1371600" cy="256032"/>
          </a:xfrm>
          <a:prstGeom prst="rect">
            <a:avLst/>
          </a:prstGeom>
          <a:noFill/>
          <a:ln/>
        </p:spPr>
        <p:txBody>
          <a:bodyPr wrap="square" rtlCol="0" anchor="ctr"/>
          <a:lstStyle/>
          <a:p>
            <a:pPr marL="0" indent="0" algn="ctr">
              <a:buNone/>
            </a:pPr>
            <a:r>
              <a:rPr lang="en-US" sz="900" b="1" dirty="0">
                <a:solidFill>
                  <a:srgbClr val="1A365D"/>
                </a:solidFill>
                <a:latin typeface="Segoe UI" pitchFamily="34" charset="0"/>
                <a:ea typeface="Segoe UI" pitchFamily="34" charset="-122"/>
                <a:cs typeface="Segoe UI" pitchFamily="34" charset="-120"/>
              </a:rPr>
              <a:t>Avance</a:t>
            </a:r>
            <a:endParaRPr lang="en-US" sz="900" dirty="0"/>
          </a:p>
        </p:txBody>
      </p:sp>
      <p:sp>
        <p:nvSpPr>
          <p:cNvPr id="62" name="Shape 59"/>
          <p:cNvSpPr/>
          <p:nvPr/>
        </p:nvSpPr>
        <p:spPr>
          <a:xfrm>
            <a:off x="9961474" y="1883664"/>
            <a:ext cx="16459" cy="3657600"/>
          </a:xfrm>
          <a:prstGeom prst="rect">
            <a:avLst/>
          </a:prstGeom>
          <a:solidFill>
            <a:srgbClr val="F5B041"/>
          </a:solidFill>
          <a:ln/>
        </p:spPr>
      </p:sp>
      <p:sp>
        <p:nvSpPr>
          <p:cNvPr id="63" name="Text 60"/>
          <p:cNvSpPr/>
          <p:nvPr/>
        </p:nvSpPr>
        <p:spPr>
          <a:xfrm>
            <a:off x="9275674" y="5559552"/>
            <a:ext cx="1371600" cy="256032"/>
          </a:xfrm>
          <a:prstGeom prst="rect">
            <a:avLst/>
          </a:prstGeom>
          <a:noFill/>
          <a:ln/>
        </p:spPr>
        <p:txBody>
          <a:bodyPr wrap="square" rtlCol="0" anchor="ctr"/>
          <a:lstStyle/>
          <a:p>
            <a:pPr marL="0" indent="0" algn="ctr">
              <a:buNone/>
            </a:pPr>
            <a:r>
              <a:rPr lang="en-US" sz="900" b="1" dirty="0">
                <a:solidFill>
                  <a:srgbClr val="1A365D"/>
                </a:solidFill>
                <a:latin typeface="Segoe UI" pitchFamily="34" charset="0"/>
                <a:ea typeface="Segoe UI" pitchFamily="34" charset="-122"/>
                <a:cs typeface="Segoe UI" pitchFamily="34" charset="-120"/>
              </a:rPr>
              <a:t>Resultados</a:t>
            </a:r>
            <a:endParaRPr lang="en-US" sz="900" dirty="0"/>
          </a:p>
        </p:txBody>
      </p:sp>
      <p:sp>
        <p:nvSpPr>
          <p:cNvPr id="64" name="Shape 61"/>
          <p:cNvSpPr/>
          <p:nvPr/>
        </p:nvSpPr>
        <p:spPr>
          <a:xfrm>
            <a:off x="11256264" y="1883664"/>
            <a:ext cx="16459" cy="3657600"/>
          </a:xfrm>
          <a:prstGeom prst="rect">
            <a:avLst/>
          </a:prstGeom>
          <a:solidFill>
            <a:srgbClr val="F5B041"/>
          </a:solidFill>
          <a:ln/>
        </p:spPr>
      </p:sp>
      <p:sp>
        <p:nvSpPr>
          <p:cNvPr id="65" name="Text 62"/>
          <p:cNvSpPr/>
          <p:nvPr/>
        </p:nvSpPr>
        <p:spPr>
          <a:xfrm>
            <a:off x="10570464" y="5559552"/>
            <a:ext cx="1371600" cy="256032"/>
          </a:xfrm>
          <a:prstGeom prst="rect">
            <a:avLst/>
          </a:prstGeom>
          <a:noFill/>
          <a:ln/>
        </p:spPr>
        <p:txBody>
          <a:bodyPr wrap="square" rtlCol="0" anchor="ctr"/>
          <a:lstStyle/>
          <a:p>
            <a:pPr marL="0" indent="0" algn="ctr">
              <a:buNone/>
            </a:pPr>
            <a:r>
              <a:rPr lang="en-US" sz="900" b="1" dirty="0">
                <a:solidFill>
                  <a:srgbClr val="1A365D"/>
                </a:solidFill>
                <a:latin typeface="Segoe UI" pitchFamily="34" charset="0"/>
                <a:ea typeface="Segoe UI" pitchFamily="34" charset="-122"/>
                <a:cs typeface="Segoe UI" pitchFamily="34" charset="-120"/>
              </a:rPr>
              <a:t>Final</a:t>
            </a:r>
            <a:endParaRPr lang="en-US" sz="900" dirty="0"/>
          </a:p>
        </p:txBody>
      </p:sp>
      <p:sp>
        <p:nvSpPr>
          <p:cNvPr id="66" name="Text 63"/>
          <p:cNvSpPr/>
          <p:nvPr/>
        </p:nvSpPr>
        <p:spPr>
          <a:xfrm>
            <a:off x="658368" y="5989320"/>
            <a:ext cx="10863072" cy="274320"/>
          </a:xfrm>
          <a:prstGeom prst="rect">
            <a:avLst/>
          </a:prstGeom>
          <a:noFill/>
          <a:ln/>
        </p:spPr>
        <p:txBody>
          <a:bodyPr wrap="square" rtlCol="0" anchor="ctr"/>
          <a:lstStyle/>
          <a:p>
            <a:pPr marL="0" indent="0">
              <a:buNone/>
            </a:pPr>
            <a:r>
              <a:rPr lang="en-US" sz="1100" i="1" dirty="0">
                <a:solidFill>
                  <a:srgbClr val="7A8AA0"/>
                </a:solidFill>
                <a:latin typeface="Segoe UI" pitchFamily="34" charset="0"/>
                <a:ea typeface="Segoe UI" pitchFamily="34" charset="-122"/>
                <a:cs typeface="Segoe UI" pitchFamily="34" charset="-120"/>
              </a:rPr>
              <a:t>Hoy: semana 4 · Cierre del semestre: 12 de diciembre de 2026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ECOSISTEMA DE DESARROLLO</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Stack tecnológico y herramientas</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10 / 16</a:t>
            </a:r>
            <a:endParaRPr lang="en-US" sz="900" dirty="0"/>
          </a:p>
        </p:txBody>
      </p:sp>
      <p:sp>
        <p:nvSpPr>
          <p:cNvPr id="11" name="Shape 8"/>
          <p:cNvSpPr/>
          <p:nvPr/>
        </p:nvSpPr>
        <p:spPr>
          <a:xfrm>
            <a:off x="658368" y="1600200"/>
            <a:ext cx="2606040" cy="4160520"/>
          </a:xfrm>
          <a:prstGeom prst="roundRect">
            <a:avLst>
              <a:gd name="adj" fmla="val 2105"/>
            </a:avLst>
          </a:prstGeom>
          <a:solidFill>
            <a:srgbClr val="FFFFFF"/>
          </a:solidFill>
          <a:ln w="12700">
            <a:solidFill>
              <a:srgbClr val="DCE4EE"/>
            </a:solidFill>
            <a:prstDash val="solid"/>
          </a:ln>
        </p:spPr>
      </p:sp>
      <p:sp>
        <p:nvSpPr>
          <p:cNvPr id="12" name="Shape 9"/>
          <p:cNvSpPr/>
          <p:nvPr/>
        </p:nvSpPr>
        <p:spPr>
          <a:xfrm>
            <a:off x="658368" y="1600200"/>
            <a:ext cx="50292" cy="4160520"/>
          </a:xfrm>
          <a:prstGeom prst="rect">
            <a:avLst/>
          </a:prstGeom>
          <a:solidFill>
            <a:srgbClr val="2D5A9E"/>
          </a:solidFill>
          <a:ln/>
        </p:spPr>
      </p:sp>
      <p:sp>
        <p:nvSpPr>
          <p:cNvPr id="13" name="Text 10"/>
          <p:cNvSpPr/>
          <p:nvPr/>
        </p:nvSpPr>
        <p:spPr>
          <a:xfrm>
            <a:off x="914400" y="1783080"/>
            <a:ext cx="2194560" cy="274320"/>
          </a:xfrm>
          <a:prstGeom prst="rect">
            <a:avLst/>
          </a:prstGeom>
          <a:noFill/>
          <a:ln/>
        </p:spPr>
        <p:txBody>
          <a:bodyPr wrap="square" rtlCol="0" anchor="ctr"/>
          <a:lstStyle/>
          <a:p>
            <a:pPr marL="0" indent="0">
              <a:buNone/>
            </a:pPr>
            <a:r>
              <a:rPr lang="en-US" sz="1100" b="1" kern="0" spc="120" dirty="0">
                <a:solidFill>
                  <a:srgbClr val="2D5A9E"/>
                </a:solidFill>
                <a:latin typeface="Segoe UI" pitchFamily="34" charset="0"/>
                <a:ea typeface="Segoe UI" pitchFamily="34" charset="-122"/>
                <a:cs typeface="Segoe UI" pitchFamily="34" charset="-120"/>
              </a:rPr>
              <a:t>CLIENTES</a:t>
            </a:r>
            <a:endParaRPr lang="en-US" sz="1100" dirty="0"/>
          </a:p>
        </p:txBody>
      </p:sp>
      <p:sp>
        <p:nvSpPr>
          <p:cNvPr id="14" name="Text 11"/>
          <p:cNvSpPr/>
          <p:nvPr/>
        </p:nvSpPr>
        <p:spPr>
          <a:xfrm>
            <a:off x="914400" y="221284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Flutter</a:t>
            </a:r>
            <a:endParaRPr lang="en-US" sz="1300" dirty="0"/>
          </a:p>
        </p:txBody>
      </p:sp>
      <p:sp>
        <p:nvSpPr>
          <p:cNvPr id="15" name="Text 12"/>
          <p:cNvSpPr/>
          <p:nvPr/>
        </p:nvSpPr>
        <p:spPr>
          <a:xfrm>
            <a:off x="914400" y="251460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App iOS y Android</a:t>
            </a:r>
            <a:endParaRPr lang="en-US" sz="1000" dirty="0"/>
          </a:p>
        </p:txBody>
      </p:sp>
      <p:sp>
        <p:nvSpPr>
          <p:cNvPr id="16" name="Text 13"/>
          <p:cNvSpPr/>
          <p:nvPr/>
        </p:nvSpPr>
        <p:spPr>
          <a:xfrm>
            <a:off x="914400" y="331012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React + Vite</a:t>
            </a:r>
            <a:endParaRPr lang="en-US" sz="1300" dirty="0"/>
          </a:p>
        </p:txBody>
      </p:sp>
      <p:sp>
        <p:nvSpPr>
          <p:cNvPr id="17" name="Text 14"/>
          <p:cNvSpPr/>
          <p:nvPr/>
        </p:nvSpPr>
        <p:spPr>
          <a:xfrm>
            <a:off x="914400" y="361188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Sitio del estudiante</a:t>
            </a:r>
            <a:endParaRPr lang="en-US" sz="1000" dirty="0"/>
          </a:p>
        </p:txBody>
      </p:sp>
      <p:sp>
        <p:nvSpPr>
          <p:cNvPr id="18" name="Text 15"/>
          <p:cNvSpPr/>
          <p:nvPr/>
        </p:nvSpPr>
        <p:spPr>
          <a:xfrm>
            <a:off x="914400" y="440740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Riverpod · GoRouter</a:t>
            </a:r>
            <a:endParaRPr lang="en-US" sz="1300" dirty="0"/>
          </a:p>
        </p:txBody>
      </p:sp>
      <p:sp>
        <p:nvSpPr>
          <p:cNvPr id="19" name="Text 16"/>
          <p:cNvSpPr/>
          <p:nvPr/>
        </p:nvSpPr>
        <p:spPr>
          <a:xfrm>
            <a:off x="914400" y="470916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Estado y navegación</a:t>
            </a:r>
            <a:endParaRPr lang="en-US" sz="1000" dirty="0"/>
          </a:p>
        </p:txBody>
      </p:sp>
      <p:sp>
        <p:nvSpPr>
          <p:cNvPr id="20" name="Shape 17"/>
          <p:cNvSpPr/>
          <p:nvPr/>
        </p:nvSpPr>
        <p:spPr>
          <a:xfrm>
            <a:off x="3447288" y="1600200"/>
            <a:ext cx="2606040" cy="4160520"/>
          </a:xfrm>
          <a:prstGeom prst="roundRect">
            <a:avLst>
              <a:gd name="adj" fmla="val 2105"/>
            </a:avLst>
          </a:prstGeom>
          <a:solidFill>
            <a:srgbClr val="FFFFFF"/>
          </a:solidFill>
          <a:ln w="12700">
            <a:solidFill>
              <a:srgbClr val="DCE4EE"/>
            </a:solidFill>
            <a:prstDash val="solid"/>
          </a:ln>
        </p:spPr>
      </p:sp>
      <p:sp>
        <p:nvSpPr>
          <p:cNvPr id="21" name="Shape 18"/>
          <p:cNvSpPr/>
          <p:nvPr/>
        </p:nvSpPr>
        <p:spPr>
          <a:xfrm>
            <a:off x="3447288" y="1600200"/>
            <a:ext cx="50292" cy="4160520"/>
          </a:xfrm>
          <a:prstGeom prst="rect">
            <a:avLst/>
          </a:prstGeom>
          <a:solidFill>
            <a:srgbClr val="1A365D"/>
          </a:solidFill>
          <a:ln/>
        </p:spPr>
      </p:sp>
      <p:sp>
        <p:nvSpPr>
          <p:cNvPr id="22" name="Text 19"/>
          <p:cNvSpPr/>
          <p:nvPr/>
        </p:nvSpPr>
        <p:spPr>
          <a:xfrm>
            <a:off x="3703320" y="1783080"/>
            <a:ext cx="2194560" cy="274320"/>
          </a:xfrm>
          <a:prstGeom prst="rect">
            <a:avLst/>
          </a:prstGeom>
          <a:noFill/>
          <a:ln/>
        </p:spPr>
        <p:txBody>
          <a:bodyPr wrap="square" rtlCol="0" anchor="ctr"/>
          <a:lstStyle/>
          <a:p>
            <a:pPr marL="0" indent="0">
              <a:buNone/>
            </a:pPr>
            <a:r>
              <a:rPr lang="en-US" sz="1100" b="1" kern="0" spc="120" dirty="0">
                <a:solidFill>
                  <a:srgbClr val="1A365D"/>
                </a:solidFill>
                <a:latin typeface="Segoe UI" pitchFamily="34" charset="0"/>
                <a:ea typeface="Segoe UI" pitchFamily="34" charset="-122"/>
                <a:cs typeface="Segoe UI" pitchFamily="34" charset="-120"/>
              </a:rPr>
              <a:t>BACKEND</a:t>
            </a:r>
            <a:endParaRPr lang="en-US" sz="1100" dirty="0"/>
          </a:p>
        </p:txBody>
      </p:sp>
      <p:sp>
        <p:nvSpPr>
          <p:cNvPr id="23" name="Text 20"/>
          <p:cNvSpPr/>
          <p:nvPr/>
        </p:nvSpPr>
        <p:spPr>
          <a:xfrm>
            <a:off x="3703320" y="221284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Node.js + Express</a:t>
            </a:r>
            <a:endParaRPr lang="en-US" sz="1300" dirty="0"/>
          </a:p>
        </p:txBody>
      </p:sp>
      <p:sp>
        <p:nvSpPr>
          <p:cNvPr id="24" name="Text 21"/>
          <p:cNvSpPr/>
          <p:nvPr/>
        </p:nvSpPr>
        <p:spPr>
          <a:xfrm>
            <a:off x="3703320" y="251460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API REST /api/v1</a:t>
            </a:r>
            <a:endParaRPr lang="en-US" sz="1000" dirty="0"/>
          </a:p>
        </p:txBody>
      </p:sp>
      <p:sp>
        <p:nvSpPr>
          <p:cNvPr id="25" name="Text 22"/>
          <p:cNvSpPr/>
          <p:nvPr/>
        </p:nvSpPr>
        <p:spPr>
          <a:xfrm>
            <a:off x="3703320" y="331012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JWT</a:t>
            </a:r>
            <a:endParaRPr lang="en-US" sz="1300" dirty="0"/>
          </a:p>
        </p:txBody>
      </p:sp>
      <p:sp>
        <p:nvSpPr>
          <p:cNvPr id="26" name="Text 23"/>
          <p:cNvSpPr/>
          <p:nvPr/>
        </p:nvSpPr>
        <p:spPr>
          <a:xfrm>
            <a:off x="3703320" y="361188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Sesión y roles</a:t>
            </a:r>
            <a:endParaRPr lang="en-US" sz="1000" dirty="0"/>
          </a:p>
        </p:txBody>
      </p:sp>
      <p:sp>
        <p:nvSpPr>
          <p:cNvPr id="27" name="Text 24"/>
          <p:cNvSpPr/>
          <p:nvPr/>
        </p:nvSpPr>
        <p:spPr>
          <a:xfrm>
            <a:off x="3703320" y="440740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OpenAPI</a:t>
            </a:r>
            <a:endParaRPr lang="en-US" sz="1300" dirty="0"/>
          </a:p>
        </p:txBody>
      </p:sp>
      <p:sp>
        <p:nvSpPr>
          <p:cNvPr id="28" name="Text 25"/>
          <p:cNvSpPr/>
          <p:nvPr/>
        </p:nvSpPr>
        <p:spPr>
          <a:xfrm>
            <a:off x="3703320" y="470916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Contrato versionado</a:t>
            </a:r>
            <a:endParaRPr lang="en-US" sz="1000" dirty="0"/>
          </a:p>
        </p:txBody>
      </p:sp>
      <p:sp>
        <p:nvSpPr>
          <p:cNvPr id="29" name="Shape 26"/>
          <p:cNvSpPr/>
          <p:nvPr/>
        </p:nvSpPr>
        <p:spPr>
          <a:xfrm>
            <a:off x="6236208" y="1600200"/>
            <a:ext cx="2606040" cy="4160520"/>
          </a:xfrm>
          <a:prstGeom prst="roundRect">
            <a:avLst>
              <a:gd name="adj" fmla="val 2105"/>
            </a:avLst>
          </a:prstGeom>
          <a:solidFill>
            <a:srgbClr val="FFFFFF"/>
          </a:solidFill>
          <a:ln w="12700">
            <a:solidFill>
              <a:srgbClr val="DCE4EE"/>
            </a:solidFill>
            <a:prstDash val="solid"/>
          </a:ln>
        </p:spPr>
      </p:sp>
      <p:sp>
        <p:nvSpPr>
          <p:cNvPr id="30" name="Shape 27"/>
          <p:cNvSpPr/>
          <p:nvPr/>
        </p:nvSpPr>
        <p:spPr>
          <a:xfrm>
            <a:off x="6236208" y="1600200"/>
            <a:ext cx="50292" cy="4160520"/>
          </a:xfrm>
          <a:prstGeom prst="rect">
            <a:avLst/>
          </a:prstGeom>
          <a:solidFill>
            <a:srgbClr val="F5B041"/>
          </a:solidFill>
          <a:ln/>
        </p:spPr>
      </p:sp>
      <p:sp>
        <p:nvSpPr>
          <p:cNvPr id="31" name="Text 28"/>
          <p:cNvSpPr/>
          <p:nvPr/>
        </p:nvSpPr>
        <p:spPr>
          <a:xfrm>
            <a:off x="6492240" y="1783080"/>
            <a:ext cx="2194560" cy="274320"/>
          </a:xfrm>
          <a:prstGeom prst="rect">
            <a:avLst/>
          </a:prstGeom>
          <a:noFill/>
          <a:ln/>
        </p:spPr>
        <p:txBody>
          <a:bodyPr wrap="square" rtlCol="0" anchor="ctr"/>
          <a:lstStyle/>
          <a:p>
            <a:pPr marL="0" indent="0">
              <a:buNone/>
            </a:pPr>
            <a:r>
              <a:rPr lang="en-US" sz="1100" b="1" kern="0" spc="120" dirty="0">
                <a:solidFill>
                  <a:srgbClr val="F5B041"/>
                </a:solidFill>
                <a:latin typeface="Segoe UI" pitchFamily="34" charset="0"/>
                <a:ea typeface="Segoe UI" pitchFamily="34" charset="-122"/>
                <a:cs typeface="Segoe UI" pitchFamily="34" charset="-120"/>
              </a:rPr>
              <a:t>DATOS</a:t>
            </a:r>
            <a:endParaRPr lang="en-US" sz="1100" dirty="0"/>
          </a:p>
        </p:txBody>
      </p:sp>
      <p:sp>
        <p:nvSpPr>
          <p:cNvPr id="32" name="Text 29"/>
          <p:cNvSpPr/>
          <p:nvPr/>
        </p:nvSpPr>
        <p:spPr>
          <a:xfrm>
            <a:off x="6492240" y="221284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Cloud Firestore</a:t>
            </a:r>
            <a:endParaRPr lang="en-US" sz="1300" dirty="0"/>
          </a:p>
        </p:txBody>
      </p:sp>
      <p:sp>
        <p:nvSpPr>
          <p:cNvPr id="33" name="Text 30"/>
          <p:cNvSpPr/>
          <p:nvPr/>
        </p:nvSpPr>
        <p:spPr>
          <a:xfrm>
            <a:off x="6492240" y="251460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Base no relacional</a:t>
            </a:r>
            <a:endParaRPr lang="en-US" sz="1000" dirty="0"/>
          </a:p>
        </p:txBody>
      </p:sp>
      <p:sp>
        <p:nvSpPr>
          <p:cNvPr id="34" name="Text 31"/>
          <p:cNvSpPr/>
          <p:nvPr/>
        </p:nvSpPr>
        <p:spPr>
          <a:xfrm>
            <a:off x="6492240" y="331012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Drift / SQLite</a:t>
            </a:r>
            <a:endParaRPr lang="en-US" sz="1300" dirty="0"/>
          </a:p>
        </p:txBody>
      </p:sp>
      <p:sp>
        <p:nvSpPr>
          <p:cNvPr id="35" name="Text 32"/>
          <p:cNvSpPr/>
          <p:nvPr/>
        </p:nvSpPr>
        <p:spPr>
          <a:xfrm>
            <a:off x="6492240" y="361188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Caché local en la app</a:t>
            </a:r>
            <a:endParaRPr lang="en-US" sz="1000" dirty="0"/>
          </a:p>
        </p:txBody>
      </p:sp>
      <p:sp>
        <p:nvSpPr>
          <p:cNvPr id="36" name="Text 33"/>
          <p:cNvSpPr/>
          <p:nvPr/>
        </p:nvSpPr>
        <p:spPr>
          <a:xfrm>
            <a:off x="6492240" y="440740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Firebase Auth</a:t>
            </a:r>
            <a:endParaRPr lang="en-US" sz="1300" dirty="0"/>
          </a:p>
        </p:txBody>
      </p:sp>
      <p:sp>
        <p:nvSpPr>
          <p:cNvPr id="37" name="Text 34"/>
          <p:cNvSpPr/>
          <p:nvPr/>
        </p:nvSpPr>
        <p:spPr>
          <a:xfrm>
            <a:off x="6492240" y="470916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Verificación telefónica</a:t>
            </a:r>
            <a:endParaRPr lang="en-US" sz="1000" dirty="0"/>
          </a:p>
        </p:txBody>
      </p:sp>
      <p:sp>
        <p:nvSpPr>
          <p:cNvPr id="38" name="Shape 35"/>
          <p:cNvSpPr/>
          <p:nvPr/>
        </p:nvSpPr>
        <p:spPr>
          <a:xfrm>
            <a:off x="9025128" y="1600200"/>
            <a:ext cx="2606040" cy="4160520"/>
          </a:xfrm>
          <a:prstGeom prst="roundRect">
            <a:avLst>
              <a:gd name="adj" fmla="val 2105"/>
            </a:avLst>
          </a:prstGeom>
          <a:solidFill>
            <a:srgbClr val="FFFFFF"/>
          </a:solidFill>
          <a:ln w="12700">
            <a:solidFill>
              <a:srgbClr val="DCE4EE"/>
            </a:solidFill>
            <a:prstDash val="solid"/>
          </a:ln>
        </p:spPr>
      </p:sp>
      <p:sp>
        <p:nvSpPr>
          <p:cNvPr id="39" name="Shape 36"/>
          <p:cNvSpPr/>
          <p:nvPr/>
        </p:nvSpPr>
        <p:spPr>
          <a:xfrm>
            <a:off x="9025128" y="1600200"/>
            <a:ext cx="50292" cy="4160520"/>
          </a:xfrm>
          <a:prstGeom prst="rect">
            <a:avLst/>
          </a:prstGeom>
          <a:solidFill>
            <a:srgbClr val="10B981"/>
          </a:solidFill>
          <a:ln/>
        </p:spPr>
      </p:sp>
      <p:sp>
        <p:nvSpPr>
          <p:cNvPr id="40" name="Text 37"/>
          <p:cNvSpPr/>
          <p:nvPr/>
        </p:nvSpPr>
        <p:spPr>
          <a:xfrm>
            <a:off x="9281160" y="1783080"/>
            <a:ext cx="2194560" cy="274320"/>
          </a:xfrm>
          <a:prstGeom prst="rect">
            <a:avLst/>
          </a:prstGeom>
          <a:noFill/>
          <a:ln/>
        </p:spPr>
        <p:txBody>
          <a:bodyPr wrap="square" rtlCol="0" anchor="ctr"/>
          <a:lstStyle/>
          <a:p>
            <a:pPr marL="0" indent="0">
              <a:buNone/>
            </a:pPr>
            <a:r>
              <a:rPr lang="en-US" sz="1100" b="1" kern="0" spc="120" dirty="0">
                <a:solidFill>
                  <a:srgbClr val="10B981"/>
                </a:solidFill>
                <a:latin typeface="Segoe UI" pitchFamily="34" charset="0"/>
                <a:ea typeface="Segoe UI" pitchFamily="34" charset="-122"/>
                <a:cs typeface="Segoe UI" pitchFamily="34" charset="-120"/>
              </a:rPr>
              <a:t>INFRAESTRUCTURA</a:t>
            </a:r>
            <a:endParaRPr lang="en-US" sz="1100" dirty="0"/>
          </a:p>
        </p:txBody>
      </p:sp>
      <p:sp>
        <p:nvSpPr>
          <p:cNvPr id="41" name="Text 38"/>
          <p:cNvSpPr/>
          <p:nvPr/>
        </p:nvSpPr>
        <p:spPr>
          <a:xfrm>
            <a:off x="9281160" y="221284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Docker + Compose</a:t>
            </a:r>
            <a:endParaRPr lang="en-US" sz="1300" dirty="0"/>
          </a:p>
        </p:txBody>
      </p:sp>
      <p:sp>
        <p:nvSpPr>
          <p:cNvPr id="42" name="Text 39"/>
          <p:cNvSpPr/>
          <p:nvPr/>
        </p:nvSpPr>
        <p:spPr>
          <a:xfrm>
            <a:off x="9281160" y="251460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Entrega final</a:t>
            </a:r>
            <a:endParaRPr lang="en-US" sz="1000" dirty="0"/>
          </a:p>
        </p:txBody>
      </p:sp>
      <p:sp>
        <p:nvSpPr>
          <p:cNvPr id="43" name="Text 40"/>
          <p:cNvSpPr/>
          <p:nvPr/>
        </p:nvSpPr>
        <p:spPr>
          <a:xfrm>
            <a:off x="9281160" y="331012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Vercel</a:t>
            </a:r>
            <a:endParaRPr lang="en-US" sz="1300" dirty="0"/>
          </a:p>
        </p:txBody>
      </p:sp>
      <p:sp>
        <p:nvSpPr>
          <p:cNvPr id="44" name="Text 41"/>
          <p:cNvSpPr/>
          <p:nvPr/>
        </p:nvSpPr>
        <p:spPr>
          <a:xfrm>
            <a:off x="9281160" y="361188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Avances continuos</a:t>
            </a:r>
            <a:endParaRPr lang="en-US" sz="1000" dirty="0"/>
          </a:p>
        </p:txBody>
      </p:sp>
      <p:sp>
        <p:nvSpPr>
          <p:cNvPr id="45" name="Text 42"/>
          <p:cNvSpPr/>
          <p:nvPr/>
        </p:nvSpPr>
        <p:spPr>
          <a:xfrm>
            <a:off x="9281160" y="4407408"/>
            <a:ext cx="2194560" cy="292608"/>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GitHub</a:t>
            </a:r>
            <a:endParaRPr lang="en-US" sz="1300" dirty="0"/>
          </a:p>
        </p:txBody>
      </p:sp>
      <p:sp>
        <p:nvSpPr>
          <p:cNvPr id="46" name="Text 43"/>
          <p:cNvSpPr/>
          <p:nvPr/>
        </p:nvSpPr>
        <p:spPr>
          <a:xfrm>
            <a:off x="9281160" y="4709160"/>
            <a:ext cx="2194560" cy="457200"/>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Repositorio y evidencia</a:t>
            </a:r>
            <a:endParaRPr lang="en-US" sz="1000" dirty="0"/>
          </a:p>
        </p:txBody>
      </p:sp>
      <p:sp>
        <p:nvSpPr>
          <p:cNvPr id="47" name="Text 44"/>
          <p:cNvSpPr/>
          <p:nvPr/>
        </p:nvSpPr>
        <p:spPr>
          <a:xfrm>
            <a:off x="658368" y="5961888"/>
            <a:ext cx="10863072" cy="274320"/>
          </a:xfrm>
          <a:prstGeom prst="rect">
            <a:avLst/>
          </a:prstGeom>
          <a:noFill/>
          <a:ln/>
        </p:spPr>
        <p:txBody>
          <a:bodyPr wrap="square" rtlCol="0" anchor="ctr"/>
          <a:lstStyle/>
          <a:p>
            <a:pPr marL="0" indent="0">
              <a:buNone/>
            </a:pPr>
            <a:r>
              <a:rPr lang="en-US" sz="1100" i="1" dirty="0">
                <a:solidFill>
                  <a:srgbClr val="7A8AA0"/>
                </a:solidFill>
                <a:latin typeface="Segoe UI" pitchFamily="34" charset="0"/>
                <a:ea typeface="Segoe UI" pitchFamily="34" charset="-122"/>
                <a:cs typeface="Segoe UI" pitchFamily="34" charset="-120"/>
              </a:rPr>
              <a:t>Gestión: Scrum con tablero de backlog · Revisión cruzada de código · Pruebas automatizadas en Node.js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DISEÑO DEL SISTEMA</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Arquitectura de la aplicación por capas</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11 / 16</a:t>
            </a:r>
            <a:endParaRPr lang="en-US" sz="900" dirty="0"/>
          </a:p>
        </p:txBody>
      </p:sp>
      <p:sp>
        <p:nvSpPr>
          <p:cNvPr id="11" name="Shape 8"/>
          <p:cNvSpPr/>
          <p:nvPr/>
        </p:nvSpPr>
        <p:spPr>
          <a:xfrm>
            <a:off x="685800" y="1847088"/>
            <a:ext cx="41148" cy="384048"/>
          </a:xfrm>
          <a:prstGeom prst="rect">
            <a:avLst/>
          </a:prstGeom>
          <a:solidFill>
            <a:srgbClr val="2D5A9E"/>
          </a:solidFill>
          <a:ln/>
        </p:spPr>
      </p:sp>
      <p:sp>
        <p:nvSpPr>
          <p:cNvPr id="12" name="Text 9"/>
          <p:cNvSpPr/>
          <p:nvPr/>
        </p:nvSpPr>
        <p:spPr>
          <a:xfrm>
            <a:off x="868680" y="1810512"/>
            <a:ext cx="1417320" cy="457200"/>
          </a:xfrm>
          <a:prstGeom prst="rect">
            <a:avLst/>
          </a:prstGeom>
          <a:noFill/>
          <a:ln/>
        </p:spPr>
        <p:txBody>
          <a:bodyPr wrap="square" rtlCol="0" anchor="ctr"/>
          <a:lstStyle/>
          <a:p>
            <a:pPr marL="0" indent="0">
              <a:lnSpc>
                <a:spcPct val="100000"/>
              </a:lnSpc>
              <a:buNone/>
            </a:pPr>
            <a:r>
              <a:rPr lang="en-US" sz="950" b="1" kern="0" spc="100" dirty="0">
                <a:solidFill>
                  <a:srgbClr val="2D5A9E"/>
                </a:solidFill>
                <a:latin typeface="Segoe UI" pitchFamily="34" charset="0"/>
                <a:ea typeface="Segoe UI" pitchFamily="34" charset="-122"/>
                <a:cs typeface="Segoe UI" pitchFamily="34" charset="-120"/>
              </a:rPr>
              <a:t>CLIENTES</a:t>
            </a:r>
            <a:endParaRPr lang="en-US" sz="950" dirty="0"/>
          </a:p>
        </p:txBody>
      </p:sp>
      <p:sp>
        <p:nvSpPr>
          <p:cNvPr id="13" name="Shape 10"/>
          <p:cNvSpPr/>
          <p:nvPr/>
        </p:nvSpPr>
        <p:spPr>
          <a:xfrm>
            <a:off x="2377440" y="1627632"/>
            <a:ext cx="4069080" cy="1051560"/>
          </a:xfrm>
          <a:prstGeom prst="roundRect">
            <a:avLst>
              <a:gd name="adj" fmla="val 5217"/>
            </a:avLst>
          </a:prstGeom>
          <a:solidFill>
            <a:srgbClr val="FFFFFF"/>
          </a:solidFill>
          <a:ln w="19050">
            <a:solidFill>
              <a:srgbClr val="2D5A9E"/>
            </a:solidFill>
            <a:prstDash val="solid"/>
          </a:ln>
        </p:spPr>
      </p:sp>
      <p:sp>
        <p:nvSpPr>
          <p:cNvPr id="14" name="Text 11"/>
          <p:cNvSpPr/>
          <p:nvPr/>
        </p:nvSpPr>
        <p:spPr>
          <a:xfrm>
            <a:off x="2670048" y="1737360"/>
            <a:ext cx="3520440" cy="292608"/>
          </a:xfrm>
          <a:prstGeom prst="rect">
            <a:avLst/>
          </a:prstGeom>
          <a:noFill/>
          <a:ln/>
        </p:spPr>
        <p:txBody>
          <a:bodyPr wrap="square" rtlCol="0" anchor="ctr"/>
          <a:lstStyle/>
          <a:p>
            <a:pPr marL="0" indent="0">
              <a:buNone/>
            </a:pPr>
            <a:r>
              <a:rPr lang="en-US" sz="1400" b="1" dirty="0">
                <a:solidFill>
                  <a:srgbClr val="1A365D"/>
                </a:solidFill>
                <a:latin typeface="Segoe UI" pitchFamily="34" charset="0"/>
                <a:ea typeface="Segoe UI" pitchFamily="34" charset="-122"/>
                <a:cs typeface="Segoe UI" pitchFamily="34" charset="-120"/>
              </a:rPr>
              <a:t>Aplicación móvil</a:t>
            </a:r>
            <a:endParaRPr lang="en-US" sz="1400" dirty="0"/>
          </a:p>
        </p:txBody>
      </p:sp>
      <p:sp>
        <p:nvSpPr>
          <p:cNvPr id="15" name="Text 12"/>
          <p:cNvSpPr/>
          <p:nvPr/>
        </p:nvSpPr>
        <p:spPr>
          <a:xfrm>
            <a:off x="2670048" y="2029968"/>
            <a:ext cx="3520440" cy="256032"/>
          </a:xfrm>
          <a:prstGeom prst="rect">
            <a:avLst/>
          </a:prstGeom>
          <a:noFill/>
          <a:ln/>
        </p:spPr>
        <p:txBody>
          <a:bodyPr wrap="square" rtlCol="0" anchor="ctr"/>
          <a:lstStyle/>
          <a:p>
            <a:pPr marL="0" indent="0">
              <a:buNone/>
            </a:pPr>
            <a:r>
              <a:rPr lang="en-US" sz="1150" dirty="0">
                <a:solidFill>
                  <a:srgbClr val="2D5A9E"/>
                </a:solidFill>
                <a:latin typeface="Segoe UI" pitchFamily="34" charset="0"/>
                <a:ea typeface="Segoe UI" pitchFamily="34" charset="-122"/>
                <a:cs typeface="Segoe UI" pitchFamily="34" charset="-120"/>
              </a:rPr>
              <a:t>Flutter · iOS y Android</a:t>
            </a:r>
            <a:endParaRPr lang="en-US" sz="1150" dirty="0"/>
          </a:p>
        </p:txBody>
      </p:sp>
      <p:sp>
        <p:nvSpPr>
          <p:cNvPr id="16" name="Text 13"/>
          <p:cNvSpPr/>
          <p:nvPr/>
        </p:nvSpPr>
        <p:spPr>
          <a:xfrm>
            <a:off x="2670048" y="2295144"/>
            <a:ext cx="3520440" cy="256032"/>
          </a:xfrm>
          <a:prstGeom prst="rect">
            <a:avLst/>
          </a:prstGeom>
          <a:noFill/>
          <a:ln/>
        </p:spPr>
        <p:txBody>
          <a:bodyPr wrap="square" rtlCol="0" anchor="ctr"/>
          <a:lstStyle/>
          <a:p>
            <a:pPr marL="0" indent="0">
              <a:buNone/>
            </a:pPr>
            <a:r>
              <a:rPr lang="en-US" sz="950" dirty="0">
                <a:solidFill>
                  <a:srgbClr val="7A8AA0"/>
                </a:solidFill>
                <a:latin typeface="Segoe UI" pitchFamily="34" charset="0"/>
                <a:ea typeface="Segoe UI" pitchFamily="34" charset="-122"/>
                <a:cs typeface="Segoe UI" pitchFamily="34" charset="-120"/>
              </a:rPr>
              <a:t>Riverpod · GoRouter · Drift</a:t>
            </a:r>
            <a:endParaRPr lang="en-US" sz="950" dirty="0"/>
          </a:p>
        </p:txBody>
      </p:sp>
      <p:sp>
        <p:nvSpPr>
          <p:cNvPr id="17" name="Shape 14"/>
          <p:cNvSpPr/>
          <p:nvPr/>
        </p:nvSpPr>
        <p:spPr>
          <a:xfrm>
            <a:off x="6812280" y="1627632"/>
            <a:ext cx="4069080" cy="1051560"/>
          </a:xfrm>
          <a:prstGeom prst="roundRect">
            <a:avLst>
              <a:gd name="adj" fmla="val 5217"/>
            </a:avLst>
          </a:prstGeom>
          <a:solidFill>
            <a:srgbClr val="FFFFFF"/>
          </a:solidFill>
          <a:ln w="19050">
            <a:solidFill>
              <a:srgbClr val="2D5A9E"/>
            </a:solidFill>
            <a:prstDash val="solid"/>
          </a:ln>
        </p:spPr>
      </p:sp>
      <p:sp>
        <p:nvSpPr>
          <p:cNvPr id="18" name="Text 15"/>
          <p:cNvSpPr/>
          <p:nvPr/>
        </p:nvSpPr>
        <p:spPr>
          <a:xfrm>
            <a:off x="7104888" y="1737360"/>
            <a:ext cx="3520440" cy="292608"/>
          </a:xfrm>
          <a:prstGeom prst="rect">
            <a:avLst/>
          </a:prstGeom>
          <a:noFill/>
          <a:ln/>
        </p:spPr>
        <p:txBody>
          <a:bodyPr wrap="square" rtlCol="0" anchor="ctr"/>
          <a:lstStyle/>
          <a:p>
            <a:pPr marL="0" indent="0">
              <a:buNone/>
            </a:pPr>
            <a:r>
              <a:rPr lang="en-US" sz="1400" b="1" dirty="0">
                <a:solidFill>
                  <a:srgbClr val="1A365D"/>
                </a:solidFill>
                <a:latin typeface="Segoe UI" pitchFamily="34" charset="0"/>
                <a:ea typeface="Segoe UI" pitchFamily="34" charset="-122"/>
                <a:cs typeface="Segoe UI" pitchFamily="34" charset="-120"/>
              </a:rPr>
              <a:t>Sitio web del estudiante</a:t>
            </a:r>
            <a:endParaRPr lang="en-US" sz="1400" dirty="0"/>
          </a:p>
        </p:txBody>
      </p:sp>
      <p:sp>
        <p:nvSpPr>
          <p:cNvPr id="19" name="Text 16"/>
          <p:cNvSpPr/>
          <p:nvPr/>
        </p:nvSpPr>
        <p:spPr>
          <a:xfrm>
            <a:off x="7104888" y="2029968"/>
            <a:ext cx="3520440" cy="256032"/>
          </a:xfrm>
          <a:prstGeom prst="rect">
            <a:avLst/>
          </a:prstGeom>
          <a:noFill/>
          <a:ln/>
        </p:spPr>
        <p:txBody>
          <a:bodyPr wrap="square" rtlCol="0" anchor="ctr"/>
          <a:lstStyle/>
          <a:p>
            <a:pPr marL="0" indent="0">
              <a:buNone/>
            </a:pPr>
            <a:r>
              <a:rPr lang="en-US" sz="1150" dirty="0">
                <a:solidFill>
                  <a:srgbClr val="2D5A9E"/>
                </a:solidFill>
                <a:latin typeface="Segoe UI" pitchFamily="34" charset="0"/>
                <a:ea typeface="Segoe UI" pitchFamily="34" charset="-122"/>
                <a:cs typeface="Segoe UI" pitchFamily="34" charset="-120"/>
              </a:rPr>
              <a:t>React + Vite</a:t>
            </a:r>
            <a:endParaRPr lang="en-US" sz="1150" dirty="0"/>
          </a:p>
        </p:txBody>
      </p:sp>
      <p:sp>
        <p:nvSpPr>
          <p:cNvPr id="20" name="Text 17"/>
          <p:cNvSpPr/>
          <p:nvPr/>
        </p:nvSpPr>
        <p:spPr>
          <a:xfrm>
            <a:off x="7104888" y="2295144"/>
            <a:ext cx="3520440" cy="256032"/>
          </a:xfrm>
          <a:prstGeom prst="rect">
            <a:avLst/>
          </a:prstGeom>
          <a:noFill/>
          <a:ln/>
        </p:spPr>
        <p:txBody>
          <a:bodyPr wrap="square" rtlCol="0" anchor="ctr"/>
          <a:lstStyle/>
          <a:p>
            <a:pPr marL="0" indent="0">
              <a:buNone/>
            </a:pPr>
            <a:r>
              <a:rPr lang="en-US" sz="950" dirty="0">
                <a:solidFill>
                  <a:srgbClr val="7A8AA0"/>
                </a:solidFill>
                <a:latin typeface="Segoe UI" pitchFamily="34" charset="0"/>
                <a:ea typeface="Segoe UI" pitchFamily="34" charset="-122"/>
                <a:cs typeface="Segoe UI" pitchFamily="34" charset="-120"/>
              </a:rPr>
              <a:t>React Router · Fetch</a:t>
            </a:r>
            <a:endParaRPr lang="en-US" sz="950" dirty="0"/>
          </a:p>
        </p:txBody>
      </p:sp>
      <p:sp>
        <p:nvSpPr>
          <p:cNvPr id="21" name="Shape 18"/>
          <p:cNvSpPr/>
          <p:nvPr/>
        </p:nvSpPr>
        <p:spPr>
          <a:xfrm>
            <a:off x="4411980" y="2679192"/>
            <a:ext cx="0" cy="292608"/>
          </a:xfrm>
          <a:prstGeom prst="line">
            <a:avLst/>
          </a:prstGeom>
          <a:noFill/>
          <a:ln w="22225">
            <a:solidFill>
              <a:srgbClr val="7A8AA0"/>
            </a:solidFill>
            <a:prstDash val="solid"/>
            <a:tailEnd type="triangle"/>
          </a:ln>
        </p:spPr>
      </p:sp>
      <p:sp>
        <p:nvSpPr>
          <p:cNvPr id="22" name="Shape 19"/>
          <p:cNvSpPr/>
          <p:nvPr/>
        </p:nvSpPr>
        <p:spPr>
          <a:xfrm>
            <a:off x="8846820" y="2679192"/>
            <a:ext cx="0" cy="292608"/>
          </a:xfrm>
          <a:prstGeom prst="line">
            <a:avLst/>
          </a:prstGeom>
          <a:noFill/>
          <a:ln w="22225">
            <a:solidFill>
              <a:srgbClr val="7A8AA0"/>
            </a:solidFill>
            <a:prstDash val="solid"/>
            <a:tailEnd type="triangle"/>
          </a:ln>
        </p:spPr>
      </p:sp>
      <p:sp>
        <p:nvSpPr>
          <p:cNvPr id="23" name="Text 20"/>
          <p:cNvSpPr/>
          <p:nvPr/>
        </p:nvSpPr>
        <p:spPr>
          <a:xfrm>
            <a:off x="3749040" y="2706624"/>
            <a:ext cx="4846320" cy="237744"/>
          </a:xfrm>
          <a:prstGeom prst="rect">
            <a:avLst/>
          </a:prstGeom>
          <a:noFill/>
          <a:ln/>
        </p:spPr>
        <p:txBody>
          <a:bodyPr wrap="square" rtlCol="0" anchor="ctr"/>
          <a:lstStyle/>
          <a:p>
            <a:pPr marL="0" indent="0" algn="ctr">
              <a:buNone/>
            </a:pPr>
            <a:r>
              <a:rPr lang="en-US" sz="950" dirty="0">
                <a:solidFill>
                  <a:srgbClr val="7A8AA0"/>
                </a:solidFill>
                <a:latin typeface="Segoe UI" pitchFamily="34" charset="0"/>
                <a:ea typeface="Segoe UI" pitchFamily="34" charset="-122"/>
                <a:cs typeface="Segoe UI" pitchFamily="34" charset="-120"/>
              </a:rPr>
              <a:t>HTTPS · JSON  { data, error, meta }</a:t>
            </a:r>
            <a:endParaRPr lang="en-US" sz="950" dirty="0"/>
          </a:p>
        </p:txBody>
      </p:sp>
      <p:sp>
        <p:nvSpPr>
          <p:cNvPr id="24" name="Shape 21"/>
          <p:cNvSpPr/>
          <p:nvPr/>
        </p:nvSpPr>
        <p:spPr>
          <a:xfrm>
            <a:off x="685800" y="3557016"/>
            <a:ext cx="41148" cy="384048"/>
          </a:xfrm>
          <a:prstGeom prst="rect">
            <a:avLst/>
          </a:prstGeom>
          <a:solidFill>
            <a:srgbClr val="1A365D"/>
          </a:solidFill>
          <a:ln/>
        </p:spPr>
      </p:sp>
      <p:sp>
        <p:nvSpPr>
          <p:cNvPr id="25" name="Text 22"/>
          <p:cNvSpPr/>
          <p:nvPr/>
        </p:nvSpPr>
        <p:spPr>
          <a:xfrm>
            <a:off x="868680" y="3520440"/>
            <a:ext cx="1417320" cy="457200"/>
          </a:xfrm>
          <a:prstGeom prst="rect">
            <a:avLst/>
          </a:prstGeom>
          <a:noFill/>
          <a:ln/>
        </p:spPr>
        <p:txBody>
          <a:bodyPr wrap="square" rtlCol="0" anchor="ctr"/>
          <a:lstStyle/>
          <a:p>
            <a:pPr marL="0" indent="0">
              <a:lnSpc>
                <a:spcPct val="100000"/>
              </a:lnSpc>
              <a:buNone/>
            </a:pPr>
            <a:r>
              <a:rPr lang="en-US" sz="950" b="1" kern="0" spc="100" dirty="0">
                <a:solidFill>
                  <a:srgbClr val="1A365D"/>
                </a:solidFill>
                <a:latin typeface="Segoe UI" pitchFamily="34" charset="0"/>
                <a:ea typeface="Segoe UI" pitchFamily="34" charset="-122"/>
                <a:cs typeface="Segoe UI" pitchFamily="34" charset="-120"/>
              </a:rPr>
              <a:t>SERVICIO</a:t>
            </a:r>
            <a:endParaRPr lang="en-US" sz="950" dirty="0"/>
          </a:p>
        </p:txBody>
      </p:sp>
      <p:sp>
        <p:nvSpPr>
          <p:cNvPr id="26" name="Shape 23"/>
          <p:cNvSpPr/>
          <p:nvPr/>
        </p:nvSpPr>
        <p:spPr>
          <a:xfrm>
            <a:off x="2377440" y="2999232"/>
            <a:ext cx="8503920" cy="1417320"/>
          </a:xfrm>
          <a:prstGeom prst="roundRect">
            <a:avLst>
              <a:gd name="adj" fmla="val 4516"/>
            </a:avLst>
          </a:prstGeom>
          <a:solidFill>
            <a:srgbClr val="1A365D"/>
          </a:solidFill>
          <a:ln w="12700">
            <a:solidFill>
              <a:srgbClr val="1A365D"/>
            </a:solidFill>
            <a:prstDash val="solid"/>
          </a:ln>
        </p:spPr>
      </p:sp>
      <p:sp>
        <p:nvSpPr>
          <p:cNvPr id="27" name="Text 24"/>
          <p:cNvSpPr/>
          <p:nvPr/>
        </p:nvSpPr>
        <p:spPr>
          <a:xfrm>
            <a:off x="2670048" y="3127248"/>
            <a:ext cx="5120640" cy="310896"/>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API REST  ·  Node.js + Express</a:t>
            </a:r>
            <a:endParaRPr lang="en-US" sz="1400" dirty="0"/>
          </a:p>
        </p:txBody>
      </p:sp>
      <p:sp>
        <p:nvSpPr>
          <p:cNvPr id="28" name="Shape 25"/>
          <p:cNvSpPr/>
          <p:nvPr/>
        </p:nvSpPr>
        <p:spPr>
          <a:xfrm>
            <a:off x="9098280" y="3145536"/>
            <a:ext cx="1481328" cy="292608"/>
          </a:xfrm>
          <a:prstGeom prst="roundRect">
            <a:avLst>
              <a:gd name="adj" fmla="val 15625"/>
            </a:avLst>
          </a:prstGeom>
          <a:solidFill>
            <a:srgbClr val="F5B041"/>
          </a:solidFill>
          <a:ln/>
        </p:spPr>
      </p:sp>
      <p:sp>
        <p:nvSpPr>
          <p:cNvPr id="29" name="Text 26"/>
          <p:cNvSpPr/>
          <p:nvPr/>
        </p:nvSpPr>
        <p:spPr>
          <a:xfrm>
            <a:off x="9098280" y="3145536"/>
            <a:ext cx="1481328" cy="292608"/>
          </a:xfrm>
          <a:prstGeom prst="rect">
            <a:avLst/>
          </a:prstGeom>
          <a:noFill/>
          <a:ln/>
        </p:spPr>
        <p:txBody>
          <a:bodyPr wrap="square" rtlCol="0" anchor="ctr"/>
          <a:lstStyle/>
          <a:p>
            <a:pPr marL="0" indent="0" algn="ctr">
              <a:buNone/>
            </a:pPr>
            <a:r>
              <a:rPr lang="en-US" sz="1050" b="1" dirty="0">
                <a:solidFill>
                  <a:srgbClr val="1A365D"/>
                </a:solidFill>
                <a:latin typeface="Consolas" pitchFamily="34" charset="0"/>
                <a:ea typeface="Consolas" pitchFamily="34" charset="-122"/>
                <a:cs typeface="Consolas" pitchFamily="34" charset="-120"/>
              </a:rPr>
              <a:t>/api/v1</a:t>
            </a:r>
            <a:endParaRPr lang="en-US" sz="1050" dirty="0"/>
          </a:p>
        </p:txBody>
      </p:sp>
      <p:sp>
        <p:nvSpPr>
          <p:cNvPr id="30" name="Shape 27"/>
          <p:cNvSpPr/>
          <p:nvPr/>
        </p:nvSpPr>
        <p:spPr>
          <a:xfrm>
            <a:off x="2670048" y="3566160"/>
            <a:ext cx="1874520" cy="310896"/>
          </a:xfrm>
          <a:prstGeom prst="roundRect">
            <a:avLst>
              <a:gd name="adj" fmla="val 14706"/>
            </a:avLst>
          </a:prstGeom>
          <a:solidFill>
            <a:srgbClr val="2A4E7E"/>
          </a:solidFill>
          <a:ln w="9525">
            <a:solidFill>
              <a:srgbClr val="3A639A"/>
            </a:solidFill>
            <a:prstDash val="solid"/>
          </a:ln>
        </p:spPr>
      </p:sp>
      <p:sp>
        <p:nvSpPr>
          <p:cNvPr id="31" name="Text 28"/>
          <p:cNvSpPr/>
          <p:nvPr/>
        </p:nvSpPr>
        <p:spPr>
          <a:xfrm>
            <a:off x="2670048" y="3566160"/>
            <a:ext cx="1874520" cy="310896"/>
          </a:xfrm>
          <a:prstGeom prst="rect">
            <a:avLst/>
          </a:prstGeom>
          <a:noFill/>
          <a:ln/>
        </p:spPr>
        <p:txBody>
          <a:bodyPr wrap="square" rtlCol="0" anchor="ctr"/>
          <a:lstStyle/>
          <a:p>
            <a:pPr marL="0" indent="0" algn="ctr">
              <a:buNone/>
            </a:pPr>
            <a:r>
              <a:rPr lang="en-US" sz="950" dirty="0">
                <a:solidFill>
                  <a:srgbClr val="DCE7F5"/>
                </a:solidFill>
                <a:latin typeface="Segoe UI" pitchFamily="34" charset="0"/>
                <a:ea typeface="Segoe UI" pitchFamily="34" charset="-122"/>
                <a:cs typeface="Segoe UI" pitchFamily="34" charset="-120"/>
              </a:rPr>
              <a:t>Autenticación JWT</a:t>
            </a:r>
            <a:endParaRPr lang="en-US" sz="950" dirty="0"/>
          </a:p>
        </p:txBody>
      </p:sp>
      <p:sp>
        <p:nvSpPr>
          <p:cNvPr id="32" name="Shape 29"/>
          <p:cNvSpPr/>
          <p:nvPr/>
        </p:nvSpPr>
        <p:spPr>
          <a:xfrm>
            <a:off x="4700016" y="3566160"/>
            <a:ext cx="1874520" cy="310896"/>
          </a:xfrm>
          <a:prstGeom prst="roundRect">
            <a:avLst>
              <a:gd name="adj" fmla="val 14706"/>
            </a:avLst>
          </a:prstGeom>
          <a:solidFill>
            <a:srgbClr val="2A4E7E"/>
          </a:solidFill>
          <a:ln w="9525">
            <a:solidFill>
              <a:srgbClr val="3A639A"/>
            </a:solidFill>
            <a:prstDash val="solid"/>
          </a:ln>
        </p:spPr>
      </p:sp>
      <p:sp>
        <p:nvSpPr>
          <p:cNvPr id="33" name="Text 30"/>
          <p:cNvSpPr/>
          <p:nvPr/>
        </p:nvSpPr>
        <p:spPr>
          <a:xfrm>
            <a:off x="4700016" y="3566160"/>
            <a:ext cx="1874520" cy="310896"/>
          </a:xfrm>
          <a:prstGeom prst="rect">
            <a:avLst/>
          </a:prstGeom>
          <a:noFill/>
          <a:ln/>
        </p:spPr>
        <p:txBody>
          <a:bodyPr wrap="square" rtlCol="0" anchor="ctr"/>
          <a:lstStyle/>
          <a:p>
            <a:pPr marL="0" indent="0" algn="ctr">
              <a:buNone/>
            </a:pPr>
            <a:r>
              <a:rPr lang="en-US" sz="950" dirty="0">
                <a:solidFill>
                  <a:srgbClr val="DCE7F5"/>
                </a:solidFill>
                <a:latin typeface="Segoe UI" pitchFamily="34" charset="0"/>
                <a:ea typeface="Segoe UI" pitchFamily="34" charset="-122"/>
                <a:cs typeface="Segoe UI" pitchFamily="34" charset="-120"/>
              </a:rPr>
              <a:t>Práctica y cuota</a:t>
            </a:r>
            <a:endParaRPr lang="en-US" sz="950" dirty="0"/>
          </a:p>
        </p:txBody>
      </p:sp>
      <p:sp>
        <p:nvSpPr>
          <p:cNvPr id="34" name="Shape 31"/>
          <p:cNvSpPr/>
          <p:nvPr/>
        </p:nvSpPr>
        <p:spPr>
          <a:xfrm>
            <a:off x="6729984" y="3566160"/>
            <a:ext cx="1874520" cy="310896"/>
          </a:xfrm>
          <a:prstGeom prst="roundRect">
            <a:avLst>
              <a:gd name="adj" fmla="val 14706"/>
            </a:avLst>
          </a:prstGeom>
          <a:solidFill>
            <a:srgbClr val="2A4E7E"/>
          </a:solidFill>
          <a:ln w="9525">
            <a:solidFill>
              <a:srgbClr val="3A639A"/>
            </a:solidFill>
            <a:prstDash val="solid"/>
          </a:ln>
        </p:spPr>
      </p:sp>
      <p:sp>
        <p:nvSpPr>
          <p:cNvPr id="35" name="Text 32"/>
          <p:cNvSpPr/>
          <p:nvPr/>
        </p:nvSpPr>
        <p:spPr>
          <a:xfrm>
            <a:off x="6729984" y="3566160"/>
            <a:ext cx="1874520" cy="310896"/>
          </a:xfrm>
          <a:prstGeom prst="rect">
            <a:avLst/>
          </a:prstGeom>
          <a:noFill/>
          <a:ln/>
        </p:spPr>
        <p:txBody>
          <a:bodyPr wrap="square" rtlCol="0" anchor="ctr"/>
          <a:lstStyle/>
          <a:p>
            <a:pPr marL="0" indent="0" algn="ctr">
              <a:buNone/>
            </a:pPr>
            <a:r>
              <a:rPr lang="en-US" sz="950" dirty="0">
                <a:solidFill>
                  <a:srgbClr val="DCE7F5"/>
                </a:solidFill>
                <a:latin typeface="Segoe UI" pitchFamily="34" charset="0"/>
                <a:ea typeface="Segoe UI" pitchFamily="34" charset="-122"/>
                <a:cs typeface="Segoe UI" pitchFamily="34" charset="-120"/>
              </a:rPr>
              <a:t>Gamificación</a:t>
            </a:r>
            <a:endParaRPr lang="en-US" sz="950" dirty="0"/>
          </a:p>
        </p:txBody>
      </p:sp>
      <p:sp>
        <p:nvSpPr>
          <p:cNvPr id="36" name="Shape 33"/>
          <p:cNvSpPr/>
          <p:nvPr/>
        </p:nvSpPr>
        <p:spPr>
          <a:xfrm>
            <a:off x="8759952" y="3566160"/>
            <a:ext cx="1874520" cy="310896"/>
          </a:xfrm>
          <a:prstGeom prst="roundRect">
            <a:avLst>
              <a:gd name="adj" fmla="val 14706"/>
            </a:avLst>
          </a:prstGeom>
          <a:solidFill>
            <a:srgbClr val="2A4E7E"/>
          </a:solidFill>
          <a:ln w="9525">
            <a:solidFill>
              <a:srgbClr val="3A639A"/>
            </a:solidFill>
            <a:prstDash val="solid"/>
          </a:ln>
        </p:spPr>
      </p:sp>
      <p:sp>
        <p:nvSpPr>
          <p:cNvPr id="37" name="Text 34"/>
          <p:cNvSpPr/>
          <p:nvPr/>
        </p:nvSpPr>
        <p:spPr>
          <a:xfrm>
            <a:off x="8759952" y="3566160"/>
            <a:ext cx="1874520" cy="310896"/>
          </a:xfrm>
          <a:prstGeom prst="rect">
            <a:avLst/>
          </a:prstGeom>
          <a:noFill/>
          <a:ln/>
        </p:spPr>
        <p:txBody>
          <a:bodyPr wrap="square" rtlCol="0" anchor="ctr"/>
          <a:lstStyle/>
          <a:p>
            <a:pPr marL="0" indent="0" algn="ctr">
              <a:buNone/>
            </a:pPr>
            <a:r>
              <a:rPr lang="en-US" sz="950" dirty="0">
                <a:solidFill>
                  <a:srgbClr val="DCE7F5"/>
                </a:solidFill>
                <a:latin typeface="Segoe UI" pitchFamily="34" charset="0"/>
                <a:ea typeface="Segoe UI" pitchFamily="34" charset="-122"/>
                <a:cs typeface="Segoe UI" pitchFamily="34" charset="-120"/>
              </a:rPr>
              <a:t>Grupos</a:t>
            </a:r>
            <a:endParaRPr lang="en-US" sz="950" dirty="0"/>
          </a:p>
        </p:txBody>
      </p:sp>
      <p:sp>
        <p:nvSpPr>
          <p:cNvPr id="38" name="Shape 35"/>
          <p:cNvSpPr/>
          <p:nvPr/>
        </p:nvSpPr>
        <p:spPr>
          <a:xfrm>
            <a:off x="2670048" y="3950208"/>
            <a:ext cx="1874520" cy="310896"/>
          </a:xfrm>
          <a:prstGeom prst="roundRect">
            <a:avLst>
              <a:gd name="adj" fmla="val 14706"/>
            </a:avLst>
          </a:prstGeom>
          <a:solidFill>
            <a:srgbClr val="2A4E7E"/>
          </a:solidFill>
          <a:ln w="9525">
            <a:solidFill>
              <a:srgbClr val="3A639A"/>
            </a:solidFill>
            <a:prstDash val="solid"/>
          </a:ln>
        </p:spPr>
      </p:sp>
      <p:sp>
        <p:nvSpPr>
          <p:cNvPr id="39" name="Text 36"/>
          <p:cNvSpPr/>
          <p:nvPr/>
        </p:nvSpPr>
        <p:spPr>
          <a:xfrm>
            <a:off x="2670048" y="3950208"/>
            <a:ext cx="1874520" cy="310896"/>
          </a:xfrm>
          <a:prstGeom prst="rect">
            <a:avLst/>
          </a:prstGeom>
          <a:noFill/>
          <a:ln/>
        </p:spPr>
        <p:txBody>
          <a:bodyPr wrap="square" rtlCol="0" anchor="ctr"/>
          <a:lstStyle/>
          <a:p>
            <a:pPr marL="0" indent="0" algn="ctr">
              <a:buNone/>
            </a:pPr>
            <a:r>
              <a:rPr lang="en-US" sz="950" dirty="0">
                <a:solidFill>
                  <a:srgbClr val="DCE7F5"/>
                </a:solidFill>
                <a:latin typeface="Segoe UI" pitchFamily="34" charset="0"/>
                <a:ea typeface="Segoe UI" pitchFamily="34" charset="-122"/>
                <a:cs typeface="Segoe UI" pitchFamily="34" charset="-120"/>
              </a:rPr>
              <a:t>Comunidad</a:t>
            </a:r>
            <a:endParaRPr lang="en-US" sz="950" dirty="0"/>
          </a:p>
        </p:txBody>
      </p:sp>
      <p:sp>
        <p:nvSpPr>
          <p:cNvPr id="40" name="Shape 37"/>
          <p:cNvSpPr/>
          <p:nvPr/>
        </p:nvSpPr>
        <p:spPr>
          <a:xfrm>
            <a:off x="4700016" y="3950208"/>
            <a:ext cx="1874520" cy="310896"/>
          </a:xfrm>
          <a:prstGeom prst="roundRect">
            <a:avLst>
              <a:gd name="adj" fmla="val 14706"/>
            </a:avLst>
          </a:prstGeom>
          <a:solidFill>
            <a:srgbClr val="2A4E7E"/>
          </a:solidFill>
          <a:ln w="9525">
            <a:solidFill>
              <a:srgbClr val="3A639A"/>
            </a:solidFill>
            <a:prstDash val="solid"/>
          </a:ln>
        </p:spPr>
      </p:sp>
      <p:sp>
        <p:nvSpPr>
          <p:cNvPr id="41" name="Text 38"/>
          <p:cNvSpPr/>
          <p:nvPr/>
        </p:nvSpPr>
        <p:spPr>
          <a:xfrm>
            <a:off x="4700016" y="3950208"/>
            <a:ext cx="1874520" cy="310896"/>
          </a:xfrm>
          <a:prstGeom prst="rect">
            <a:avLst/>
          </a:prstGeom>
          <a:noFill/>
          <a:ln/>
        </p:spPr>
        <p:txBody>
          <a:bodyPr wrap="square" rtlCol="0" anchor="ctr"/>
          <a:lstStyle/>
          <a:p>
            <a:pPr marL="0" indent="0" algn="ctr">
              <a:buNone/>
            </a:pPr>
            <a:r>
              <a:rPr lang="en-US" sz="950" dirty="0">
                <a:solidFill>
                  <a:srgbClr val="DCE7F5"/>
                </a:solidFill>
                <a:latin typeface="Segoe UI" pitchFamily="34" charset="0"/>
                <a:ea typeface="Segoe UI" pitchFamily="34" charset="-122"/>
                <a:cs typeface="Segoe UI" pitchFamily="34" charset="-120"/>
              </a:rPr>
              <a:t>Tutores y chat</a:t>
            </a:r>
            <a:endParaRPr lang="en-US" sz="950" dirty="0"/>
          </a:p>
        </p:txBody>
      </p:sp>
      <p:sp>
        <p:nvSpPr>
          <p:cNvPr id="42" name="Shape 39"/>
          <p:cNvSpPr/>
          <p:nvPr/>
        </p:nvSpPr>
        <p:spPr>
          <a:xfrm>
            <a:off x="6729984" y="3950208"/>
            <a:ext cx="1874520" cy="310896"/>
          </a:xfrm>
          <a:prstGeom prst="roundRect">
            <a:avLst>
              <a:gd name="adj" fmla="val 14706"/>
            </a:avLst>
          </a:prstGeom>
          <a:solidFill>
            <a:srgbClr val="2A4E7E"/>
          </a:solidFill>
          <a:ln w="9525">
            <a:solidFill>
              <a:srgbClr val="3A639A"/>
            </a:solidFill>
            <a:prstDash val="solid"/>
          </a:ln>
        </p:spPr>
      </p:sp>
      <p:sp>
        <p:nvSpPr>
          <p:cNvPr id="43" name="Text 40"/>
          <p:cNvSpPr/>
          <p:nvPr/>
        </p:nvSpPr>
        <p:spPr>
          <a:xfrm>
            <a:off x="6729984" y="3950208"/>
            <a:ext cx="1874520" cy="310896"/>
          </a:xfrm>
          <a:prstGeom prst="rect">
            <a:avLst/>
          </a:prstGeom>
          <a:noFill/>
          <a:ln/>
        </p:spPr>
        <p:txBody>
          <a:bodyPr wrap="square" rtlCol="0" anchor="ctr"/>
          <a:lstStyle/>
          <a:p>
            <a:pPr marL="0" indent="0" algn="ctr">
              <a:buNone/>
            </a:pPr>
            <a:r>
              <a:rPr lang="en-US" sz="950" dirty="0">
                <a:solidFill>
                  <a:srgbClr val="DCE7F5"/>
                </a:solidFill>
                <a:latin typeface="Segoe UI" pitchFamily="34" charset="0"/>
                <a:ea typeface="Segoe UI" pitchFamily="34" charset="-122"/>
                <a:cs typeface="Segoe UI" pitchFamily="34" charset="-120"/>
              </a:rPr>
              <a:t>Suscripciones</a:t>
            </a:r>
            <a:endParaRPr lang="en-US" sz="950" dirty="0"/>
          </a:p>
        </p:txBody>
      </p:sp>
      <p:sp>
        <p:nvSpPr>
          <p:cNvPr id="44" name="Shape 41"/>
          <p:cNvSpPr/>
          <p:nvPr/>
        </p:nvSpPr>
        <p:spPr>
          <a:xfrm>
            <a:off x="8759952" y="3950208"/>
            <a:ext cx="1874520" cy="310896"/>
          </a:xfrm>
          <a:prstGeom prst="roundRect">
            <a:avLst>
              <a:gd name="adj" fmla="val 14706"/>
            </a:avLst>
          </a:prstGeom>
          <a:solidFill>
            <a:srgbClr val="2A4E7E"/>
          </a:solidFill>
          <a:ln w="9525">
            <a:solidFill>
              <a:srgbClr val="3A639A"/>
            </a:solidFill>
            <a:prstDash val="solid"/>
          </a:ln>
        </p:spPr>
      </p:sp>
      <p:sp>
        <p:nvSpPr>
          <p:cNvPr id="45" name="Text 42"/>
          <p:cNvSpPr/>
          <p:nvPr/>
        </p:nvSpPr>
        <p:spPr>
          <a:xfrm>
            <a:off x="8759952" y="3950208"/>
            <a:ext cx="1874520" cy="310896"/>
          </a:xfrm>
          <a:prstGeom prst="rect">
            <a:avLst/>
          </a:prstGeom>
          <a:noFill/>
          <a:ln/>
        </p:spPr>
        <p:txBody>
          <a:bodyPr wrap="square" rtlCol="0" anchor="ctr"/>
          <a:lstStyle/>
          <a:p>
            <a:pPr marL="0" indent="0" algn="ctr">
              <a:buNone/>
            </a:pPr>
            <a:r>
              <a:rPr lang="en-US" sz="950" dirty="0">
                <a:solidFill>
                  <a:srgbClr val="DCE7F5"/>
                </a:solidFill>
                <a:latin typeface="Segoe UI" pitchFamily="34" charset="0"/>
                <a:ea typeface="Segoe UI" pitchFamily="34" charset="-122"/>
                <a:cs typeface="Segoe UI" pitchFamily="34" charset="-120"/>
              </a:rPr>
              <a:t>Recorrección</a:t>
            </a:r>
            <a:endParaRPr lang="en-US" sz="950" dirty="0"/>
          </a:p>
        </p:txBody>
      </p:sp>
      <p:sp>
        <p:nvSpPr>
          <p:cNvPr id="46" name="Shape 43"/>
          <p:cNvSpPr/>
          <p:nvPr/>
        </p:nvSpPr>
        <p:spPr>
          <a:xfrm>
            <a:off x="4411980" y="4416552"/>
            <a:ext cx="0" cy="292608"/>
          </a:xfrm>
          <a:prstGeom prst="line">
            <a:avLst/>
          </a:prstGeom>
          <a:noFill/>
          <a:ln w="22225">
            <a:solidFill>
              <a:srgbClr val="7A8AA0"/>
            </a:solidFill>
            <a:prstDash val="solid"/>
            <a:tailEnd type="triangle"/>
          </a:ln>
        </p:spPr>
      </p:sp>
      <p:sp>
        <p:nvSpPr>
          <p:cNvPr id="47" name="Shape 44"/>
          <p:cNvSpPr/>
          <p:nvPr/>
        </p:nvSpPr>
        <p:spPr>
          <a:xfrm>
            <a:off x="8846820" y="4416552"/>
            <a:ext cx="0" cy="292608"/>
          </a:xfrm>
          <a:prstGeom prst="line">
            <a:avLst/>
          </a:prstGeom>
          <a:noFill/>
          <a:ln w="22225">
            <a:solidFill>
              <a:srgbClr val="7A8AA0"/>
            </a:solidFill>
            <a:prstDash val="solid"/>
            <a:tailEnd type="triangle"/>
          </a:ln>
        </p:spPr>
      </p:sp>
      <p:sp>
        <p:nvSpPr>
          <p:cNvPr id="48" name="Shape 45"/>
          <p:cNvSpPr/>
          <p:nvPr/>
        </p:nvSpPr>
        <p:spPr>
          <a:xfrm>
            <a:off x="685800" y="5157216"/>
            <a:ext cx="41148" cy="384048"/>
          </a:xfrm>
          <a:prstGeom prst="rect">
            <a:avLst/>
          </a:prstGeom>
          <a:solidFill>
            <a:srgbClr val="F5B041"/>
          </a:solidFill>
          <a:ln/>
        </p:spPr>
      </p:sp>
      <p:sp>
        <p:nvSpPr>
          <p:cNvPr id="49" name="Text 46"/>
          <p:cNvSpPr/>
          <p:nvPr/>
        </p:nvSpPr>
        <p:spPr>
          <a:xfrm>
            <a:off x="868680" y="5120640"/>
            <a:ext cx="1417320" cy="457200"/>
          </a:xfrm>
          <a:prstGeom prst="rect">
            <a:avLst/>
          </a:prstGeom>
          <a:noFill/>
          <a:ln/>
        </p:spPr>
        <p:txBody>
          <a:bodyPr wrap="square" rtlCol="0" anchor="ctr"/>
          <a:lstStyle/>
          <a:p>
            <a:pPr marL="0" indent="0">
              <a:lnSpc>
                <a:spcPct val="100000"/>
              </a:lnSpc>
              <a:buNone/>
            </a:pPr>
            <a:r>
              <a:rPr lang="en-US" sz="950" b="1" kern="0" spc="100" dirty="0">
                <a:solidFill>
                  <a:srgbClr val="F5B041"/>
                </a:solidFill>
                <a:latin typeface="Segoe UI" pitchFamily="34" charset="0"/>
                <a:ea typeface="Segoe UI" pitchFamily="34" charset="-122"/>
                <a:cs typeface="Segoe UI" pitchFamily="34" charset="-120"/>
              </a:rPr>
              <a:t>DATOS Y</a:t>
            </a:r>
            <a:endParaRPr lang="en-US" sz="950" dirty="0"/>
          </a:p>
          <a:p>
            <a:pPr marL="0" indent="0">
              <a:lnSpc>
                <a:spcPct val="100000"/>
              </a:lnSpc>
              <a:buNone/>
            </a:pPr>
            <a:r>
              <a:rPr lang="en-US" sz="950" b="1" kern="0" spc="100" dirty="0">
                <a:solidFill>
                  <a:srgbClr val="F5B041"/>
                </a:solidFill>
                <a:latin typeface="Segoe UI" pitchFamily="34" charset="0"/>
                <a:ea typeface="Segoe UI" pitchFamily="34" charset="-122"/>
                <a:cs typeface="Segoe UI" pitchFamily="34" charset="-120"/>
              </a:rPr>
              <a:t>EXTERNOS</a:t>
            </a:r>
            <a:endParaRPr lang="en-US" sz="950" dirty="0"/>
          </a:p>
        </p:txBody>
      </p:sp>
      <p:sp>
        <p:nvSpPr>
          <p:cNvPr id="50" name="Shape 47"/>
          <p:cNvSpPr/>
          <p:nvPr/>
        </p:nvSpPr>
        <p:spPr>
          <a:xfrm>
            <a:off x="2377440" y="4736592"/>
            <a:ext cx="4069080" cy="1207008"/>
          </a:xfrm>
          <a:prstGeom prst="roundRect">
            <a:avLst>
              <a:gd name="adj" fmla="val 4545"/>
            </a:avLst>
          </a:prstGeom>
          <a:solidFill>
            <a:srgbClr val="FFFBF2"/>
          </a:solidFill>
          <a:ln w="19050">
            <a:solidFill>
              <a:srgbClr val="F5B041"/>
            </a:solidFill>
            <a:prstDash val="solid"/>
          </a:ln>
        </p:spPr>
      </p:sp>
      <p:sp>
        <p:nvSpPr>
          <p:cNvPr id="51" name="Text 48"/>
          <p:cNvSpPr/>
          <p:nvPr/>
        </p:nvSpPr>
        <p:spPr>
          <a:xfrm>
            <a:off x="2670048" y="4846320"/>
            <a:ext cx="3520440" cy="292608"/>
          </a:xfrm>
          <a:prstGeom prst="rect">
            <a:avLst/>
          </a:prstGeom>
          <a:noFill/>
          <a:ln/>
        </p:spPr>
        <p:txBody>
          <a:bodyPr wrap="square" rtlCol="0" anchor="ctr"/>
          <a:lstStyle/>
          <a:p>
            <a:pPr marL="0" indent="0">
              <a:buNone/>
            </a:pPr>
            <a:r>
              <a:rPr lang="en-US" sz="1400" b="1" dirty="0">
                <a:solidFill>
                  <a:srgbClr val="1A365D"/>
                </a:solidFill>
                <a:latin typeface="Segoe UI" pitchFamily="34" charset="0"/>
                <a:ea typeface="Segoe UI" pitchFamily="34" charset="-122"/>
                <a:cs typeface="Segoe UI" pitchFamily="34" charset="-120"/>
              </a:rPr>
              <a:t>Cloud Firestore</a:t>
            </a:r>
            <a:endParaRPr lang="en-US" sz="1400" dirty="0"/>
          </a:p>
        </p:txBody>
      </p:sp>
      <p:sp>
        <p:nvSpPr>
          <p:cNvPr id="52" name="Text 49"/>
          <p:cNvSpPr/>
          <p:nvPr/>
        </p:nvSpPr>
        <p:spPr>
          <a:xfrm>
            <a:off x="2670048" y="5157216"/>
            <a:ext cx="3520440" cy="658368"/>
          </a:xfrm>
          <a:prstGeom prst="rect">
            <a:avLst/>
          </a:prstGeom>
          <a:noFill/>
          <a:ln/>
        </p:spPr>
        <p:txBody>
          <a:bodyPr wrap="square" rtlCol="0" anchor="ctr"/>
          <a:lstStyle/>
          <a:p>
            <a:pPr marL="0" indent="0">
              <a:lnSpc>
                <a:spcPct val="115000"/>
              </a:lnSpc>
              <a:buNone/>
            </a:pPr>
            <a:r>
              <a:rPr lang="en-US" sz="1050" dirty="0">
                <a:solidFill>
                  <a:srgbClr val="47566B"/>
                </a:solidFill>
                <a:latin typeface="Segoe UI" pitchFamily="34" charset="0"/>
                <a:ea typeface="Segoe UI" pitchFamily="34" charset="-122"/>
                <a:cs typeface="Segoe UI" pitchFamily="34" charset="-120"/>
              </a:rPr>
              <a:t>Base no relacional  ·  Índices compuestos</a:t>
            </a:r>
            <a:endParaRPr lang="en-US" sz="1050" dirty="0"/>
          </a:p>
          <a:p>
            <a:pPr marL="0" indent="0">
              <a:lnSpc>
                <a:spcPct val="115000"/>
              </a:lnSpc>
              <a:buNone/>
            </a:pPr>
            <a:r>
              <a:rPr lang="en-US" sz="1050" dirty="0">
                <a:solidFill>
                  <a:srgbClr val="47566B"/>
                </a:solidFill>
                <a:latin typeface="Segoe UI" pitchFamily="34" charset="0"/>
                <a:ea typeface="Segoe UI" pitchFamily="34" charset="-122"/>
                <a:cs typeface="Segoe UI" pitchFamily="34" charset="-120"/>
              </a:rPr>
              <a:t>Reglas de acceso  ·  Caché local en la app</a:t>
            </a:r>
            <a:endParaRPr lang="en-US" sz="1050" dirty="0"/>
          </a:p>
        </p:txBody>
      </p:sp>
      <p:sp>
        <p:nvSpPr>
          <p:cNvPr id="53" name="Shape 50"/>
          <p:cNvSpPr/>
          <p:nvPr/>
        </p:nvSpPr>
        <p:spPr>
          <a:xfrm>
            <a:off x="6812280" y="4736592"/>
            <a:ext cx="4069080" cy="1207008"/>
          </a:xfrm>
          <a:prstGeom prst="roundRect">
            <a:avLst>
              <a:gd name="adj" fmla="val 4545"/>
            </a:avLst>
          </a:prstGeom>
          <a:solidFill>
            <a:srgbClr val="F0FAF5"/>
          </a:solidFill>
          <a:ln w="19050">
            <a:solidFill>
              <a:srgbClr val="10B981"/>
            </a:solidFill>
            <a:prstDash val="solid"/>
          </a:ln>
        </p:spPr>
      </p:sp>
      <p:sp>
        <p:nvSpPr>
          <p:cNvPr id="54" name="Text 51"/>
          <p:cNvSpPr/>
          <p:nvPr/>
        </p:nvSpPr>
        <p:spPr>
          <a:xfrm>
            <a:off x="7104888" y="4846320"/>
            <a:ext cx="3520440" cy="292608"/>
          </a:xfrm>
          <a:prstGeom prst="rect">
            <a:avLst/>
          </a:prstGeom>
          <a:noFill/>
          <a:ln/>
        </p:spPr>
        <p:txBody>
          <a:bodyPr wrap="square" rtlCol="0" anchor="ctr"/>
          <a:lstStyle/>
          <a:p>
            <a:pPr marL="0" indent="0">
              <a:buNone/>
            </a:pPr>
            <a:r>
              <a:rPr lang="en-US" sz="1400" b="1" dirty="0">
                <a:solidFill>
                  <a:srgbClr val="1A365D"/>
                </a:solidFill>
                <a:latin typeface="Segoe UI" pitchFamily="34" charset="0"/>
                <a:ea typeface="Segoe UI" pitchFamily="34" charset="-122"/>
                <a:cs typeface="Segoe UI" pitchFamily="34" charset="-120"/>
              </a:rPr>
              <a:t>Servicios externos</a:t>
            </a:r>
            <a:endParaRPr lang="en-US" sz="1400" dirty="0"/>
          </a:p>
        </p:txBody>
      </p:sp>
      <p:sp>
        <p:nvSpPr>
          <p:cNvPr id="55" name="Text 52"/>
          <p:cNvSpPr/>
          <p:nvPr/>
        </p:nvSpPr>
        <p:spPr>
          <a:xfrm>
            <a:off x="7104888" y="5157216"/>
            <a:ext cx="3520440" cy="658368"/>
          </a:xfrm>
          <a:prstGeom prst="rect">
            <a:avLst/>
          </a:prstGeom>
          <a:noFill/>
          <a:ln/>
        </p:spPr>
        <p:txBody>
          <a:bodyPr wrap="square" rtlCol="0" anchor="ctr"/>
          <a:lstStyle/>
          <a:p>
            <a:pPr marL="0" indent="0">
              <a:lnSpc>
                <a:spcPct val="115000"/>
              </a:lnSpc>
              <a:buNone/>
            </a:pPr>
            <a:r>
              <a:rPr lang="en-US" sz="1050" dirty="0">
                <a:solidFill>
                  <a:srgbClr val="47566B"/>
                </a:solidFill>
                <a:latin typeface="Segoe UI" pitchFamily="34" charset="0"/>
                <a:ea typeface="Segoe UI" pitchFamily="34" charset="-122"/>
                <a:cs typeface="Segoe UI" pitchFamily="34" charset="-120"/>
              </a:rPr>
              <a:t>Firebase Auth (teléfono)  ·  Pasarela de pago</a:t>
            </a:r>
            <a:endParaRPr lang="en-US" sz="1050" dirty="0"/>
          </a:p>
          <a:p>
            <a:pPr marL="0" indent="0">
              <a:lnSpc>
                <a:spcPct val="115000"/>
              </a:lnSpc>
              <a:buNone/>
            </a:pPr>
            <a:r>
              <a:rPr lang="en-US" sz="1050" dirty="0">
                <a:solidFill>
                  <a:srgbClr val="47566B"/>
                </a:solidFill>
                <a:latin typeface="Segoe UI" pitchFamily="34" charset="0"/>
                <a:ea typeface="Segoe UI" pitchFamily="34" charset="-122"/>
                <a:cs typeface="Segoe UI" pitchFamily="34" charset="-120"/>
              </a:rPr>
              <a:t>Notificaciones push  ·  Almacenamiento</a:t>
            </a:r>
            <a:endParaRPr lang="en-US" sz="1050" dirty="0"/>
          </a:p>
        </p:txBody>
      </p:sp>
      <p:sp>
        <p:nvSpPr>
          <p:cNvPr id="56" name="Text 53"/>
          <p:cNvSpPr/>
          <p:nvPr/>
        </p:nvSpPr>
        <p:spPr>
          <a:xfrm>
            <a:off x="685800" y="6053328"/>
            <a:ext cx="10835640" cy="274320"/>
          </a:xfrm>
          <a:prstGeom prst="rect">
            <a:avLst/>
          </a:prstGeom>
          <a:noFill/>
          <a:ln/>
        </p:spPr>
        <p:txBody>
          <a:bodyPr wrap="square" rtlCol="0" anchor="ctr"/>
          <a:lstStyle/>
          <a:p>
            <a:pPr marL="0" indent="0">
              <a:buNone/>
            </a:pPr>
            <a:r>
              <a:rPr lang="en-US" sz="1100" i="1" dirty="0">
                <a:solidFill>
                  <a:srgbClr val="7A8AA0"/>
                </a:solidFill>
                <a:latin typeface="Segoe UI" pitchFamily="34" charset="0"/>
                <a:ea typeface="Segoe UI" pitchFamily="34" charset="-122"/>
                <a:cs typeface="Segoe UI" pitchFamily="34" charset="-120"/>
              </a:rPr>
              <a:t>Un solo servicio atiende a la aplicación móvil y al sitio web: el contrato de API es compartido.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MODELO DE DATOS · CLOUD FIRESTORE</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Colecciones principales del sistema</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12 / 16</a:t>
            </a:r>
            <a:endParaRPr lang="en-US" sz="900" dirty="0"/>
          </a:p>
        </p:txBody>
      </p:sp>
      <p:sp>
        <p:nvSpPr>
          <p:cNvPr id="11" name="Shape 8"/>
          <p:cNvSpPr/>
          <p:nvPr/>
        </p:nvSpPr>
        <p:spPr>
          <a:xfrm>
            <a:off x="4572000" y="2331720"/>
            <a:ext cx="3017520" cy="1783080"/>
          </a:xfrm>
          <a:prstGeom prst="roundRect">
            <a:avLst>
              <a:gd name="adj" fmla="val 2564"/>
            </a:avLst>
          </a:prstGeom>
          <a:solidFill>
            <a:srgbClr val="EEF3FA"/>
          </a:solidFill>
          <a:ln w="19050">
            <a:solidFill>
              <a:srgbClr val="1A365D"/>
            </a:solidFill>
            <a:prstDash val="solid"/>
          </a:ln>
        </p:spPr>
      </p:sp>
      <p:sp>
        <p:nvSpPr>
          <p:cNvPr id="12" name="Shape 9"/>
          <p:cNvSpPr/>
          <p:nvPr/>
        </p:nvSpPr>
        <p:spPr>
          <a:xfrm>
            <a:off x="4572000" y="2331720"/>
            <a:ext cx="3017520" cy="310896"/>
          </a:xfrm>
          <a:prstGeom prst="rect">
            <a:avLst/>
          </a:prstGeom>
          <a:solidFill>
            <a:srgbClr val="1A365D"/>
          </a:solidFill>
          <a:ln/>
        </p:spPr>
      </p:sp>
      <p:sp>
        <p:nvSpPr>
          <p:cNvPr id="13" name="Text 10"/>
          <p:cNvSpPr/>
          <p:nvPr/>
        </p:nvSpPr>
        <p:spPr>
          <a:xfrm>
            <a:off x="4681728" y="2350008"/>
            <a:ext cx="2798064" cy="27432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users</a:t>
            </a:r>
            <a:endParaRPr lang="en-US" sz="1050" dirty="0"/>
          </a:p>
        </p:txBody>
      </p:sp>
      <p:sp>
        <p:nvSpPr>
          <p:cNvPr id="14" name="Text 11"/>
          <p:cNvSpPr/>
          <p:nvPr/>
        </p:nvSpPr>
        <p:spPr>
          <a:xfrm>
            <a:off x="4700016" y="2715768"/>
            <a:ext cx="2761488" cy="1325880"/>
          </a:xfrm>
          <a:prstGeom prst="rect">
            <a:avLst/>
          </a:prstGeom>
          <a:noFill/>
          <a:ln/>
        </p:spPr>
        <p:txBody>
          <a:bodyPr wrap="square" rtlCol="0" anchor="ctr"/>
          <a:lstStyle/>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perfil, plan y racha</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cuota diaria y bonos</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medallero</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preferencias de estudio</a:t>
            </a:r>
            <a:endParaRPr lang="en-US" sz="950" dirty="0"/>
          </a:p>
        </p:txBody>
      </p:sp>
      <p:sp>
        <p:nvSpPr>
          <p:cNvPr id="15" name="Shape 12"/>
          <p:cNvSpPr/>
          <p:nvPr/>
        </p:nvSpPr>
        <p:spPr>
          <a:xfrm>
            <a:off x="658368" y="1645920"/>
            <a:ext cx="2788920" cy="1280160"/>
          </a:xfrm>
          <a:prstGeom prst="roundRect">
            <a:avLst>
              <a:gd name="adj" fmla="val 3571"/>
            </a:avLst>
          </a:prstGeom>
          <a:solidFill>
            <a:srgbClr val="FFFFFF"/>
          </a:solidFill>
          <a:ln w="19050">
            <a:solidFill>
              <a:srgbClr val="2D5A9E"/>
            </a:solidFill>
            <a:prstDash val="solid"/>
          </a:ln>
        </p:spPr>
      </p:sp>
      <p:sp>
        <p:nvSpPr>
          <p:cNvPr id="16" name="Shape 13"/>
          <p:cNvSpPr/>
          <p:nvPr/>
        </p:nvSpPr>
        <p:spPr>
          <a:xfrm>
            <a:off x="658368" y="1645920"/>
            <a:ext cx="2788920" cy="310896"/>
          </a:xfrm>
          <a:prstGeom prst="rect">
            <a:avLst/>
          </a:prstGeom>
          <a:solidFill>
            <a:srgbClr val="2D5A9E"/>
          </a:solidFill>
          <a:ln/>
        </p:spPr>
      </p:sp>
      <p:sp>
        <p:nvSpPr>
          <p:cNvPr id="17" name="Text 14"/>
          <p:cNvSpPr/>
          <p:nvPr/>
        </p:nvSpPr>
        <p:spPr>
          <a:xfrm>
            <a:off x="768096" y="1664208"/>
            <a:ext cx="2569464" cy="27432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questions</a:t>
            </a:r>
            <a:endParaRPr lang="en-US" sz="1050" dirty="0"/>
          </a:p>
        </p:txBody>
      </p:sp>
      <p:sp>
        <p:nvSpPr>
          <p:cNvPr id="18" name="Text 15"/>
          <p:cNvSpPr/>
          <p:nvPr/>
        </p:nvSpPr>
        <p:spPr>
          <a:xfrm>
            <a:off x="786384" y="2029968"/>
            <a:ext cx="2532888" cy="822960"/>
          </a:xfrm>
          <a:prstGeom prst="rect">
            <a:avLst/>
          </a:prstGeom>
          <a:noFill/>
          <a:ln/>
        </p:spPr>
        <p:txBody>
          <a:bodyPr wrap="square" rtlCol="0" anchor="ctr"/>
          <a:lstStyle/>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enunciado y alternativas</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eje y dificultad</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explicación y habilidad</a:t>
            </a:r>
            <a:endParaRPr lang="en-US" sz="950" dirty="0"/>
          </a:p>
        </p:txBody>
      </p:sp>
      <p:sp>
        <p:nvSpPr>
          <p:cNvPr id="19" name="Shape 16"/>
          <p:cNvSpPr/>
          <p:nvPr/>
        </p:nvSpPr>
        <p:spPr>
          <a:xfrm>
            <a:off x="658368" y="3154680"/>
            <a:ext cx="2788920" cy="1188720"/>
          </a:xfrm>
          <a:prstGeom prst="roundRect">
            <a:avLst>
              <a:gd name="adj" fmla="val 3846"/>
            </a:avLst>
          </a:prstGeom>
          <a:solidFill>
            <a:srgbClr val="FFFFFF"/>
          </a:solidFill>
          <a:ln w="19050">
            <a:solidFill>
              <a:srgbClr val="2D5A9E"/>
            </a:solidFill>
            <a:prstDash val="solid"/>
          </a:ln>
        </p:spPr>
      </p:sp>
      <p:sp>
        <p:nvSpPr>
          <p:cNvPr id="20" name="Shape 17"/>
          <p:cNvSpPr/>
          <p:nvPr/>
        </p:nvSpPr>
        <p:spPr>
          <a:xfrm>
            <a:off x="658368" y="3154680"/>
            <a:ext cx="2788920" cy="310896"/>
          </a:xfrm>
          <a:prstGeom prst="rect">
            <a:avLst/>
          </a:prstGeom>
          <a:solidFill>
            <a:srgbClr val="2D5A9E"/>
          </a:solidFill>
          <a:ln/>
        </p:spPr>
      </p:sp>
      <p:sp>
        <p:nvSpPr>
          <p:cNvPr id="21" name="Text 18"/>
          <p:cNvSpPr/>
          <p:nvPr/>
        </p:nvSpPr>
        <p:spPr>
          <a:xfrm>
            <a:off x="768096" y="3172968"/>
            <a:ext cx="2569464" cy="27432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answers</a:t>
            </a:r>
            <a:endParaRPr lang="en-US" sz="1050" dirty="0"/>
          </a:p>
        </p:txBody>
      </p:sp>
      <p:sp>
        <p:nvSpPr>
          <p:cNvPr id="22" name="Text 19"/>
          <p:cNvSpPr/>
          <p:nvPr/>
        </p:nvSpPr>
        <p:spPr>
          <a:xfrm>
            <a:off x="786384" y="3538728"/>
            <a:ext cx="2532888" cy="731520"/>
          </a:xfrm>
          <a:prstGeom prst="rect">
            <a:avLst/>
          </a:prstGeom>
          <a:noFill/>
          <a:ln/>
        </p:spPr>
        <p:txBody>
          <a:bodyPr wrap="square" rtlCol="0" anchor="ctr"/>
          <a:lstStyle/>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respuesta del alumno</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resultado y fecha</a:t>
            </a:r>
            <a:endParaRPr lang="en-US" sz="950" dirty="0"/>
          </a:p>
        </p:txBody>
      </p:sp>
      <p:sp>
        <p:nvSpPr>
          <p:cNvPr id="23" name="Shape 20"/>
          <p:cNvSpPr/>
          <p:nvPr/>
        </p:nvSpPr>
        <p:spPr>
          <a:xfrm>
            <a:off x="658368" y="4572000"/>
            <a:ext cx="2788920" cy="1188720"/>
          </a:xfrm>
          <a:prstGeom prst="roundRect">
            <a:avLst>
              <a:gd name="adj" fmla="val 3846"/>
            </a:avLst>
          </a:prstGeom>
          <a:solidFill>
            <a:srgbClr val="FFFFFF"/>
          </a:solidFill>
          <a:ln w="19050">
            <a:solidFill>
              <a:srgbClr val="2D5A9E"/>
            </a:solidFill>
            <a:prstDash val="solid"/>
          </a:ln>
        </p:spPr>
      </p:sp>
      <p:sp>
        <p:nvSpPr>
          <p:cNvPr id="24" name="Shape 21"/>
          <p:cNvSpPr/>
          <p:nvPr/>
        </p:nvSpPr>
        <p:spPr>
          <a:xfrm>
            <a:off x="658368" y="4572000"/>
            <a:ext cx="2788920" cy="310896"/>
          </a:xfrm>
          <a:prstGeom prst="rect">
            <a:avLst/>
          </a:prstGeom>
          <a:solidFill>
            <a:srgbClr val="2D5A9E"/>
          </a:solidFill>
          <a:ln/>
        </p:spPr>
      </p:sp>
      <p:sp>
        <p:nvSpPr>
          <p:cNvPr id="25" name="Text 22"/>
          <p:cNvSpPr/>
          <p:nvPr/>
        </p:nvSpPr>
        <p:spPr>
          <a:xfrm>
            <a:off x="768096" y="4590288"/>
            <a:ext cx="2569464" cy="27432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corrections</a:t>
            </a:r>
            <a:endParaRPr lang="en-US" sz="1050" dirty="0"/>
          </a:p>
        </p:txBody>
      </p:sp>
      <p:sp>
        <p:nvSpPr>
          <p:cNvPr id="26" name="Text 23"/>
          <p:cNvSpPr/>
          <p:nvPr/>
        </p:nvSpPr>
        <p:spPr>
          <a:xfrm>
            <a:off x="786384" y="4956048"/>
            <a:ext cx="2532888" cy="731520"/>
          </a:xfrm>
          <a:prstGeom prst="rect">
            <a:avLst/>
          </a:prstGeom>
          <a:noFill/>
          <a:ln/>
        </p:spPr>
        <p:txBody>
          <a:bodyPr wrap="square" rtlCol="0" anchor="ctr"/>
          <a:lstStyle/>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motivo y estado</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veredicto y recompensa</a:t>
            </a:r>
            <a:endParaRPr lang="en-US" sz="950" dirty="0"/>
          </a:p>
        </p:txBody>
      </p:sp>
      <p:sp>
        <p:nvSpPr>
          <p:cNvPr id="27" name="Shape 24"/>
          <p:cNvSpPr/>
          <p:nvPr/>
        </p:nvSpPr>
        <p:spPr>
          <a:xfrm>
            <a:off x="8732520" y="1645920"/>
            <a:ext cx="2788920" cy="1280160"/>
          </a:xfrm>
          <a:prstGeom prst="roundRect">
            <a:avLst>
              <a:gd name="adj" fmla="val 3571"/>
            </a:avLst>
          </a:prstGeom>
          <a:solidFill>
            <a:srgbClr val="FFFFFF"/>
          </a:solidFill>
          <a:ln w="19050">
            <a:solidFill>
              <a:srgbClr val="F5B041"/>
            </a:solidFill>
            <a:prstDash val="solid"/>
          </a:ln>
        </p:spPr>
      </p:sp>
      <p:sp>
        <p:nvSpPr>
          <p:cNvPr id="28" name="Shape 25"/>
          <p:cNvSpPr/>
          <p:nvPr/>
        </p:nvSpPr>
        <p:spPr>
          <a:xfrm>
            <a:off x="8732520" y="1645920"/>
            <a:ext cx="2788920" cy="310896"/>
          </a:xfrm>
          <a:prstGeom prst="rect">
            <a:avLst/>
          </a:prstGeom>
          <a:solidFill>
            <a:srgbClr val="F5B041"/>
          </a:solidFill>
          <a:ln/>
        </p:spPr>
      </p:sp>
      <p:sp>
        <p:nvSpPr>
          <p:cNvPr id="29" name="Text 26"/>
          <p:cNvSpPr/>
          <p:nvPr/>
        </p:nvSpPr>
        <p:spPr>
          <a:xfrm>
            <a:off x="8842248" y="1664208"/>
            <a:ext cx="2569464" cy="27432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groups</a:t>
            </a:r>
            <a:endParaRPr lang="en-US" sz="1050" dirty="0"/>
          </a:p>
        </p:txBody>
      </p:sp>
      <p:sp>
        <p:nvSpPr>
          <p:cNvPr id="30" name="Text 27"/>
          <p:cNvSpPr/>
          <p:nvPr/>
        </p:nvSpPr>
        <p:spPr>
          <a:xfrm>
            <a:off x="8860536" y="2029968"/>
            <a:ext cx="2532888" cy="822960"/>
          </a:xfrm>
          <a:prstGeom prst="rect">
            <a:avLst/>
          </a:prstGeom>
          <a:noFill/>
          <a:ln/>
        </p:spPr>
        <p:txBody>
          <a:bodyPr wrap="square" rtlCol="0" anchor="ctr"/>
          <a:lstStyle/>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miembros e invitaciones</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estadísticas</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contenido compartido</a:t>
            </a:r>
            <a:endParaRPr lang="en-US" sz="950" dirty="0"/>
          </a:p>
        </p:txBody>
      </p:sp>
      <p:sp>
        <p:nvSpPr>
          <p:cNvPr id="31" name="Shape 28"/>
          <p:cNvSpPr/>
          <p:nvPr/>
        </p:nvSpPr>
        <p:spPr>
          <a:xfrm>
            <a:off x="8732520" y="3154680"/>
            <a:ext cx="2788920" cy="1188720"/>
          </a:xfrm>
          <a:prstGeom prst="roundRect">
            <a:avLst>
              <a:gd name="adj" fmla="val 3846"/>
            </a:avLst>
          </a:prstGeom>
          <a:solidFill>
            <a:srgbClr val="FFFFFF"/>
          </a:solidFill>
          <a:ln w="19050">
            <a:solidFill>
              <a:srgbClr val="F5B041"/>
            </a:solidFill>
            <a:prstDash val="solid"/>
          </a:ln>
        </p:spPr>
      </p:sp>
      <p:sp>
        <p:nvSpPr>
          <p:cNvPr id="32" name="Shape 29"/>
          <p:cNvSpPr/>
          <p:nvPr/>
        </p:nvSpPr>
        <p:spPr>
          <a:xfrm>
            <a:off x="8732520" y="3154680"/>
            <a:ext cx="2788920" cy="310896"/>
          </a:xfrm>
          <a:prstGeom prst="rect">
            <a:avLst/>
          </a:prstGeom>
          <a:solidFill>
            <a:srgbClr val="F5B041"/>
          </a:solidFill>
          <a:ln/>
        </p:spPr>
      </p:sp>
      <p:sp>
        <p:nvSpPr>
          <p:cNvPr id="33" name="Text 30"/>
          <p:cNvSpPr/>
          <p:nvPr/>
        </p:nvSpPr>
        <p:spPr>
          <a:xfrm>
            <a:off x="8842248" y="3172968"/>
            <a:ext cx="2569464" cy="27432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posts</a:t>
            </a:r>
            <a:endParaRPr lang="en-US" sz="1050" dirty="0"/>
          </a:p>
        </p:txBody>
      </p:sp>
      <p:sp>
        <p:nvSpPr>
          <p:cNvPr id="34" name="Text 31"/>
          <p:cNvSpPr/>
          <p:nvPr/>
        </p:nvSpPr>
        <p:spPr>
          <a:xfrm>
            <a:off x="8860536" y="3538728"/>
            <a:ext cx="2532888" cy="731520"/>
          </a:xfrm>
          <a:prstGeom prst="rect">
            <a:avLst/>
          </a:prstGeom>
          <a:noFill/>
          <a:ln/>
        </p:spPr>
        <p:txBody>
          <a:bodyPr wrap="square" rtlCol="0" anchor="ctr"/>
          <a:lstStyle/>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publicaciones y likes</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comentarios</a:t>
            </a:r>
            <a:endParaRPr lang="en-US" sz="950" dirty="0"/>
          </a:p>
        </p:txBody>
      </p:sp>
      <p:sp>
        <p:nvSpPr>
          <p:cNvPr id="35" name="Shape 32"/>
          <p:cNvSpPr/>
          <p:nvPr/>
        </p:nvSpPr>
        <p:spPr>
          <a:xfrm>
            <a:off x="8732520" y="4572000"/>
            <a:ext cx="2788920" cy="1188720"/>
          </a:xfrm>
          <a:prstGeom prst="roundRect">
            <a:avLst>
              <a:gd name="adj" fmla="val 3846"/>
            </a:avLst>
          </a:prstGeom>
          <a:solidFill>
            <a:srgbClr val="FFFFFF"/>
          </a:solidFill>
          <a:ln w="19050">
            <a:solidFill>
              <a:srgbClr val="F5B041"/>
            </a:solidFill>
            <a:prstDash val="solid"/>
          </a:ln>
        </p:spPr>
      </p:sp>
      <p:sp>
        <p:nvSpPr>
          <p:cNvPr id="36" name="Shape 33"/>
          <p:cNvSpPr/>
          <p:nvPr/>
        </p:nvSpPr>
        <p:spPr>
          <a:xfrm>
            <a:off x="8732520" y="4572000"/>
            <a:ext cx="2788920" cy="310896"/>
          </a:xfrm>
          <a:prstGeom prst="rect">
            <a:avLst/>
          </a:prstGeom>
          <a:solidFill>
            <a:srgbClr val="F5B041"/>
          </a:solidFill>
          <a:ln/>
        </p:spPr>
      </p:sp>
      <p:sp>
        <p:nvSpPr>
          <p:cNvPr id="37" name="Text 34"/>
          <p:cNvSpPr/>
          <p:nvPr/>
        </p:nvSpPr>
        <p:spPr>
          <a:xfrm>
            <a:off x="8842248" y="4590288"/>
            <a:ext cx="2569464" cy="27432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tutors</a:t>
            </a:r>
            <a:endParaRPr lang="en-US" sz="1050" dirty="0"/>
          </a:p>
        </p:txBody>
      </p:sp>
      <p:sp>
        <p:nvSpPr>
          <p:cNvPr id="38" name="Text 35"/>
          <p:cNvSpPr/>
          <p:nvPr/>
        </p:nvSpPr>
        <p:spPr>
          <a:xfrm>
            <a:off x="8860536" y="4956048"/>
            <a:ext cx="2532888" cy="731520"/>
          </a:xfrm>
          <a:prstGeom prst="rect">
            <a:avLst/>
          </a:prstGeom>
          <a:noFill/>
          <a:ln/>
        </p:spPr>
        <p:txBody>
          <a:bodyPr wrap="square" rtlCol="0" anchor="ctr"/>
          <a:lstStyle/>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perfil y valoraciones</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conversaciones</a:t>
            </a:r>
            <a:endParaRPr lang="en-US" sz="950" dirty="0"/>
          </a:p>
        </p:txBody>
      </p:sp>
      <p:sp>
        <p:nvSpPr>
          <p:cNvPr id="39" name="Shape 36"/>
          <p:cNvSpPr/>
          <p:nvPr/>
        </p:nvSpPr>
        <p:spPr>
          <a:xfrm>
            <a:off x="4572000" y="4480560"/>
            <a:ext cx="3017520" cy="1280160"/>
          </a:xfrm>
          <a:prstGeom prst="roundRect">
            <a:avLst>
              <a:gd name="adj" fmla="val 3571"/>
            </a:avLst>
          </a:prstGeom>
          <a:solidFill>
            <a:srgbClr val="FFFFFF"/>
          </a:solidFill>
          <a:ln w="19050">
            <a:solidFill>
              <a:srgbClr val="10B981"/>
            </a:solidFill>
            <a:prstDash val="solid"/>
          </a:ln>
        </p:spPr>
      </p:sp>
      <p:sp>
        <p:nvSpPr>
          <p:cNvPr id="40" name="Shape 37"/>
          <p:cNvSpPr/>
          <p:nvPr/>
        </p:nvSpPr>
        <p:spPr>
          <a:xfrm>
            <a:off x="4572000" y="4480560"/>
            <a:ext cx="3017520" cy="310896"/>
          </a:xfrm>
          <a:prstGeom prst="rect">
            <a:avLst/>
          </a:prstGeom>
          <a:solidFill>
            <a:srgbClr val="10B981"/>
          </a:solidFill>
          <a:ln/>
        </p:spPr>
      </p:sp>
      <p:sp>
        <p:nvSpPr>
          <p:cNvPr id="41" name="Text 38"/>
          <p:cNvSpPr/>
          <p:nvPr/>
        </p:nvSpPr>
        <p:spPr>
          <a:xfrm>
            <a:off x="4681728" y="4498848"/>
            <a:ext cx="2798064" cy="274320"/>
          </a:xfrm>
          <a:prstGeom prst="rect">
            <a:avLst/>
          </a:prstGeom>
          <a:noFill/>
          <a:ln/>
        </p:spPr>
        <p:txBody>
          <a:bodyPr wrap="square"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plans · benefits</a:t>
            </a:r>
            <a:endParaRPr lang="en-US" sz="1050" dirty="0"/>
          </a:p>
        </p:txBody>
      </p:sp>
      <p:sp>
        <p:nvSpPr>
          <p:cNvPr id="42" name="Text 39"/>
          <p:cNvSpPr/>
          <p:nvPr/>
        </p:nvSpPr>
        <p:spPr>
          <a:xfrm>
            <a:off x="4700016" y="4864608"/>
            <a:ext cx="2761488" cy="822960"/>
          </a:xfrm>
          <a:prstGeom prst="rect">
            <a:avLst/>
          </a:prstGeom>
          <a:noFill/>
          <a:ln/>
        </p:spPr>
        <p:txBody>
          <a:bodyPr wrap="square" rtlCol="0" anchor="ctr"/>
          <a:lstStyle/>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planes y precios</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sponsors y beneficios</a:t>
            </a:r>
            <a:endParaRPr lang="en-US" sz="950" dirty="0"/>
          </a:p>
          <a:p>
            <a:pPr marL="0" indent="0">
              <a:lnSpc>
                <a:spcPct val="112000"/>
              </a:lnSpc>
              <a:buNone/>
            </a:pPr>
            <a:r>
              <a:rPr lang="en-US" sz="950" dirty="0">
                <a:solidFill>
                  <a:srgbClr val="47566B"/>
                </a:solidFill>
                <a:latin typeface="Segoe UI" pitchFamily="34" charset="0"/>
                <a:ea typeface="Segoe UI" pitchFamily="34" charset="-122"/>
                <a:cs typeface="Segoe UI" pitchFamily="34" charset="-120"/>
              </a:rPr>
              <a:t>suscripciones</a:t>
            </a:r>
            <a:endParaRPr lang="en-US" sz="950" dirty="0"/>
          </a:p>
        </p:txBody>
      </p:sp>
      <p:sp>
        <p:nvSpPr>
          <p:cNvPr id="43" name="Shape 40"/>
          <p:cNvSpPr/>
          <p:nvPr/>
        </p:nvSpPr>
        <p:spPr>
          <a:xfrm>
            <a:off x="3447288" y="2286000"/>
            <a:ext cx="1124712" cy="548640"/>
          </a:xfrm>
          <a:prstGeom prst="line">
            <a:avLst/>
          </a:prstGeom>
          <a:noFill/>
          <a:ln w="12700">
            <a:solidFill>
              <a:srgbClr val="7A8AA0"/>
            </a:solidFill>
            <a:prstDash val="dash"/>
          </a:ln>
        </p:spPr>
      </p:sp>
      <p:sp>
        <p:nvSpPr>
          <p:cNvPr id="44" name="Shape 41"/>
          <p:cNvSpPr/>
          <p:nvPr/>
        </p:nvSpPr>
        <p:spPr>
          <a:xfrm>
            <a:off x="3447288" y="3749040"/>
            <a:ext cx="1124712" cy="0"/>
          </a:xfrm>
          <a:prstGeom prst="line">
            <a:avLst/>
          </a:prstGeom>
          <a:noFill/>
          <a:ln w="12700">
            <a:solidFill>
              <a:srgbClr val="7A8AA0"/>
            </a:solidFill>
            <a:prstDash val="dash"/>
          </a:ln>
        </p:spPr>
      </p:sp>
      <p:sp>
        <p:nvSpPr>
          <p:cNvPr id="45" name="Shape 42"/>
          <p:cNvSpPr/>
          <p:nvPr/>
        </p:nvSpPr>
        <p:spPr>
          <a:xfrm>
            <a:off x="3447288" y="5166360"/>
            <a:ext cx="1124712" cy="0"/>
          </a:xfrm>
          <a:prstGeom prst="line">
            <a:avLst/>
          </a:prstGeom>
          <a:noFill/>
          <a:ln w="12700">
            <a:solidFill>
              <a:srgbClr val="7A8AA0"/>
            </a:solidFill>
            <a:prstDash val="dash"/>
          </a:ln>
        </p:spPr>
      </p:sp>
      <p:sp>
        <p:nvSpPr>
          <p:cNvPr id="46" name="Shape 43"/>
          <p:cNvSpPr/>
          <p:nvPr/>
        </p:nvSpPr>
        <p:spPr>
          <a:xfrm>
            <a:off x="7589520" y="2834640"/>
            <a:ext cx="1143000" cy="0"/>
          </a:xfrm>
          <a:prstGeom prst="line">
            <a:avLst/>
          </a:prstGeom>
          <a:noFill/>
          <a:ln w="12700">
            <a:solidFill>
              <a:srgbClr val="7A8AA0"/>
            </a:solidFill>
            <a:prstDash val="dash"/>
          </a:ln>
        </p:spPr>
      </p:sp>
      <p:sp>
        <p:nvSpPr>
          <p:cNvPr id="47" name="Shape 44"/>
          <p:cNvSpPr/>
          <p:nvPr/>
        </p:nvSpPr>
        <p:spPr>
          <a:xfrm>
            <a:off x="7589520" y="3291840"/>
            <a:ext cx="1143000" cy="457200"/>
          </a:xfrm>
          <a:prstGeom prst="line">
            <a:avLst/>
          </a:prstGeom>
          <a:noFill/>
          <a:ln w="12700">
            <a:solidFill>
              <a:srgbClr val="7A8AA0"/>
            </a:solidFill>
            <a:prstDash val="dash"/>
          </a:ln>
        </p:spPr>
      </p:sp>
      <p:sp>
        <p:nvSpPr>
          <p:cNvPr id="48" name="Shape 45"/>
          <p:cNvSpPr/>
          <p:nvPr/>
        </p:nvSpPr>
        <p:spPr>
          <a:xfrm>
            <a:off x="7589520" y="3749040"/>
            <a:ext cx="1143000" cy="1417320"/>
          </a:xfrm>
          <a:prstGeom prst="line">
            <a:avLst/>
          </a:prstGeom>
          <a:noFill/>
          <a:ln w="12700">
            <a:solidFill>
              <a:srgbClr val="7A8AA0"/>
            </a:solidFill>
            <a:prstDash val="dash"/>
          </a:ln>
        </p:spPr>
      </p:sp>
      <p:sp>
        <p:nvSpPr>
          <p:cNvPr id="49" name="Text 46"/>
          <p:cNvSpPr/>
          <p:nvPr/>
        </p:nvSpPr>
        <p:spPr>
          <a:xfrm>
            <a:off x="658368" y="5943600"/>
            <a:ext cx="10863072" cy="274320"/>
          </a:xfrm>
          <a:prstGeom prst="rect">
            <a:avLst/>
          </a:prstGeom>
          <a:noFill/>
          <a:ln/>
        </p:spPr>
        <p:txBody>
          <a:bodyPr wrap="square" rtlCol="0" anchor="ctr"/>
          <a:lstStyle/>
          <a:p>
            <a:pPr marL="0" indent="0">
              <a:buNone/>
            </a:pPr>
            <a:r>
              <a:rPr lang="en-US" sz="1100" i="1" dirty="0">
                <a:solidFill>
                  <a:srgbClr val="7A8AA0"/>
                </a:solidFill>
                <a:latin typeface="Segoe UI" pitchFamily="34" charset="0"/>
                <a:ea typeface="Segoe UI" pitchFamily="34" charset="-122"/>
                <a:cs typeface="Segoe UI" pitchFamily="34" charset="-120"/>
              </a:rPr>
              <a:t>Base no relacional orientada a documentos. La integridad se aplica en la capa de servicios.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SOSTENIBILIDAD DEL PRODUCTO</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Modelo de negocio y monetización</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13 / 16</a:t>
            </a:r>
            <a:endParaRPr lang="en-US" sz="900" dirty="0"/>
          </a:p>
        </p:txBody>
      </p:sp>
      <p:sp>
        <p:nvSpPr>
          <p:cNvPr id="11" name="Shape 8"/>
          <p:cNvSpPr/>
          <p:nvPr/>
        </p:nvSpPr>
        <p:spPr>
          <a:xfrm>
            <a:off x="658368" y="1627632"/>
            <a:ext cx="2606040" cy="3017520"/>
          </a:xfrm>
          <a:prstGeom prst="roundRect">
            <a:avLst>
              <a:gd name="adj" fmla="val 2105"/>
            </a:avLst>
          </a:prstGeom>
          <a:solidFill>
            <a:srgbClr val="FFFFFF"/>
          </a:solidFill>
          <a:ln w="12700">
            <a:solidFill>
              <a:srgbClr val="DCE4EE"/>
            </a:solidFill>
            <a:prstDash val="solid"/>
          </a:ln>
        </p:spPr>
      </p:sp>
      <p:sp>
        <p:nvSpPr>
          <p:cNvPr id="12" name="Shape 9"/>
          <p:cNvSpPr/>
          <p:nvPr/>
        </p:nvSpPr>
        <p:spPr>
          <a:xfrm>
            <a:off x="658368" y="1627632"/>
            <a:ext cx="50292" cy="3017520"/>
          </a:xfrm>
          <a:prstGeom prst="rect">
            <a:avLst/>
          </a:prstGeom>
          <a:solidFill>
            <a:srgbClr val="7A8AA0"/>
          </a:solidFill>
          <a:ln/>
        </p:spPr>
      </p:sp>
      <p:sp>
        <p:nvSpPr>
          <p:cNvPr id="13" name="Text 10"/>
          <p:cNvSpPr/>
          <p:nvPr/>
        </p:nvSpPr>
        <p:spPr>
          <a:xfrm>
            <a:off x="932688" y="1810512"/>
            <a:ext cx="2103120" cy="365760"/>
          </a:xfrm>
          <a:prstGeom prst="rect">
            <a:avLst/>
          </a:prstGeom>
          <a:noFill/>
          <a:ln/>
        </p:spPr>
        <p:txBody>
          <a:bodyPr wrap="square" rtlCol="0" anchor="ctr"/>
          <a:lstStyle/>
          <a:p>
            <a:pPr marL="0" indent="0">
              <a:buNone/>
            </a:pPr>
            <a:r>
              <a:rPr lang="en-US" sz="1900" b="1" dirty="0">
                <a:solidFill>
                  <a:srgbClr val="1A365D"/>
                </a:solidFill>
                <a:latin typeface="Segoe UI" pitchFamily="34" charset="0"/>
                <a:ea typeface="Segoe UI" pitchFamily="34" charset="-122"/>
                <a:cs typeface="Segoe UI" pitchFamily="34" charset="-120"/>
              </a:rPr>
              <a:t>Free</a:t>
            </a:r>
            <a:endParaRPr lang="en-US" sz="1900" dirty="0"/>
          </a:p>
        </p:txBody>
      </p:sp>
      <p:sp>
        <p:nvSpPr>
          <p:cNvPr id="14" name="Text 11"/>
          <p:cNvSpPr/>
          <p:nvPr/>
        </p:nvSpPr>
        <p:spPr>
          <a:xfrm>
            <a:off x="932688" y="2212848"/>
            <a:ext cx="2103120" cy="310896"/>
          </a:xfrm>
          <a:prstGeom prst="rect">
            <a:avLst/>
          </a:prstGeom>
          <a:noFill/>
          <a:ln/>
        </p:spPr>
        <p:txBody>
          <a:bodyPr wrap="square" rtlCol="0" anchor="ctr"/>
          <a:lstStyle/>
          <a:p>
            <a:pPr marL="0" indent="0">
              <a:buNone/>
            </a:pPr>
            <a:r>
              <a:rPr lang="en-US" sz="1300" b="1" dirty="0">
                <a:solidFill>
                  <a:srgbClr val="7A8AA0"/>
                </a:solidFill>
                <a:latin typeface="Segoe UI" pitchFamily="34" charset="0"/>
                <a:ea typeface="Segoe UI" pitchFamily="34" charset="-122"/>
                <a:cs typeface="Segoe UI" pitchFamily="34" charset="-120"/>
              </a:rPr>
              <a:t>Gratuito</a:t>
            </a:r>
            <a:endParaRPr lang="en-US" sz="1300" dirty="0"/>
          </a:p>
        </p:txBody>
      </p:sp>
      <p:sp>
        <p:nvSpPr>
          <p:cNvPr id="15" name="Text 12"/>
          <p:cNvSpPr/>
          <p:nvPr/>
        </p:nvSpPr>
        <p:spPr>
          <a:xfrm>
            <a:off x="914400" y="2670048"/>
            <a:ext cx="2240280" cy="1188720"/>
          </a:xfrm>
          <a:prstGeom prst="rect">
            <a:avLst/>
          </a:prstGeom>
          <a:noFill/>
          <a:ln/>
        </p:spPr>
        <p:txBody>
          <a:bodyPr wrap="square" rtlCol="0" anchor="t"/>
          <a:lstStyle/>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10 preguntas al día</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Hasta 20 con bonos</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Una prueba a elección</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Grupos limitados</a:t>
            </a:r>
            <a:endParaRPr lang="en-US" sz="1050" dirty="0"/>
          </a:p>
        </p:txBody>
      </p:sp>
      <p:sp>
        <p:nvSpPr>
          <p:cNvPr id="16" name="Shape 13"/>
          <p:cNvSpPr/>
          <p:nvPr/>
        </p:nvSpPr>
        <p:spPr>
          <a:xfrm>
            <a:off x="3447288" y="1627632"/>
            <a:ext cx="2606040" cy="3017520"/>
          </a:xfrm>
          <a:prstGeom prst="roundRect">
            <a:avLst>
              <a:gd name="adj" fmla="val 2105"/>
            </a:avLst>
          </a:prstGeom>
          <a:solidFill>
            <a:srgbClr val="FFFFFF"/>
          </a:solidFill>
          <a:ln w="12700">
            <a:solidFill>
              <a:srgbClr val="DCE4EE"/>
            </a:solidFill>
            <a:prstDash val="solid"/>
          </a:ln>
        </p:spPr>
      </p:sp>
      <p:sp>
        <p:nvSpPr>
          <p:cNvPr id="17" name="Shape 14"/>
          <p:cNvSpPr/>
          <p:nvPr/>
        </p:nvSpPr>
        <p:spPr>
          <a:xfrm>
            <a:off x="3447288" y="1627632"/>
            <a:ext cx="50292" cy="3017520"/>
          </a:xfrm>
          <a:prstGeom prst="rect">
            <a:avLst/>
          </a:prstGeom>
          <a:solidFill>
            <a:srgbClr val="2D5A9E"/>
          </a:solidFill>
          <a:ln/>
        </p:spPr>
      </p:sp>
      <p:sp>
        <p:nvSpPr>
          <p:cNvPr id="18" name="Text 15"/>
          <p:cNvSpPr/>
          <p:nvPr/>
        </p:nvSpPr>
        <p:spPr>
          <a:xfrm>
            <a:off x="3721608" y="1810512"/>
            <a:ext cx="2103120" cy="365760"/>
          </a:xfrm>
          <a:prstGeom prst="rect">
            <a:avLst/>
          </a:prstGeom>
          <a:noFill/>
          <a:ln/>
        </p:spPr>
        <p:txBody>
          <a:bodyPr wrap="square" rtlCol="0" anchor="ctr"/>
          <a:lstStyle/>
          <a:p>
            <a:pPr marL="0" indent="0">
              <a:buNone/>
            </a:pPr>
            <a:r>
              <a:rPr lang="en-US" sz="1900" b="1" dirty="0">
                <a:solidFill>
                  <a:srgbClr val="1A365D"/>
                </a:solidFill>
                <a:latin typeface="Segoe UI" pitchFamily="34" charset="0"/>
                <a:ea typeface="Segoe UI" pitchFamily="34" charset="-122"/>
                <a:cs typeface="Segoe UI" pitchFamily="34" charset="-120"/>
              </a:rPr>
              <a:t>Uni</a:t>
            </a:r>
            <a:endParaRPr lang="en-US" sz="1900" dirty="0"/>
          </a:p>
        </p:txBody>
      </p:sp>
      <p:sp>
        <p:nvSpPr>
          <p:cNvPr id="19" name="Text 16"/>
          <p:cNvSpPr/>
          <p:nvPr/>
        </p:nvSpPr>
        <p:spPr>
          <a:xfrm>
            <a:off x="3721608" y="2212848"/>
            <a:ext cx="2103120" cy="310896"/>
          </a:xfrm>
          <a:prstGeom prst="rect">
            <a:avLst/>
          </a:prstGeom>
          <a:noFill/>
          <a:ln/>
        </p:spPr>
        <p:txBody>
          <a:bodyPr wrap="square" rtlCol="0" anchor="ctr"/>
          <a:lstStyle/>
          <a:p>
            <a:pPr marL="0" indent="0">
              <a:buNone/>
            </a:pPr>
            <a:r>
              <a:rPr lang="en-US" sz="1300" b="1" dirty="0">
                <a:solidFill>
                  <a:srgbClr val="2D5A9E"/>
                </a:solidFill>
                <a:latin typeface="Segoe UI" pitchFamily="34" charset="0"/>
                <a:ea typeface="Segoe UI" pitchFamily="34" charset="-122"/>
                <a:cs typeface="Segoe UI" pitchFamily="34" charset="-120"/>
              </a:rPr>
              <a:t>US$ 1 / mes</a:t>
            </a:r>
            <a:endParaRPr lang="en-US" sz="1300" dirty="0"/>
          </a:p>
        </p:txBody>
      </p:sp>
      <p:sp>
        <p:nvSpPr>
          <p:cNvPr id="20" name="Text 17"/>
          <p:cNvSpPr/>
          <p:nvPr/>
        </p:nvSpPr>
        <p:spPr>
          <a:xfrm>
            <a:off x="3703320" y="2670048"/>
            <a:ext cx="2240280" cy="1188720"/>
          </a:xfrm>
          <a:prstGeom prst="rect">
            <a:avLst/>
          </a:prstGeom>
          <a:noFill/>
          <a:ln/>
        </p:spPr>
        <p:txBody>
          <a:bodyPr wrap="square" rtlCol="0" anchor="t"/>
          <a:lstStyle/>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Preguntas ilimitadas</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Una prueba completa</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Grupos sin límite</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Sin publicidad</a:t>
            </a:r>
            <a:endParaRPr lang="en-US" sz="1050" dirty="0"/>
          </a:p>
        </p:txBody>
      </p:sp>
      <p:sp>
        <p:nvSpPr>
          <p:cNvPr id="21" name="Shape 18"/>
          <p:cNvSpPr/>
          <p:nvPr/>
        </p:nvSpPr>
        <p:spPr>
          <a:xfrm>
            <a:off x="6236208" y="1627632"/>
            <a:ext cx="2606040" cy="3017520"/>
          </a:xfrm>
          <a:prstGeom prst="roundRect">
            <a:avLst>
              <a:gd name="adj" fmla="val 2105"/>
            </a:avLst>
          </a:prstGeom>
          <a:solidFill>
            <a:srgbClr val="FFFBF2"/>
          </a:solidFill>
          <a:ln w="12700">
            <a:solidFill>
              <a:srgbClr val="DCE4EE"/>
            </a:solidFill>
            <a:prstDash val="solid"/>
          </a:ln>
        </p:spPr>
      </p:sp>
      <p:sp>
        <p:nvSpPr>
          <p:cNvPr id="22" name="Shape 19"/>
          <p:cNvSpPr/>
          <p:nvPr/>
        </p:nvSpPr>
        <p:spPr>
          <a:xfrm>
            <a:off x="6236208" y="1627632"/>
            <a:ext cx="50292" cy="3017520"/>
          </a:xfrm>
          <a:prstGeom prst="rect">
            <a:avLst/>
          </a:prstGeom>
          <a:solidFill>
            <a:srgbClr val="F5B041"/>
          </a:solidFill>
          <a:ln/>
        </p:spPr>
      </p:sp>
      <p:sp>
        <p:nvSpPr>
          <p:cNvPr id="23" name="Text 20"/>
          <p:cNvSpPr/>
          <p:nvPr/>
        </p:nvSpPr>
        <p:spPr>
          <a:xfrm>
            <a:off x="6510528" y="1810512"/>
            <a:ext cx="2103120" cy="365760"/>
          </a:xfrm>
          <a:prstGeom prst="rect">
            <a:avLst/>
          </a:prstGeom>
          <a:noFill/>
          <a:ln/>
        </p:spPr>
        <p:txBody>
          <a:bodyPr wrap="square" rtlCol="0" anchor="ctr"/>
          <a:lstStyle/>
          <a:p>
            <a:pPr marL="0" indent="0">
              <a:buNone/>
            </a:pPr>
            <a:r>
              <a:rPr lang="en-US" sz="1900" b="1" dirty="0">
                <a:solidFill>
                  <a:srgbClr val="1A365D"/>
                </a:solidFill>
                <a:latin typeface="Segoe UI" pitchFamily="34" charset="0"/>
                <a:ea typeface="Segoe UI" pitchFamily="34" charset="-122"/>
                <a:cs typeface="Segoe UI" pitchFamily="34" charset="-120"/>
              </a:rPr>
              <a:t>All</a:t>
            </a:r>
            <a:endParaRPr lang="en-US" sz="1900" dirty="0"/>
          </a:p>
        </p:txBody>
      </p:sp>
      <p:sp>
        <p:nvSpPr>
          <p:cNvPr id="24" name="Text 21"/>
          <p:cNvSpPr/>
          <p:nvPr/>
        </p:nvSpPr>
        <p:spPr>
          <a:xfrm>
            <a:off x="6510528" y="2212848"/>
            <a:ext cx="2103120" cy="310896"/>
          </a:xfrm>
          <a:prstGeom prst="rect">
            <a:avLst/>
          </a:prstGeom>
          <a:noFill/>
          <a:ln/>
        </p:spPr>
        <p:txBody>
          <a:bodyPr wrap="square" rtlCol="0" anchor="ctr"/>
          <a:lstStyle/>
          <a:p>
            <a:pPr marL="0" indent="0">
              <a:buNone/>
            </a:pPr>
            <a:r>
              <a:rPr lang="en-US" sz="1300" b="1" dirty="0">
                <a:solidFill>
                  <a:srgbClr val="F5B041"/>
                </a:solidFill>
                <a:latin typeface="Segoe UI" pitchFamily="34" charset="0"/>
                <a:ea typeface="Segoe UI" pitchFamily="34" charset="-122"/>
                <a:cs typeface="Segoe UI" pitchFamily="34" charset="-120"/>
              </a:rPr>
              <a:t>US$ 5 / mes</a:t>
            </a:r>
            <a:endParaRPr lang="en-US" sz="1300" dirty="0"/>
          </a:p>
        </p:txBody>
      </p:sp>
      <p:sp>
        <p:nvSpPr>
          <p:cNvPr id="25" name="Text 22"/>
          <p:cNvSpPr/>
          <p:nvPr/>
        </p:nvSpPr>
        <p:spPr>
          <a:xfrm>
            <a:off x="6492240" y="2670048"/>
            <a:ext cx="2240280" cy="1188720"/>
          </a:xfrm>
          <a:prstGeom prst="rect">
            <a:avLst/>
          </a:prstGeom>
          <a:noFill/>
          <a:ln/>
        </p:spPr>
        <p:txBody>
          <a:bodyPr wrap="square" rtlCol="0" anchor="t"/>
          <a:lstStyle/>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Preguntas ilimitadas</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Todas las pruebas</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Contacto con tutores</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Análisis de falencias</a:t>
            </a:r>
            <a:endParaRPr lang="en-US" sz="1050" dirty="0"/>
          </a:p>
        </p:txBody>
      </p:sp>
      <p:sp>
        <p:nvSpPr>
          <p:cNvPr id="26" name="Text 23"/>
          <p:cNvSpPr/>
          <p:nvPr/>
        </p:nvSpPr>
        <p:spPr>
          <a:xfrm>
            <a:off x="6510528" y="4315968"/>
            <a:ext cx="2103120" cy="228600"/>
          </a:xfrm>
          <a:prstGeom prst="rect">
            <a:avLst/>
          </a:prstGeom>
          <a:noFill/>
          <a:ln/>
        </p:spPr>
        <p:txBody>
          <a:bodyPr wrap="square" rtlCol="0" anchor="ctr"/>
          <a:lstStyle/>
          <a:p>
            <a:pPr marL="0" indent="0">
              <a:buNone/>
            </a:pPr>
            <a:r>
              <a:rPr lang="en-US" sz="850" b="1" kern="0" spc="100" dirty="0">
                <a:solidFill>
                  <a:srgbClr val="F5B041"/>
                </a:solidFill>
                <a:latin typeface="Segoe UI" pitchFamily="34" charset="0"/>
                <a:ea typeface="Segoe UI" pitchFamily="34" charset="-122"/>
                <a:cs typeface="Segoe UI" pitchFamily="34" charset="-120"/>
              </a:rPr>
              <a:t>RECOMENDADO</a:t>
            </a:r>
            <a:endParaRPr lang="en-US" sz="850" dirty="0"/>
          </a:p>
        </p:txBody>
      </p:sp>
      <p:sp>
        <p:nvSpPr>
          <p:cNvPr id="27" name="Shape 24"/>
          <p:cNvSpPr/>
          <p:nvPr/>
        </p:nvSpPr>
        <p:spPr>
          <a:xfrm>
            <a:off x="9006840" y="1627632"/>
            <a:ext cx="2514600" cy="3017520"/>
          </a:xfrm>
          <a:prstGeom prst="roundRect">
            <a:avLst>
              <a:gd name="adj" fmla="val 2182"/>
            </a:avLst>
          </a:prstGeom>
          <a:solidFill>
            <a:srgbClr val="F1F5FA"/>
          </a:solidFill>
          <a:ln w="12700">
            <a:solidFill>
              <a:srgbClr val="DCE4EE"/>
            </a:solidFill>
            <a:prstDash val="solid"/>
          </a:ln>
        </p:spPr>
      </p:sp>
      <p:sp>
        <p:nvSpPr>
          <p:cNvPr id="28" name="Shape 25"/>
          <p:cNvSpPr/>
          <p:nvPr/>
        </p:nvSpPr>
        <p:spPr>
          <a:xfrm>
            <a:off x="9006840" y="1627632"/>
            <a:ext cx="50292" cy="3017520"/>
          </a:xfrm>
          <a:prstGeom prst="rect">
            <a:avLst/>
          </a:prstGeom>
          <a:solidFill>
            <a:srgbClr val="10B981"/>
          </a:solidFill>
          <a:ln/>
        </p:spPr>
      </p:sp>
      <p:sp>
        <p:nvSpPr>
          <p:cNvPr id="29" name="Text 26"/>
          <p:cNvSpPr/>
          <p:nvPr/>
        </p:nvSpPr>
        <p:spPr>
          <a:xfrm>
            <a:off x="9253728" y="1810512"/>
            <a:ext cx="2011680" cy="365760"/>
          </a:xfrm>
          <a:prstGeom prst="rect">
            <a:avLst/>
          </a:prstGeom>
          <a:noFill/>
          <a:ln/>
        </p:spPr>
        <p:txBody>
          <a:bodyPr wrap="square" rtlCol="0" anchor="ctr"/>
          <a:lstStyle/>
          <a:p>
            <a:pPr marL="0" indent="0">
              <a:buNone/>
            </a:pPr>
            <a:r>
              <a:rPr lang="en-US" sz="1900" b="1" dirty="0">
                <a:solidFill>
                  <a:srgbClr val="1A365D"/>
                </a:solidFill>
                <a:latin typeface="Segoe UI" pitchFamily="34" charset="0"/>
                <a:ea typeface="Segoe UI" pitchFamily="34" charset="-122"/>
                <a:cs typeface="Segoe UI" pitchFamily="34" charset="-120"/>
              </a:rPr>
              <a:t>Sponsors</a:t>
            </a:r>
            <a:endParaRPr lang="en-US" sz="1900" dirty="0"/>
          </a:p>
        </p:txBody>
      </p:sp>
      <p:sp>
        <p:nvSpPr>
          <p:cNvPr id="30" name="Text 27"/>
          <p:cNvSpPr/>
          <p:nvPr/>
        </p:nvSpPr>
        <p:spPr>
          <a:xfrm>
            <a:off x="9253728" y="2212848"/>
            <a:ext cx="2011680" cy="310896"/>
          </a:xfrm>
          <a:prstGeom prst="rect">
            <a:avLst/>
          </a:prstGeom>
          <a:noFill/>
          <a:ln/>
        </p:spPr>
        <p:txBody>
          <a:bodyPr wrap="square" rtlCol="0" anchor="ctr"/>
          <a:lstStyle/>
          <a:p>
            <a:pPr marL="0" indent="0">
              <a:buNone/>
            </a:pPr>
            <a:r>
              <a:rPr lang="en-US" sz="1100" b="1" dirty="0">
                <a:solidFill>
                  <a:srgbClr val="10B981"/>
                </a:solidFill>
                <a:latin typeface="Segoe UI" pitchFamily="34" charset="0"/>
                <a:ea typeface="Segoe UI" pitchFamily="34" charset="-122"/>
                <a:cs typeface="Segoe UI" pitchFamily="34" charset="-120"/>
              </a:rPr>
              <a:t>Tercera vía de ingreso</a:t>
            </a:r>
            <a:endParaRPr lang="en-US" sz="1100" dirty="0"/>
          </a:p>
        </p:txBody>
      </p:sp>
      <p:sp>
        <p:nvSpPr>
          <p:cNvPr id="31" name="Text 28"/>
          <p:cNvSpPr/>
          <p:nvPr/>
        </p:nvSpPr>
        <p:spPr>
          <a:xfrm>
            <a:off x="9235440" y="2670048"/>
            <a:ext cx="2194560" cy="914400"/>
          </a:xfrm>
          <a:prstGeom prst="rect">
            <a:avLst/>
          </a:prstGeom>
          <a:noFill/>
          <a:ln/>
        </p:spPr>
        <p:txBody>
          <a:bodyPr wrap="square" rtlCol="0" anchor="t"/>
          <a:lstStyle/>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Empresas financian beneficios</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Los alumnos los canjean con medallas</a:t>
            </a:r>
            <a:endParaRPr lang="en-US" sz="1050" dirty="0"/>
          </a:p>
          <a:p>
            <a:pPr marL="342900" indent="-342900">
              <a:lnSpc>
                <a:spcPct val="110000"/>
              </a:lnSpc>
              <a:buSzPct val="100000"/>
              <a:buChar char="•"/>
            </a:pPr>
            <a:r>
              <a:rPr lang="en-US" sz="1050" dirty="0">
                <a:solidFill>
                  <a:srgbClr val="47566B"/>
                </a:solidFill>
                <a:latin typeface="Segoe UI" pitchFamily="34" charset="0"/>
                <a:ea typeface="Segoe UI" pitchFamily="34" charset="-122"/>
                <a:cs typeface="Segoe UI" pitchFamily="34" charset="-120"/>
              </a:rPr>
              <a:t>Ingreso sin costo para el estudiante</a:t>
            </a:r>
            <a:endParaRPr lang="en-US" sz="1050" dirty="0"/>
          </a:p>
        </p:txBody>
      </p:sp>
      <p:sp>
        <p:nvSpPr>
          <p:cNvPr id="32" name="Shape 29"/>
          <p:cNvSpPr/>
          <p:nvPr/>
        </p:nvSpPr>
        <p:spPr>
          <a:xfrm>
            <a:off x="658368" y="4892040"/>
            <a:ext cx="10863072" cy="1097280"/>
          </a:xfrm>
          <a:prstGeom prst="roundRect">
            <a:avLst>
              <a:gd name="adj" fmla="val 5000"/>
            </a:avLst>
          </a:prstGeom>
          <a:solidFill>
            <a:srgbClr val="FFFFFF"/>
          </a:solidFill>
          <a:ln w="12700">
            <a:solidFill>
              <a:srgbClr val="DCE4EE"/>
            </a:solidFill>
            <a:prstDash val="solid"/>
          </a:ln>
        </p:spPr>
      </p:sp>
      <p:sp>
        <p:nvSpPr>
          <p:cNvPr id="33" name="Text 30"/>
          <p:cNvSpPr/>
          <p:nvPr/>
        </p:nvSpPr>
        <p:spPr>
          <a:xfrm>
            <a:off x="960120" y="5074920"/>
            <a:ext cx="10332720" cy="731520"/>
          </a:xfrm>
          <a:prstGeom prst="rect">
            <a:avLst/>
          </a:prstGeom>
          <a:noFill/>
          <a:ln/>
        </p:spPr>
        <p:txBody>
          <a:bodyPr wrap="square" rtlCol="0" anchor="ctr"/>
          <a:lstStyle/>
          <a:p>
            <a:pPr marL="0" indent="0">
              <a:buNone/>
            </a:pPr>
            <a:r>
              <a:rPr lang="en-US" sz="1250" b="1" dirty="0">
                <a:solidFill>
                  <a:srgbClr val="1A365D"/>
                </a:solidFill>
                <a:latin typeface="Segoe UI" pitchFamily="34" charset="0"/>
                <a:ea typeface="Segoe UI" pitchFamily="34" charset="-122"/>
                <a:cs typeface="Segoe UI" pitchFamily="34" charset="-120"/>
              </a:rPr>
              <a:t>Referencia de mercado.  </a:t>
            </a:r>
            <a:r>
              <a:rPr lang="en-US" sz="1250" dirty="0">
                <a:solidFill>
                  <a:srgbClr val="47566B"/>
                </a:solidFill>
                <a:latin typeface="Segoe UI" pitchFamily="34" charset="0"/>
                <a:ea typeface="Segoe UI" pitchFamily="34" charset="-122"/>
                <a:cs typeface="Segoe UI" pitchFamily="34" charset="-120"/>
              </a:rPr>
              <a:t>Un preuniversitario presencial en Chile cuesta varios cientos de miles de pesos al año. El plan más completo de Aprueba equivale a menos de cinco mil pesos mensuales.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ESTADO DEL SISTEMA RECIBIDO</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Punto de partida: qué funciona y qué lo bloquea</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14 / 16</a:t>
            </a:r>
            <a:endParaRPr lang="en-US" sz="900" dirty="0"/>
          </a:p>
        </p:txBody>
      </p:sp>
      <p:sp>
        <p:nvSpPr>
          <p:cNvPr id="11" name="Text 8"/>
          <p:cNvSpPr/>
          <p:nvPr/>
        </p:nvSpPr>
        <p:spPr>
          <a:xfrm>
            <a:off x="532638" y="2009394"/>
            <a:ext cx="5029200" cy="219456"/>
          </a:xfrm>
          <a:prstGeom prst="rect">
            <a:avLst/>
          </a:prstGeom>
          <a:noFill/>
          <a:ln/>
        </p:spPr>
        <p:txBody>
          <a:bodyPr wrap="square" rtlCol="0" anchor="ctr"/>
          <a:lstStyle/>
          <a:p>
            <a:pPr marL="0" indent="0">
              <a:buNone/>
            </a:pPr>
            <a:r>
              <a:rPr lang="en-US" sz="950" b="1" kern="0" spc="120" dirty="0">
                <a:solidFill>
                  <a:srgbClr val="10B981"/>
                </a:solidFill>
                <a:latin typeface="Segoe UI" pitchFamily="34" charset="0"/>
                <a:ea typeface="Segoe UI" pitchFamily="34" charset="-122"/>
                <a:cs typeface="Segoe UI" pitchFamily="34" charset="-120"/>
              </a:rPr>
              <a:t>LO QUE YA FUNCIONA</a:t>
            </a:r>
            <a:endParaRPr lang="en-US" sz="950" dirty="0"/>
          </a:p>
        </p:txBody>
      </p:sp>
      <p:sp>
        <p:nvSpPr>
          <p:cNvPr id="12" name="Shape 9"/>
          <p:cNvSpPr/>
          <p:nvPr/>
        </p:nvSpPr>
        <p:spPr>
          <a:xfrm>
            <a:off x="532638" y="2283714"/>
            <a:ext cx="5257800" cy="3063240"/>
          </a:xfrm>
          <a:prstGeom prst="roundRect">
            <a:avLst>
              <a:gd name="adj" fmla="val 1791"/>
            </a:avLst>
          </a:prstGeom>
          <a:solidFill>
            <a:srgbClr val="FFFFFF"/>
          </a:solidFill>
          <a:ln w="12700">
            <a:solidFill>
              <a:srgbClr val="DCE4EE"/>
            </a:solidFill>
            <a:prstDash val="solid"/>
          </a:ln>
        </p:spPr>
      </p:sp>
      <p:sp>
        <p:nvSpPr>
          <p:cNvPr id="13" name="Shape 10"/>
          <p:cNvSpPr/>
          <p:nvPr/>
        </p:nvSpPr>
        <p:spPr>
          <a:xfrm>
            <a:off x="532638" y="2283714"/>
            <a:ext cx="50292" cy="3063240"/>
          </a:xfrm>
          <a:prstGeom prst="rect">
            <a:avLst/>
          </a:prstGeom>
          <a:solidFill>
            <a:srgbClr val="10B981"/>
          </a:solidFill>
          <a:ln/>
        </p:spPr>
      </p:sp>
      <p:pic>
        <p:nvPicPr>
          <p:cNvPr id="14" name="Image 0" descr="C:\Users\Ricardo\AppData\Local\Temp\claude\C--Users-Ricardo-Downloads-Aprueba\ecfd5cd3-e495-4752-9d00-05f7c0476cba\scratchpad/shots/web_inicio.png"/>
          <p:cNvPicPr>
            <a:picLocks noChangeAspect="1"/>
          </p:cNvPicPr>
          <p:nvPr/>
        </p:nvPicPr>
        <p:blipFill>
          <a:blip r:embed="rId3"/>
          <a:stretch>
            <a:fillRect/>
          </a:stretch>
        </p:blipFill>
        <p:spPr>
          <a:xfrm>
            <a:off x="742950" y="2466594"/>
            <a:ext cx="3931920" cy="2331720"/>
          </a:xfrm>
          <a:prstGeom prst="rect">
            <a:avLst/>
          </a:prstGeom>
        </p:spPr>
      </p:pic>
      <p:sp>
        <p:nvSpPr>
          <p:cNvPr id="15" name="Shape 11"/>
          <p:cNvSpPr/>
          <p:nvPr/>
        </p:nvSpPr>
        <p:spPr>
          <a:xfrm>
            <a:off x="4750308" y="2402586"/>
            <a:ext cx="1280160" cy="2450592"/>
          </a:xfrm>
          <a:prstGeom prst="roundRect">
            <a:avLst>
              <a:gd name="adj" fmla="val 6429"/>
            </a:avLst>
          </a:prstGeom>
          <a:solidFill>
            <a:srgbClr val="FFFFFF"/>
          </a:solidFill>
          <a:ln w="12700">
            <a:solidFill>
              <a:srgbClr val="DCE4EE"/>
            </a:solidFill>
            <a:prstDash val="solid"/>
          </a:ln>
        </p:spPr>
      </p:sp>
      <p:pic>
        <p:nvPicPr>
          <p:cNvPr id="16" name="Image 1" descr="C:\Users\Ricardo\AppData\Local\Temp\claude\C--Users-Ricardo-Downloads-Aprueba\ecfd5cd3-e495-4752-9d00-05f7c0476cba\scratchpad/shots/home.png"/>
          <p:cNvPicPr>
            <a:picLocks noChangeAspect="1"/>
          </p:cNvPicPr>
          <p:nvPr/>
        </p:nvPicPr>
        <p:blipFill>
          <a:blip r:embed="rId4"/>
          <a:stretch>
            <a:fillRect/>
          </a:stretch>
        </p:blipFill>
        <p:spPr>
          <a:xfrm>
            <a:off x="4802886" y="2466594"/>
            <a:ext cx="1170432" cy="2340864"/>
          </a:xfrm>
          <a:prstGeom prst="rect">
            <a:avLst/>
          </a:prstGeom>
        </p:spPr>
      </p:pic>
      <p:sp>
        <p:nvSpPr>
          <p:cNvPr id="17" name="Text 12"/>
          <p:cNvSpPr/>
          <p:nvPr/>
        </p:nvSpPr>
        <p:spPr>
          <a:xfrm>
            <a:off x="742950" y="5081778"/>
            <a:ext cx="4937760" cy="256032"/>
          </a:xfrm>
          <a:prstGeom prst="rect">
            <a:avLst/>
          </a:prstGeom>
          <a:noFill/>
          <a:ln/>
        </p:spPr>
        <p:txBody>
          <a:bodyPr wrap="square" rtlCol="0" anchor="ctr"/>
          <a:lstStyle/>
          <a:p>
            <a:pPr marL="0" indent="0">
              <a:buNone/>
            </a:pPr>
            <a:r>
              <a:rPr lang="en-US" sz="1050" dirty="0">
                <a:solidFill>
                  <a:srgbClr val="7A8AA0"/>
                </a:solidFill>
                <a:latin typeface="Segoe UI" pitchFamily="34" charset="0"/>
                <a:ea typeface="Segoe UI" pitchFamily="34" charset="-122"/>
                <a:cs typeface="Segoe UI" pitchFamily="34" charset="-120"/>
              </a:rPr>
              <a:t>~1.476 preguntas reales  ·  API de 3.150 líneas  ·  92 verificaciones end-to-end</a:t>
            </a:r>
            <a:endParaRPr lang="en-US" sz="1050" dirty="0"/>
          </a:p>
        </p:txBody>
      </p:sp>
      <p:sp>
        <p:nvSpPr>
          <p:cNvPr id="18" name="Text 13"/>
          <p:cNvSpPr/>
          <p:nvPr/>
        </p:nvSpPr>
        <p:spPr>
          <a:xfrm>
            <a:off x="6156198" y="2009394"/>
            <a:ext cx="5029200" cy="219456"/>
          </a:xfrm>
          <a:prstGeom prst="rect">
            <a:avLst/>
          </a:prstGeom>
          <a:noFill/>
          <a:ln/>
        </p:spPr>
        <p:txBody>
          <a:bodyPr wrap="square" rtlCol="0" anchor="ctr"/>
          <a:lstStyle/>
          <a:p>
            <a:pPr marL="0" indent="0">
              <a:buNone/>
            </a:pPr>
            <a:r>
              <a:rPr lang="en-US" sz="950" b="1" kern="0" spc="120" dirty="0">
                <a:solidFill>
                  <a:srgbClr val="B3261E"/>
                </a:solidFill>
                <a:latin typeface="Segoe UI" pitchFamily="34" charset="0"/>
                <a:ea typeface="Segoe UI" pitchFamily="34" charset="-122"/>
                <a:cs typeface="Segoe UI" pitchFamily="34" charset="-120"/>
              </a:rPr>
              <a:t>LO QUE IMPIDE DESPLEGARLO</a:t>
            </a:r>
            <a:endParaRPr lang="en-US" sz="950" dirty="0"/>
          </a:p>
        </p:txBody>
      </p:sp>
      <p:sp>
        <p:nvSpPr>
          <p:cNvPr id="19" name="Shape 14"/>
          <p:cNvSpPr/>
          <p:nvPr/>
        </p:nvSpPr>
        <p:spPr>
          <a:xfrm>
            <a:off x="6156198" y="2283714"/>
            <a:ext cx="5257800" cy="3063240"/>
          </a:xfrm>
          <a:prstGeom prst="roundRect">
            <a:avLst>
              <a:gd name="adj" fmla="val 1791"/>
            </a:avLst>
          </a:prstGeom>
          <a:solidFill>
            <a:srgbClr val="FFFFFF"/>
          </a:solidFill>
          <a:ln w="12700">
            <a:solidFill>
              <a:srgbClr val="DCE4EE"/>
            </a:solidFill>
            <a:prstDash val="solid"/>
          </a:ln>
        </p:spPr>
      </p:sp>
      <p:sp>
        <p:nvSpPr>
          <p:cNvPr id="20" name="Shape 15"/>
          <p:cNvSpPr/>
          <p:nvPr/>
        </p:nvSpPr>
        <p:spPr>
          <a:xfrm>
            <a:off x="6156198" y="2283714"/>
            <a:ext cx="50292" cy="3063240"/>
          </a:xfrm>
          <a:prstGeom prst="rect">
            <a:avLst/>
          </a:prstGeom>
          <a:solidFill>
            <a:srgbClr val="B3261E"/>
          </a:solidFill>
          <a:ln/>
        </p:spPr>
      </p:sp>
      <p:sp>
        <p:nvSpPr>
          <p:cNvPr id="21" name="Text 16"/>
          <p:cNvSpPr/>
          <p:nvPr/>
        </p:nvSpPr>
        <p:spPr>
          <a:xfrm>
            <a:off x="6457950" y="2521458"/>
            <a:ext cx="274320" cy="274320"/>
          </a:xfrm>
          <a:prstGeom prst="rect">
            <a:avLst/>
          </a:prstGeom>
          <a:noFill/>
          <a:ln/>
        </p:spPr>
        <p:txBody>
          <a:bodyPr wrap="square" rtlCol="0" anchor="ctr"/>
          <a:lstStyle/>
          <a:p>
            <a:pPr marL="0" indent="0">
              <a:buNone/>
            </a:pPr>
            <a:r>
              <a:rPr lang="en-US" sz="1300" b="1" dirty="0">
                <a:solidFill>
                  <a:srgbClr val="B3261E"/>
                </a:solidFill>
                <a:latin typeface="Segoe UI" pitchFamily="34" charset="0"/>
                <a:ea typeface="Segoe UI" pitchFamily="34" charset="-122"/>
                <a:cs typeface="Segoe UI" pitchFamily="34" charset="-120"/>
              </a:rPr>
              <a:t>!</a:t>
            </a:r>
            <a:endParaRPr lang="en-US" sz="1300" dirty="0"/>
          </a:p>
        </p:txBody>
      </p:sp>
      <p:sp>
        <p:nvSpPr>
          <p:cNvPr id="22" name="Text 17"/>
          <p:cNvSpPr/>
          <p:nvPr/>
        </p:nvSpPr>
        <p:spPr>
          <a:xfrm>
            <a:off x="6777990" y="2521458"/>
            <a:ext cx="4434840" cy="274320"/>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Los datos viven en un archivo local</a:t>
            </a:r>
            <a:endParaRPr lang="en-US" sz="1250" dirty="0"/>
          </a:p>
        </p:txBody>
      </p:sp>
      <p:sp>
        <p:nvSpPr>
          <p:cNvPr id="23" name="Text 18"/>
          <p:cNvSpPr/>
          <p:nvPr/>
        </p:nvSpPr>
        <p:spPr>
          <a:xfrm>
            <a:off x="6777990" y="2795778"/>
            <a:ext cx="4434840" cy="384048"/>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Imposible desplegar en la nube: la información se perdería</a:t>
            </a:r>
            <a:endParaRPr lang="en-US" sz="1000" dirty="0"/>
          </a:p>
        </p:txBody>
      </p:sp>
      <p:sp>
        <p:nvSpPr>
          <p:cNvPr id="24" name="Text 19"/>
          <p:cNvSpPr/>
          <p:nvPr/>
        </p:nvSpPr>
        <p:spPr>
          <a:xfrm>
            <a:off x="6457950" y="3216402"/>
            <a:ext cx="274320" cy="274320"/>
          </a:xfrm>
          <a:prstGeom prst="rect">
            <a:avLst/>
          </a:prstGeom>
          <a:noFill/>
          <a:ln/>
        </p:spPr>
        <p:txBody>
          <a:bodyPr wrap="square" rtlCol="0" anchor="ctr"/>
          <a:lstStyle/>
          <a:p>
            <a:pPr marL="0" indent="0">
              <a:buNone/>
            </a:pPr>
            <a:r>
              <a:rPr lang="en-US" sz="1300" b="1" dirty="0">
                <a:solidFill>
                  <a:srgbClr val="B3261E"/>
                </a:solidFill>
                <a:latin typeface="Segoe UI" pitchFamily="34" charset="0"/>
                <a:ea typeface="Segoe UI" pitchFamily="34" charset="-122"/>
                <a:cs typeface="Segoe UI" pitchFamily="34" charset="-120"/>
              </a:rPr>
              <a:t>!</a:t>
            </a:r>
            <a:endParaRPr lang="en-US" sz="1300" dirty="0"/>
          </a:p>
        </p:txBody>
      </p:sp>
      <p:sp>
        <p:nvSpPr>
          <p:cNvPr id="25" name="Text 20"/>
          <p:cNvSpPr/>
          <p:nvPr/>
        </p:nvSpPr>
        <p:spPr>
          <a:xfrm>
            <a:off x="6777990" y="3216402"/>
            <a:ext cx="4434840" cy="274320"/>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Suplantación de identidad</a:t>
            </a:r>
            <a:endParaRPr lang="en-US" sz="1250" dirty="0"/>
          </a:p>
        </p:txBody>
      </p:sp>
      <p:sp>
        <p:nvSpPr>
          <p:cNvPr id="26" name="Text 21"/>
          <p:cNvSpPr/>
          <p:nvPr/>
        </p:nvSpPr>
        <p:spPr>
          <a:xfrm>
            <a:off x="6777990" y="3490722"/>
            <a:ext cx="4434840" cy="384048"/>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El acceso con proveedores externos no verifica el token</a:t>
            </a:r>
            <a:endParaRPr lang="en-US" sz="1000" dirty="0"/>
          </a:p>
        </p:txBody>
      </p:sp>
      <p:sp>
        <p:nvSpPr>
          <p:cNvPr id="27" name="Text 22"/>
          <p:cNvSpPr/>
          <p:nvPr/>
        </p:nvSpPr>
        <p:spPr>
          <a:xfrm>
            <a:off x="6457950" y="3911346"/>
            <a:ext cx="274320" cy="274320"/>
          </a:xfrm>
          <a:prstGeom prst="rect">
            <a:avLst/>
          </a:prstGeom>
          <a:noFill/>
          <a:ln/>
        </p:spPr>
        <p:txBody>
          <a:bodyPr wrap="square" rtlCol="0" anchor="ctr"/>
          <a:lstStyle/>
          <a:p>
            <a:pPr marL="0" indent="0">
              <a:buNone/>
            </a:pPr>
            <a:r>
              <a:rPr lang="en-US" sz="1300" b="1" dirty="0">
                <a:solidFill>
                  <a:srgbClr val="B3261E"/>
                </a:solidFill>
                <a:latin typeface="Segoe UI" pitchFamily="34" charset="0"/>
                <a:ea typeface="Segoe UI" pitchFamily="34" charset="-122"/>
                <a:cs typeface="Segoe UI" pitchFamily="34" charset="-120"/>
              </a:rPr>
              <a:t>!</a:t>
            </a:r>
            <a:endParaRPr lang="en-US" sz="1300" dirty="0"/>
          </a:p>
        </p:txBody>
      </p:sp>
      <p:sp>
        <p:nvSpPr>
          <p:cNvPr id="28" name="Text 23"/>
          <p:cNvSpPr/>
          <p:nvPr/>
        </p:nvSpPr>
        <p:spPr>
          <a:xfrm>
            <a:off x="6777990" y="3911346"/>
            <a:ext cx="4434840" cy="274320"/>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Plan de pago sin pagar</a:t>
            </a:r>
            <a:endParaRPr lang="en-US" sz="1250" dirty="0"/>
          </a:p>
        </p:txBody>
      </p:sp>
      <p:sp>
        <p:nvSpPr>
          <p:cNvPr id="29" name="Text 24"/>
          <p:cNvSpPr/>
          <p:nvPr/>
        </p:nvSpPr>
        <p:spPr>
          <a:xfrm>
            <a:off x="6777990" y="4185666"/>
            <a:ext cx="4434840" cy="384048"/>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El cambio de suscripción no valida el pago</a:t>
            </a:r>
            <a:endParaRPr lang="en-US" sz="1000" dirty="0"/>
          </a:p>
        </p:txBody>
      </p:sp>
      <p:sp>
        <p:nvSpPr>
          <p:cNvPr id="30" name="Text 25"/>
          <p:cNvSpPr/>
          <p:nvPr/>
        </p:nvSpPr>
        <p:spPr>
          <a:xfrm>
            <a:off x="6457950" y="4606290"/>
            <a:ext cx="274320" cy="274320"/>
          </a:xfrm>
          <a:prstGeom prst="rect">
            <a:avLst/>
          </a:prstGeom>
          <a:noFill/>
          <a:ln/>
        </p:spPr>
        <p:txBody>
          <a:bodyPr wrap="square" rtlCol="0" anchor="ctr"/>
          <a:lstStyle/>
          <a:p>
            <a:pPr marL="0" indent="0">
              <a:buNone/>
            </a:pPr>
            <a:r>
              <a:rPr lang="en-US" sz="1300" b="1" dirty="0">
                <a:solidFill>
                  <a:srgbClr val="B3261E"/>
                </a:solidFill>
                <a:latin typeface="Segoe UI" pitchFamily="34" charset="0"/>
                <a:ea typeface="Segoe UI" pitchFamily="34" charset="-122"/>
                <a:cs typeface="Segoe UI" pitchFamily="34" charset="-120"/>
              </a:rPr>
              <a:t>!</a:t>
            </a:r>
            <a:endParaRPr lang="en-US" sz="1300" dirty="0"/>
          </a:p>
        </p:txBody>
      </p:sp>
      <p:sp>
        <p:nvSpPr>
          <p:cNvPr id="31" name="Text 26"/>
          <p:cNvSpPr/>
          <p:nvPr/>
        </p:nvSpPr>
        <p:spPr>
          <a:xfrm>
            <a:off x="6777990" y="4606290"/>
            <a:ext cx="4434840" cy="274320"/>
          </a:xfrm>
          <a:prstGeom prst="rect">
            <a:avLst/>
          </a:prstGeom>
          <a:noFill/>
          <a:ln/>
        </p:spPr>
        <p:txBody>
          <a:bodyPr wrap="square" rtlCol="0" anchor="ctr"/>
          <a:lstStyle/>
          <a:p>
            <a:pPr marL="0" indent="0">
              <a:buNone/>
            </a:pPr>
            <a:r>
              <a:rPr lang="en-US" sz="1250" b="1" dirty="0">
                <a:solidFill>
                  <a:srgbClr val="1E293B"/>
                </a:solidFill>
                <a:latin typeface="Segoe UI" pitchFamily="34" charset="0"/>
                <a:ea typeface="Segoe UI" pitchFamily="34" charset="-122"/>
                <a:cs typeface="Segoe UI" pitchFamily="34" charset="-120"/>
              </a:rPr>
              <a:t>Cero pruebas unitarias</a:t>
            </a:r>
            <a:endParaRPr lang="en-US" sz="1250" dirty="0"/>
          </a:p>
        </p:txBody>
      </p:sp>
      <p:sp>
        <p:nvSpPr>
          <p:cNvPr id="32" name="Text 27"/>
          <p:cNvSpPr/>
          <p:nvPr/>
        </p:nvSpPr>
        <p:spPr>
          <a:xfrm>
            <a:off x="6777990" y="4880610"/>
            <a:ext cx="4434840" cy="384048"/>
          </a:xfrm>
          <a:prstGeom prst="rect">
            <a:avLst/>
          </a:prstGeom>
          <a:noFill/>
          <a:ln/>
        </p:spPr>
        <p:txBody>
          <a:bodyPr wrap="square" rtlCol="0" anchor="ctr"/>
          <a:lstStyle/>
          <a:p>
            <a:pPr marL="0" indent="0">
              <a:lnSpc>
                <a:spcPct val="105000"/>
              </a:lnSpc>
              <a:buNone/>
            </a:pPr>
            <a:r>
              <a:rPr lang="en-US" sz="1000" dirty="0">
                <a:solidFill>
                  <a:srgbClr val="7A8AA0"/>
                </a:solidFill>
                <a:latin typeface="Segoe UI" pitchFamily="34" charset="0"/>
                <a:ea typeface="Segoe UI" pitchFamily="34" charset="-122"/>
                <a:cs typeface="Segoe UI" pitchFamily="34" charset="-120"/>
              </a:rPr>
              <a:t>No hay red de seguridad para modificar el código</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VISIÓN A MEDIANO PLAZO</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Mejoras futuras y evolución del producto</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15 / 16</a:t>
            </a:r>
            <a:endParaRPr lang="en-US" sz="900" dirty="0"/>
          </a:p>
        </p:txBody>
      </p:sp>
      <p:sp>
        <p:nvSpPr>
          <p:cNvPr id="11" name="Shape 8"/>
          <p:cNvSpPr/>
          <p:nvPr/>
        </p:nvSpPr>
        <p:spPr>
          <a:xfrm>
            <a:off x="658368" y="1691640"/>
            <a:ext cx="2606040" cy="3749040"/>
          </a:xfrm>
          <a:prstGeom prst="roundRect">
            <a:avLst>
              <a:gd name="adj" fmla="val 2105"/>
            </a:avLst>
          </a:prstGeom>
          <a:solidFill>
            <a:srgbClr val="FFFFFF"/>
          </a:solidFill>
          <a:ln w="12700">
            <a:solidFill>
              <a:srgbClr val="DCE4EE"/>
            </a:solidFill>
            <a:prstDash val="solid"/>
          </a:ln>
        </p:spPr>
      </p:sp>
      <p:sp>
        <p:nvSpPr>
          <p:cNvPr id="12" name="Shape 9"/>
          <p:cNvSpPr/>
          <p:nvPr/>
        </p:nvSpPr>
        <p:spPr>
          <a:xfrm>
            <a:off x="658368" y="1691640"/>
            <a:ext cx="50292" cy="3749040"/>
          </a:xfrm>
          <a:prstGeom prst="rect">
            <a:avLst/>
          </a:prstGeom>
          <a:solidFill>
            <a:srgbClr val="2D5A9E"/>
          </a:solidFill>
          <a:ln/>
        </p:spPr>
      </p:sp>
      <p:sp>
        <p:nvSpPr>
          <p:cNvPr id="13" name="Text 10"/>
          <p:cNvSpPr/>
          <p:nvPr/>
        </p:nvSpPr>
        <p:spPr>
          <a:xfrm>
            <a:off x="932688" y="1901952"/>
            <a:ext cx="914400" cy="365760"/>
          </a:xfrm>
          <a:prstGeom prst="rect">
            <a:avLst/>
          </a:prstGeom>
          <a:noFill/>
          <a:ln/>
        </p:spPr>
        <p:txBody>
          <a:bodyPr wrap="square" rtlCol="0" anchor="ctr"/>
          <a:lstStyle/>
          <a:p>
            <a:pPr marL="0" indent="0">
              <a:buNone/>
            </a:pPr>
            <a:r>
              <a:rPr lang="en-US" sz="1500" b="1" dirty="0">
                <a:solidFill>
                  <a:srgbClr val="2D5A9E"/>
                </a:solidFill>
                <a:latin typeface="Segoe UI" pitchFamily="34" charset="0"/>
                <a:ea typeface="Segoe UI" pitchFamily="34" charset="-122"/>
                <a:cs typeface="Segoe UI" pitchFamily="34" charset="-120"/>
              </a:rPr>
              <a:t>01</a:t>
            </a:r>
            <a:endParaRPr lang="en-US" sz="1500" dirty="0"/>
          </a:p>
        </p:txBody>
      </p:sp>
      <p:sp>
        <p:nvSpPr>
          <p:cNvPr id="14" name="Text 11"/>
          <p:cNvSpPr/>
          <p:nvPr/>
        </p:nvSpPr>
        <p:spPr>
          <a:xfrm>
            <a:off x="932688" y="2304288"/>
            <a:ext cx="2103120" cy="640080"/>
          </a:xfrm>
          <a:prstGeom prst="rect">
            <a:avLst/>
          </a:prstGeom>
          <a:noFill/>
          <a:ln/>
        </p:spPr>
        <p:txBody>
          <a:bodyPr wrap="square" rtlCol="0" anchor="ctr"/>
          <a:lstStyle/>
          <a:p>
            <a:pPr marL="0" indent="0">
              <a:lnSpc>
                <a:spcPct val="105000"/>
              </a:lnSpc>
              <a:buNone/>
            </a:pPr>
            <a:r>
              <a:rPr lang="en-US" sz="1500" b="1" dirty="0">
                <a:solidFill>
                  <a:srgbClr val="1A365D"/>
                </a:solidFill>
                <a:latin typeface="Segoe UI" pitchFamily="34" charset="0"/>
                <a:ea typeface="Segoe UI" pitchFamily="34" charset="-122"/>
                <a:cs typeface="Segoe UI" pitchFamily="34" charset="-120"/>
              </a:rPr>
              <a:t>Expansión regional</a:t>
            </a:r>
            <a:endParaRPr lang="en-US" sz="1500" dirty="0"/>
          </a:p>
        </p:txBody>
      </p:sp>
      <p:sp>
        <p:nvSpPr>
          <p:cNvPr id="15" name="Text 12"/>
          <p:cNvSpPr/>
          <p:nvPr/>
        </p:nvSpPr>
        <p:spPr>
          <a:xfrm>
            <a:off x="932688" y="3017520"/>
            <a:ext cx="2103120" cy="2103120"/>
          </a:xfrm>
          <a:prstGeom prst="rect">
            <a:avLst/>
          </a:prstGeom>
          <a:noFill/>
          <a:ln/>
        </p:spPr>
        <p:txBody>
          <a:bodyPr wrap="square" rtlCol="0" anchor="ctr"/>
          <a:lstStyle/>
          <a:p>
            <a:pPr marL="0" indent="0">
              <a:lnSpc>
                <a:spcPct val="118000"/>
              </a:lnSpc>
              <a:buNone/>
            </a:pPr>
            <a:r>
              <a:rPr lang="en-US" sz="1100" dirty="0">
                <a:solidFill>
                  <a:srgbClr val="47566B"/>
                </a:solidFill>
                <a:latin typeface="Segoe UI" pitchFamily="34" charset="0"/>
                <a:ea typeface="Segoe UI" pitchFamily="34" charset="-122"/>
                <a:cs typeface="Segoe UI" pitchFamily="34" charset="-120"/>
              </a:rPr>
              <a:t>El modelo de datos ya contempla Perú, Colombia y Brasil. Falta el banco de preguntas y la validación del onboarding por país.</a:t>
            </a:r>
            <a:endParaRPr lang="en-US" sz="1100" dirty="0"/>
          </a:p>
        </p:txBody>
      </p:sp>
      <p:sp>
        <p:nvSpPr>
          <p:cNvPr id="16" name="Shape 13"/>
          <p:cNvSpPr/>
          <p:nvPr/>
        </p:nvSpPr>
        <p:spPr>
          <a:xfrm>
            <a:off x="3447288" y="1691640"/>
            <a:ext cx="2606040" cy="3749040"/>
          </a:xfrm>
          <a:prstGeom prst="roundRect">
            <a:avLst>
              <a:gd name="adj" fmla="val 2105"/>
            </a:avLst>
          </a:prstGeom>
          <a:solidFill>
            <a:srgbClr val="FFFFFF"/>
          </a:solidFill>
          <a:ln w="12700">
            <a:solidFill>
              <a:srgbClr val="DCE4EE"/>
            </a:solidFill>
            <a:prstDash val="solid"/>
          </a:ln>
        </p:spPr>
      </p:sp>
      <p:sp>
        <p:nvSpPr>
          <p:cNvPr id="17" name="Shape 14"/>
          <p:cNvSpPr/>
          <p:nvPr/>
        </p:nvSpPr>
        <p:spPr>
          <a:xfrm>
            <a:off x="3447288" y="1691640"/>
            <a:ext cx="50292" cy="3749040"/>
          </a:xfrm>
          <a:prstGeom prst="rect">
            <a:avLst/>
          </a:prstGeom>
          <a:solidFill>
            <a:srgbClr val="F5B041"/>
          </a:solidFill>
          <a:ln/>
        </p:spPr>
      </p:sp>
      <p:sp>
        <p:nvSpPr>
          <p:cNvPr id="18" name="Text 15"/>
          <p:cNvSpPr/>
          <p:nvPr/>
        </p:nvSpPr>
        <p:spPr>
          <a:xfrm>
            <a:off x="3721608" y="1901952"/>
            <a:ext cx="914400" cy="365760"/>
          </a:xfrm>
          <a:prstGeom prst="rect">
            <a:avLst/>
          </a:prstGeom>
          <a:noFill/>
          <a:ln/>
        </p:spPr>
        <p:txBody>
          <a:bodyPr wrap="square" rtlCol="0" anchor="ctr"/>
          <a:lstStyle/>
          <a:p>
            <a:pPr marL="0" indent="0">
              <a:buNone/>
            </a:pPr>
            <a:r>
              <a:rPr lang="en-US" sz="1500" b="1" dirty="0">
                <a:solidFill>
                  <a:srgbClr val="F5B041"/>
                </a:solidFill>
                <a:latin typeface="Segoe UI" pitchFamily="34" charset="0"/>
                <a:ea typeface="Segoe UI" pitchFamily="34" charset="-122"/>
                <a:cs typeface="Segoe UI" pitchFamily="34" charset="-120"/>
              </a:rPr>
              <a:t>02</a:t>
            </a:r>
            <a:endParaRPr lang="en-US" sz="1500" dirty="0"/>
          </a:p>
        </p:txBody>
      </p:sp>
      <p:sp>
        <p:nvSpPr>
          <p:cNvPr id="19" name="Text 16"/>
          <p:cNvSpPr/>
          <p:nvPr/>
        </p:nvSpPr>
        <p:spPr>
          <a:xfrm>
            <a:off x="3721608" y="2304288"/>
            <a:ext cx="2103120" cy="640080"/>
          </a:xfrm>
          <a:prstGeom prst="rect">
            <a:avLst/>
          </a:prstGeom>
          <a:noFill/>
          <a:ln/>
        </p:spPr>
        <p:txBody>
          <a:bodyPr wrap="square" rtlCol="0" anchor="ctr"/>
          <a:lstStyle/>
          <a:p>
            <a:pPr marL="0" indent="0">
              <a:lnSpc>
                <a:spcPct val="105000"/>
              </a:lnSpc>
              <a:buNone/>
            </a:pPr>
            <a:r>
              <a:rPr lang="en-US" sz="1500" b="1" dirty="0">
                <a:solidFill>
                  <a:srgbClr val="1A365D"/>
                </a:solidFill>
                <a:latin typeface="Segoe UI" pitchFamily="34" charset="0"/>
                <a:ea typeface="Segoe UI" pitchFamily="34" charset="-122"/>
                <a:cs typeface="Segoe UI" pitchFamily="34" charset="-120"/>
              </a:rPr>
              <a:t>Portal del tutor</a:t>
            </a:r>
            <a:endParaRPr lang="en-US" sz="1500" dirty="0"/>
          </a:p>
        </p:txBody>
      </p:sp>
      <p:sp>
        <p:nvSpPr>
          <p:cNvPr id="20" name="Text 17"/>
          <p:cNvSpPr/>
          <p:nvPr/>
        </p:nvSpPr>
        <p:spPr>
          <a:xfrm>
            <a:off x="3721608" y="3017520"/>
            <a:ext cx="2103120" cy="2103120"/>
          </a:xfrm>
          <a:prstGeom prst="rect">
            <a:avLst/>
          </a:prstGeom>
          <a:noFill/>
          <a:ln/>
        </p:spPr>
        <p:txBody>
          <a:bodyPr wrap="square" rtlCol="0" anchor="ctr"/>
          <a:lstStyle/>
          <a:p>
            <a:pPr marL="0" indent="0">
              <a:lnSpc>
                <a:spcPct val="118000"/>
              </a:lnSpc>
              <a:buNone/>
            </a:pPr>
            <a:r>
              <a:rPr lang="en-US" sz="1100" dirty="0">
                <a:solidFill>
                  <a:srgbClr val="47566B"/>
                </a:solidFill>
                <a:latin typeface="Segoe UI" pitchFamily="34" charset="0"/>
                <a:ea typeface="Segoe UI" pitchFamily="34" charset="-122"/>
                <a:cs typeface="Segoe UI" pitchFamily="34" charset="-120"/>
              </a:rPr>
              <a:t>Hoy el marketplace solo existe del lado del alumno. El profesor no tiene forma de registrarse ni de responder.</a:t>
            </a:r>
            <a:endParaRPr lang="en-US" sz="1100" dirty="0"/>
          </a:p>
        </p:txBody>
      </p:sp>
      <p:sp>
        <p:nvSpPr>
          <p:cNvPr id="21" name="Shape 18"/>
          <p:cNvSpPr/>
          <p:nvPr/>
        </p:nvSpPr>
        <p:spPr>
          <a:xfrm>
            <a:off x="6236208" y="1691640"/>
            <a:ext cx="2606040" cy="3749040"/>
          </a:xfrm>
          <a:prstGeom prst="roundRect">
            <a:avLst>
              <a:gd name="adj" fmla="val 2105"/>
            </a:avLst>
          </a:prstGeom>
          <a:solidFill>
            <a:srgbClr val="FFFFFF"/>
          </a:solidFill>
          <a:ln w="12700">
            <a:solidFill>
              <a:srgbClr val="DCE4EE"/>
            </a:solidFill>
            <a:prstDash val="solid"/>
          </a:ln>
        </p:spPr>
      </p:sp>
      <p:sp>
        <p:nvSpPr>
          <p:cNvPr id="22" name="Shape 19"/>
          <p:cNvSpPr/>
          <p:nvPr/>
        </p:nvSpPr>
        <p:spPr>
          <a:xfrm>
            <a:off x="6236208" y="1691640"/>
            <a:ext cx="50292" cy="3749040"/>
          </a:xfrm>
          <a:prstGeom prst="rect">
            <a:avLst/>
          </a:prstGeom>
          <a:solidFill>
            <a:srgbClr val="10B981"/>
          </a:solidFill>
          <a:ln/>
        </p:spPr>
      </p:sp>
      <p:sp>
        <p:nvSpPr>
          <p:cNvPr id="23" name="Text 20"/>
          <p:cNvSpPr/>
          <p:nvPr/>
        </p:nvSpPr>
        <p:spPr>
          <a:xfrm>
            <a:off x="6510528" y="1901952"/>
            <a:ext cx="914400" cy="365760"/>
          </a:xfrm>
          <a:prstGeom prst="rect">
            <a:avLst/>
          </a:prstGeom>
          <a:noFill/>
          <a:ln/>
        </p:spPr>
        <p:txBody>
          <a:bodyPr wrap="square" rtlCol="0" anchor="ctr"/>
          <a:lstStyle/>
          <a:p>
            <a:pPr marL="0" indent="0">
              <a:buNone/>
            </a:pPr>
            <a:r>
              <a:rPr lang="en-US" sz="1500" b="1" dirty="0">
                <a:solidFill>
                  <a:srgbClr val="10B981"/>
                </a:solidFill>
                <a:latin typeface="Segoe UI" pitchFamily="34" charset="0"/>
                <a:ea typeface="Segoe UI" pitchFamily="34" charset="-122"/>
                <a:cs typeface="Segoe UI" pitchFamily="34" charset="-120"/>
              </a:rPr>
              <a:t>03</a:t>
            </a:r>
            <a:endParaRPr lang="en-US" sz="1500" dirty="0"/>
          </a:p>
        </p:txBody>
      </p:sp>
      <p:sp>
        <p:nvSpPr>
          <p:cNvPr id="24" name="Text 21"/>
          <p:cNvSpPr/>
          <p:nvPr/>
        </p:nvSpPr>
        <p:spPr>
          <a:xfrm>
            <a:off x="6510528" y="2304288"/>
            <a:ext cx="2103120" cy="640080"/>
          </a:xfrm>
          <a:prstGeom prst="rect">
            <a:avLst/>
          </a:prstGeom>
          <a:noFill/>
          <a:ln/>
        </p:spPr>
        <p:txBody>
          <a:bodyPr wrap="square" rtlCol="0" anchor="ctr"/>
          <a:lstStyle/>
          <a:p>
            <a:pPr marL="0" indent="0">
              <a:lnSpc>
                <a:spcPct val="105000"/>
              </a:lnSpc>
              <a:buNone/>
            </a:pPr>
            <a:r>
              <a:rPr lang="en-US" sz="1500" b="1" dirty="0">
                <a:solidFill>
                  <a:srgbClr val="1A365D"/>
                </a:solidFill>
                <a:latin typeface="Segoe UI" pitchFamily="34" charset="0"/>
                <a:ea typeface="Segoe UI" pitchFamily="34" charset="-122"/>
                <a:cs typeface="Segoe UI" pitchFamily="34" charset="-120"/>
              </a:rPr>
              <a:t>Pago de clases integrado</a:t>
            </a:r>
            <a:endParaRPr lang="en-US" sz="1500" dirty="0"/>
          </a:p>
        </p:txBody>
      </p:sp>
      <p:sp>
        <p:nvSpPr>
          <p:cNvPr id="25" name="Text 22"/>
          <p:cNvSpPr/>
          <p:nvPr/>
        </p:nvSpPr>
        <p:spPr>
          <a:xfrm>
            <a:off x="6510528" y="3017520"/>
            <a:ext cx="2103120" cy="2103120"/>
          </a:xfrm>
          <a:prstGeom prst="rect">
            <a:avLst/>
          </a:prstGeom>
          <a:noFill/>
          <a:ln/>
        </p:spPr>
        <p:txBody>
          <a:bodyPr wrap="square" rtlCol="0" anchor="ctr"/>
          <a:lstStyle/>
          <a:p>
            <a:pPr marL="0" indent="0">
              <a:lnSpc>
                <a:spcPct val="118000"/>
              </a:lnSpc>
              <a:buNone/>
            </a:pPr>
            <a:r>
              <a:rPr lang="en-US" sz="1100" dirty="0">
                <a:solidFill>
                  <a:srgbClr val="47566B"/>
                </a:solidFill>
                <a:latin typeface="Segoe UI" pitchFamily="34" charset="0"/>
                <a:ea typeface="Segoe UI" pitchFamily="34" charset="-122"/>
                <a:cs typeface="Segoe UI" pitchFamily="34" charset="-120"/>
              </a:rPr>
              <a:t>Actualmente el alumno contacta al tutor, pero la transacción ocurre fuera de la plataforma.</a:t>
            </a:r>
            <a:endParaRPr lang="en-US" sz="1100" dirty="0"/>
          </a:p>
        </p:txBody>
      </p:sp>
      <p:sp>
        <p:nvSpPr>
          <p:cNvPr id="26" name="Shape 23"/>
          <p:cNvSpPr/>
          <p:nvPr/>
        </p:nvSpPr>
        <p:spPr>
          <a:xfrm>
            <a:off x="9025128" y="1691640"/>
            <a:ext cx="2606040" cy="3749040"/>
          </a:xfrm>
          <a:prstGeom prst="roundRect">
            <a:avLst>
              <a:gd name="adj" fmla="val 2105"/>
            </a:avLst>
          </a:prstGeom>
          <a:solidFill>
            <a:srgbClr val="FFFFFF"/>
          </a:solidFill>
          <a:ln w="12700">
            <a:solidFill>
              <a:srgbClr val="DCE4EE"/>
            </a:solidFill>
            <a:prstDash val="solid"/>
          </a:ln>
        </p:spPr>
      </p:sp>
      <p:sp>
        <p:nvSpPr>
          <p:cNvPr id="27" name="Shape 24"/>
          <p:cNvSpPr/>
          <p:nvPr/>
        </p:nvSpPr>
        <p:spPr>
          <a:xfrm>
            <a:off x="9025128" y="1691640"/>
            <a:ext cx="50292" cy="3749040"/>
          </a:xfrm>
          <a:prstGeom prst="rect">
            <a:avLst/>
          </a:prstGeom>
          <a:solidFill>
            <a:srgbClr val="1A365D"/>
          </a:solidFill>
          <a:ln/>
        </p:spPr>
      </p:sp>
      <p:sp>
        <p:nvSpPr>
          <p:cNvPr id="28" name="Text 25"/>
          <p:cNvSpPr/>
          <p:nvPr/>
        </p:nvSpPr>
        <p:spPr>
          <a:xfrm>
            <a:off x="9299448" y="1901952"/>
            <a:ext cx="914400" cy="365760"/>
          </a:xfrm>
          <a:prstGeom prst="rect">
            <a:avLst/>
          </a:prstGeom>
          <a:noFill/>
          <a:ln/>
        </p:spPr>
        <p:txBody>
          <a:bodyPr wrap="square" rtlCol="0" anchor="ctr"/>
          <a:lstStyle/>
          <a:p>
            <a:pPr marL="0" indent="0">
              <a:buNone/>
            </a:pPr>
            <a:r>
              <a:rPr lang="en-US" sz="1500" b="1" dirty="0">
                <a:solidFill>
                  <a:srgbClr val="1A365D"/>
                </a:solidFill>
                <a:latin typeface="Segoe UI" pitchFamily="34" charset="0"/>
                <a:ea typeface="Segoe UI" pitchFamily="34" charset="-122"/>
                <a:cs typeface="Segoe UI" pitchFamily="34" charset="-120"/>
              </a:rPr>
              <a:t>04</a:t>
            </a:r>
            <a:endParaRPr lang="en-US" sz="1500" dirty="0"/>
          </a:p>
        </p:txBody>
      </p:sp>
      <p:sp>
        <p:nvSpPr>
          <p:cNvPr id="29" name="Text 26"/>
          <p:cNvSpPr/>
          <p:nvPr/>
        </p:nvSpPr>
        <p:spPr>
          <a:xfrm>
            <a:off x="9299448" y="2304288"/>
            <a:ext cx="2103120" cy="640080"/>
          </a:xfrm>
          <a:prstGeom prst="rect">
            <a:avLst/>
          </a:prstGeom>
          <a:noFill/>
          <a:ln/>
        </p:spPr>
        <p:txBody>
          <a:bodyPr wrap="square" rtlCol="0" anchor="ctr"/>
          <a:lstStyle/>
          <a:p>
            <a:pPr marL="0" indent="0">
              <a:lnSpc>
                <a:spcPct val="105000"/>
              </a:lnSpc>
              <a:buNone/>
            </a:pPr>
            <a:r>
              <a:rPr lang="en-US" sz="1500" b="1" dirty="0">
                <a:solidFill>
                  <a:srgbClr val="1A365D"/>
                </a:solidFill>
                <a:latin typeface="Segoe UI" pitchFamily="34" charset="0"/>
                <a:ea typeface="Segoe UI" pitchFamily="34" charset="-122"/>
                <a:cs typeface="Segoe UI" pitchFamily="34" charset="-120"/>
              </a:rPr>
              <a:t>Generador con IA</a:t>
            </a:r>
            <a:endParaRPr lang="en-US" sz="1500" dirty="0"/>
          </a:p>
        </p:txBody>
      </p:sp>
      <p:sp>
        <p:nvSpPr>
          <p:cNvPr id="30" name="Text 27"/>
          <p:cNvSpPr/>
          <p:nvPr/>
        </p:nvSpPr>
        <p:spPr>
          <a:xfrm>
            <a:off x="9299448" y="3017520"/>
            <a:ext cx="2103120" cy="2103120"/>
          </a:xfrm>
          <a:prstGeom prst="rect">
            <a:avLst/>
          </a:prstGeom>
          <a:noFill/>
          <a:ln/>
        </p:spPr>
        <p:txBody>
          <a:bodyPr wrap="square" rtlCol="0" anchor="ctr"/>
          <a:lstStyle/>
          <a:p>
            <a:pPr marL="0" indent="0">
              <a:lnSpc>
                <a:spcPct val="118000"/>
              </a:lnSpc>
              <a:buNone/>
            </a:pPr>
            <a:r>
              <a:rPr lang="en-US" sz="1100" dirty="0">
                <a:solidFill>
                  <a:srgbClr val="47566B"/>
                </a:solidFill>
                <a:latin typeface="Segoe UI" pitchFamily="34" charset="0"/>
                <a:ea typeface="Segoe UI" pitchFamily="34" charset="-122"/>
                <a:cs typeface="Segoe UI" pitchFamily="34" charset="-120"/>
              </a:rPr>
              <a:t>La empresa ya construyó un módulo que genera preguntas con un modelo de lenguaje. Integrarlo ampliaría el banco sin carga manual.</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A365D"/>
          </a:solidFill>
          <a:ln/>
        </p:spPr>
      </p:sp>
      <p:sp>
        <p:nvSpPr>
          <p:cNvPr id="3" name="Shape 1"/>
          <p:cNvSpPr/>
          <p:nvPr/>
        </p:nvSpPr>
        <p:spPr>
          <a:xfrm>
            <a:off x="0" y="0"/>
            <a:ext cx="2194560" cy="91440"/>
          </a:xfrm>
          <a:prstGeom prst="rect">
            <a:avLst/>
          </a:prstGeom>
          <a:solidFill>
            <a:srgbClr val="F5B041"/>
          </a:solidFill>
          <a:ln/>
        </p:spPr>
      </p:sp>
      <p:sp>
        <p:nvSpPr>
          <p:cNvPr id="4" name="Text 2"/>
          <p:cNvSpPr/>
          <p:nvPr/>
        </p:nvSpPr>
        <p:spPr>
          <a:xfrm>
            <a:off x="658368" y="384048"/>
            <a:ext cx="10881360" cy="237744"/>
          </a:xfrm>
          <a:prstGeom prst="rect">
            <a:avLst/>
          </a:prstGeom>
          <a:noFill/>
          <a:ln/>
        </p:spPr>
        <p:txBody>
          <a:bodyPr wrap="square" rtlCol="0" anchor="ctr"/>
          <a:lstStyle/>
          <a:p>
            <a:pPr marL="0" indent="0">
              <a:buNone/>
            </a:pPr>
            <a:r>
              <a:rPr lang="en-US" sz="1050" b="1" kern="0" spc="160" dirty="0">
                <a:solidFill>
                  <a:srgbClr val="F5B041"/>
                </a:solidFill>
                <a:latin typeface="Segoe UI" pitchFamily="34" charset="0"/>
                <a:ea typeface="Segoe UI" pitchFamily="34" charset="-122"/>
                <a:cs typeface="Segoe UI" pitchFamily="34" charset="-120"/>
              </a:rPr>
              <a:t>SÍNTESIS Y CIERRE</a:t>
            </a:r>
            <a:endParaRPr lang="en-US" sz="1050" dirty="0"/>
          </a:p>
        </p:txBody>
      </p:sp>
      <p:sp>
        <p:nvSpPr>
          <p:cNvPr id="5" name="Text 3"/>
          <p:cNvSpPr/>
          <p:nvPr/>
        </p:nvSpPr>
        <p:spPr>
          <a:xfrm>
            <a:off x="658368" y="640080"/>
            <a:ext cx="10881360" cy="502920"/>
          </a:xfrm>
          <a:prstGeom prst="rect">
            <a:avLst/>
          </a:prstGeom>
          <a:noFill/>
          <a:ln/>
        </p:spPr>
        <p:txBody>
          <a:bodyPr wrap="square" rtlCol="0" anchor="ctr"/>
          <a:lstStyle/>
          <a:p>
            <a:pPr marL="0" indent="0">
              <a:buNone/>
            </a:pPr>
            <a:r>
              <a:rPr lang="en-US" sz="2700" b="1" dirty="0">
                <a:solidFill>
                  <a:srgbClr val="1A365D"/>
                </a:solidFill>
                <a:latin typeface="Segoe UI" pitchFamily="34" charset="0"/>
                <a:ea typeface="Segoe UI" pitchFamily="34" charset="-122"/>
                <a:cs typeface="Segoe UI" pitchFamily="34" charset="-120"/>
              </a:rPr>
              <a:t>Conclusiones de la definición del proyecto</a:t>
            </a:r>
            <a:endParaRPr lang="en-US" sz="2700" dirty="0"/>
          </a:p>
        </p:txBody>
      </p:sp>
      <p:sp>
        <p:nvSpPr>
          <p:cNvPr id="6" name="Shape 4"/>
          <p:cNvSpPr/>
          <p:nvPr/>
        </p:nvSpPr>
        <p:spPr>
          <a:xfrm>
            <a:off x="658368" y="1225296"/>
            <a:ext cx="822960" cy="32004"/>
          </a:xfrm>
          <a:prstGeom prst="rect">
            <a:avLst/>
          </a:prstGeom>
          <a:solidFill>
            <a:srgbClr val="F5B041"/>
          </a:solidFill>
          <a:ln/>
        </p:spPr>
      </p:sp>
      <p:sp>
        <p:nvSpPr>
          <p:cNvPr id="7" name="Shape 5"/>
          <p:cNvSpPr/>
          <p:nvPr/>
        </p:nvSpPr>
        <p:spPr>
          <a:xfrm>
            <a:off x="0" y="6547104"/>
            <a:ext cx="12191695" cy="10973"/>
          </a:xfrm>
          <a:prstGeom prst="rect">
            <a:avLst/>
          </a:prstGeom>
          <a:solidFill>
            <a:srgbClr val="DCE4EE"/>
          </a:solidFill>
          <a:ln/>
        </p:spPr>
      </p:sp>
      <p:sp>
        <p:nvSpPr>
          <p:cNvPr id="8" name="Text 6"/>
          <p:cNvSpPr/>
          <p:nvPr/>
        </p:nvSpPr>
        <p:spPr>
          <a:xfrm>
            <a:off x="658368" y="6583680"/>
            <a:ext cx="7315200" cy="219456"/>
          </a:xfrm>
          <a:prstGeom prst="rect">
            <a:avLst/>
          </a:prstGeom>
          <a:noFill/>
          <a:ln/>
        </p:spPr>
        <p:txBody>
          <a:bodyPr wrap="square" rtlCol="0" anchor="ctr"/>
          <a:lstStyle/>
          <a:p>
            <a:pPr marL="0" indent="0">
              <a:buNone/>
            </a:pPr>
            <a:r>
              <a:rPr lang="en-US" sz="900" dirty="0">
                <a:solidFill>
                  <a:srgbClr val="7A8AA0"/>
                </a:solidFill>
                <a:latin typeface="Segoe UI" pitchFamily="34" charset="0"/>
                <a:ea typeface="Segoe UI" pitchFamily="34" charset="-122"/>
                <a:cs typeface="Segoe UI" pitchFamily="34" charset="-120"/>
              </a:rPr>
              <a:t>Aprueba · Definición de Proyecto APT · Capstone PTY4614</a:t>
            </a:r>
            <a:endParaRPr lang="en-US" sz="900" dirty="0"/>
          </a:p>
        </p:txBody>
      </p:sp>
      <p:sp>
        <p:nvSpPr>
          <p:cNvPr id="9" name="Text 7"/>
          <p:cNvSpPr/>
          <p:nvPr/>
        </p:nvSpPr>
        <p:spPr>
          <a:xfrm>
            <a:off x="10241280" y="6583680"/>
            <a:ext cx="1289304" cy="219456"/>
          </a:xfrm>
          <a:prstGeom prst="rect">
            <a:avLst/>
          </a:prstGeom>
          <a:noFill/>
          <a:ln/>
        </p:spPr>
        <p:txBody>
          <a:bodyPr wrap="square" rtlCol="0" anchor="ctr"/>
          <a:lstStyle/>
          <a:p>
            <a:pPr marL="0" indent="0" algn="r">
              <a:buNone/>
            </a:pPr>
            <a:r>
              <a:rPr lang="en-US" sz="900" dirty="0">
                <a:solidFill>
                  <a:srgbClr val="7A8AA0"/>
                </a:solidFill>
                <a:latin typeface="Segoe UI" pitchFamily="34" charset="0"/>
                <a:ea typeface="Segoe UI" pitchFamily="34" charset="-122"/>
                <a:cs typeface="Segoe UI" pitchFamily="34" charset="-120"/>
              </a:rPr>
              <a:t>16 / 16</a:t>
            </a:r>
            <a:endParaRPr lang="en-US" sz="900" dirty="0"/>
          </a:p>
        </p:txBody>
      </p:sp>
      <p:sp>
        <p:nvSpPr>
          <p:cNvPr id="11" name="Shape 8"/>
          <p:cNvSpPr/>
          <p:nvPr/>
        </p:nvSpPr>
        <p:spPr>
          <a:xfrm>
            <a:off x="658368" y="1600200"/>
            <a:ext cx="5257800" cy="1170432"/>
          </a:xfrm>
          <a:prstGeom prst="roundRect">
            <a:avLst>
              <a:gd name="adj" fmla="val 4688"/>
            </a:avLst>
          </a:prstGeom>
          <a:solidFill>
            <a:srgbClr val="FFFFFF"/>
          </a:solidFill>
          <a:ln w="12700">
            <a:solidFill>
              <a:srgbClr val="DCE4EE"/>
            </a:solidFill>
            <a:prstDash val="solid"/>
          </a:ln>
        </p:spPr>
      </p:sp>
      <p:sp>
        <p:nvSpPr>
          <p:cNvPr id="12" name="Shape 9"/>
          <p:cNvSpPr/>
          <p:nvPr/>
        </p:nvSpPr>
        <p:spPr>
          <a:xfrm>
            <a:off x="658368" y="1600200"/>
            <a:ext cx="50292" cy="1170432"/>
          </a:xfrm>
          <a:prstGeom prst="rect">
            <a:avLst/>
          </a:prstGeom>
          <a:solidFill>
            <a:srgbClr val="F5B041"/>
          </a:solidFill>
          <a:ln/>
        </p:spPr>
      </p:sp>
      <p:sp>
        <p:nvSpPr>
          <p:cNvPr id="13" name="Text 10"/>
          <p:cNvSpPr/>
          <p:nvPr/>
        </p:nvSpPr>
        <p:spPr>
          <a:xfrm>
            <a:off x="932688" y="1746504"/>
            <a:ext cx="320040" cy="274320"/>
          </a:xfrm>
          <a:prstGeom prst="rect">
            <a:avLst/>
          </a:prstGeom>
          <a:noFill/>
          <a:ln/>
        </p:spPr>
        <p:txBody>
          <a:bodyPr wrap="square" rtlCol="0" anchor="ctr"/>
          <a:lstStyle/>
          <a:p>
            <a:pPr marL="0" indent="0">
              <a:buNone/>
            </a:pPr>
            <a:r>
              <a:rPr lang="en-US" sz="1400" b="1" dirty="0">
                <a:solidFill>
                  <a:srgbClr val="F5B041"/>
                </a:solidFill>
                <a:latin typeface="Segoe UI" pitchFamily="34" charset="0"/>
                <a:ea typeface="Segoe UI" pitchFamily="34" charset="-122"/>
                <a:cs typeface="Segoe UI" pitchFamily="34" charset="-120"/>
              </a:rPr>
              <a:t>✓</a:t>
            </a:r>
            <a:endParaRPr lang="en-US" sz="1400" dirty="0"/>
          </a:p>
        </p:txBody>
      </p:sp>
      <p:sp>
        <p:nvSpPr>
          <p:cNvPr id="14" name="Text 11"/>
          <p:cNvSpPr/>
          <p:nvPr/>
        </p:nvSpPr>
        <p:spPr>
          <a:xfrm>
            <a:off x="1316736" y="1728216"/>
            <a:ext cx="4389120" cy="292608"/>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Un proyecto de continuidad</a:t>
            </a:r>
            <a:endParaRPr lang="en-US" sz="1350" dirty="0"/>
          </a:p>
        </p:txBody>
      </p:sp>
      <p:sp>
        <p:nvSpPr>
          <p:cNvPr id="15" name="Text 12"/>
          <p:cNvSpPr/>
          <p:nvPr/>
        </p:nvSpPr>
        <p:spPr>
          <a:xfrm>
            <a:off x="1316736" y="2039112"/>
            <a:ext cx="4389120" cy="658368"/>
          </a:xfrm>
          <a:prstGeom prst="rect">
            <a:avLst/>
          </a:prstGeom>
          <a:noFill/>
          <a:ln/>
        </p:spPr>
        <p:txBody>
          <a:bodyPr wrap="square" rtlCol="0" anchor="ctr"/>
          <a:lstStyle/>
          <a:p>
            <a:pPr marL="0" indent="0">
              <a:lnSpc>
                <a:spcPct val="112000"/>
              </a:lnSpc>
              <a:buNone/>
            </a:pPr>
            <a:r>
              <a:rPr lang="en-US" sz="1050" dirty="0">
                <a:solidFill>
                  <a:srgbClr val="47566B"/>
                </a:solidFill>
                <a:latin typeface="Segoe UI" pitchFamily="34" charset="0"/>
                <a:ea typeface="Segoe UI" pitchFamily="34" charset="-122"/>
                <a:cs typeface="Segoe UI" pitchFamily="34" charset="-120"/>
              </a:rPr>
              <a:t>No se construye desde cero: se recibe un sistema existente, se evalúa críticamente y se asume la responsabilidad de su calidad.</a:t>
            </a:r>
            <a:endParaRPr lang="en-US" sz="1050" dirty="0"/>
          </a:p>
        </p:txBody>
      </p:sp>
      <p:sp>
        <p:nvSpPr>
          <p:cNvPr id="16" name="Shape 13"/>
          <p:cNvSpPr/>
          <p:nvPr/>
        </p:nvSpPr>
        <p:spPr>
          <a:xfrm>
            <a:off x="6281928" y="1600200"/>
            <a:ext cx="5257800" cy="1170432"/>
          </a:xfrm>
          <a:prstGeom prst="roundRect">
            <a:avLst>
              <a:gd name="adj" fmla="val 4688"/>
            </a:avLst>
          </a:prstGeom>
          <a:solidFill>
            <a:srgbClr val="FFFFFF"/>
          </a:solidFill>
          <a:ln w="12700">
            <a:solidFill>
              <a:srgbClr val="DCE4EE"/>
            </a:solidFill>
            <a:prstDash val="solid"/>
          </a:ln>
        </p:spPr>
      </p:sp>
      <p:sp>
        <p:nvSpPr>
          <p:cNvPr id="17" name="Shape 14"/>
          <p:cNvSpPr/>
          <p:nvPr/>
        </p:nvSpPr>
        <p:spPr>
          <a:xfrm>
            <a:off x="6281928" y="1600200"/>
            <a:ext cx="50292" cy="1170432"/>
          </a:xfrm>
          <a:prstGeom prst="rect">
            <a:avLst/>
          </a:prstGeom>
          <a:solidFill>
            <a:srgbClr val="F5B041"/>
          </a:solidFill>
          <a:ln/>
        </p:spPr>
      </p:sp>
      <p:sp>
        <p:nvSpPr>
          <p:cNvPr id="18" name="Text 15"/>
          <p:cNvSpPr/>
          <p:nvPr/>
        </p:nvSpPr>
        <p:spPr>
          <a:xfrm>
            <a:off x="6556248" y="1746504"/>
            <a:ext cx="320040" cy="274320"/>
          </a:xfrm>
          <a:prstGeom prst="rect">
            <a:avLst/>
          </a:prstGeom>
          <a:noFill/>
          <a:ln/>
        </p:spPr>
        <p:txBody>
          <a:bodyPr wrap="square" rtlCol="0" anchor="ctr"/>
          <a:lstStyle/>
          <a:p>
            <a:pPr marL="0" indent="0">
              <a:buNone/>
            </a:pPr>
            <a:r>
              <a:rPr lang="en-US" sz="1400" b="1" dirty="0">
                <a:solidFill>
                  <a:srgbClr val="F5B041"/>
                </a:solidFill>
                <a:latin typeface="Segoe UI" pitchFamily="34" charset="0"/>
                <a:ea typeface="Segoe UI" pitchFamily="34" charset="-122"/>
                <a:cs typeface="Segoe UI" pitchFamily="34" charset="-120"/>
              </a:rPr>
              <a:t>✓</a:t>
            </a:r>
            <a:endParaRPr lang="en-US" sz="1400" dirty="0"/>
          </a:p>
        </p:txBody>
      </p:sp>
      <p:sp>
        <p:nvSpPr>
          <p:cNvPr id="19" name="Text 16"/>
          <p:cNvSpPr/>
          <p:nvPr/>
        </p:nvSpPr>
        <p:spPr>
          <a:xfrm>
            <a:off x="6940296" y="1728216"/>
            <a:ext cx="4389120" cy="292608"/>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Alcance acotado de forma deliberada</a:t>
            </a:r>
            <a:endParaRPr lang="en-US" sz="1350" dirty="0"/>
          </a:p>
        </p:txBody>
      </p:sp>
      <p:sp>
        <p:nvSpPr>
          <p:cNvPr id="20" name="Text 17"/>
          <p:cNvSpPr/>
          <p:nvPr/>
        </p:nvSpPr>
        <p:spPr>
          <a:xfrm>
            <a:off x="6940296" y="2039112"/>
            <a:ext cx="4389120" cy="658368"/>
          </a:xfrm>
          <a:prstGeom prst="rect">
            <a:avLst/>
          </a:prstGeom>
          <a:noFill/>
          <a:ln/>
        </p:spPr>
        <p:txBody>
          <a:bodyPr wrap="square" rtlCol="0" anchor="ctr"/>
          <a:lstStyle/>
          <a:p>
            <a:pPr marL="0" indent="0">
              <a:lnSpc>
                <a:spcPct val="112000"/>
              </a:lnSpc>
              <a:buNone/>
            </a:pPr>
            <a:r>
              <a:rPr lang="en-US" sz="1050" dirty="0">
                <a:solidFill>
                  <a:srgbClr val="47566B"/>
                </a:solidFill>
                <a:latin typeface="Segoe UI" pitchFamily="34" charset="0"/>
                <a:ea typeface="Segoe UI" pitchFamily="34" charset="-122"/>
                <a:cs typeface="Segoe UI" pitchFamily="34" charset="-120"/>
              </a:rPr>
              <a:t>Aplicación móvil y sitio web del estudiante, en backend y frontend. Los módulos restantes quedan fuera por acuerdo con la empresa.</a:t>
            </a:r>
            <a:endParaRPr lang="en-US" sz="1050" dirty="0"/>
          </a:p>
        </p:txBody>
      </p:sp>
      <p:sp>
        <p:nvSpPr>
          <p:cNvPr id="21" name="Shape 18"/>
          <p:cNvSpPr/>
          <p:nvPr/>
        </p:nvSpPr>
        <p:spPr>
          <a:xfrm>
            <a:off x="658368" y="2898648"/>
            <a:ext cx="5257800" cy="1170432"/>
          </a:xfrm>
          <a:prstGeom prst="roundRect">
            <a:avLst>
              <a:gd name="adj" fmla="val 4688"/>
            </a:avLst>
          </a:prstGeom>
          <a:solidFill>
            <a:srgbClr val="FFFFFF"/>
          </a:solidFill>
          <a:ln w="12700">
            <a:solidFill>
              <a:srgbClr val="DCE4EE"/>
            </a:solidFill>
            <a:prstDash val="solid"/>
          </a:ln>
        </p:spPr>
      </p:sp>
      <p:sp>
        <p:nvSpPr>
          <p:cNvPr id="22" name="Shape 19"/>
          <p:cNvSpPr/>
          <p:nvPr/>
        </p:nvSpPr>
        <p:spPr>
          <a:xfrm>
            <a:off x="658368" y="2898648"/>
            <a:ext cx="50292" cy="1170432"/>
          </a:xfrm>
          <a:prstGeom prst="rect">
            <a:avLst/>
          </a:prstGeom>
          <a:solidFill>
            <a:srgbClr val="F5B041"/>
          </a:solidFill>
          <a:ln/>
        </p:spPr>
      </p:sp>
      <p:sp>
        <p:nvSpPr>
          <p:cNvPr id="23" name="Text 20"/>
          <p:cNvSpPr/>
          <p:nvPr/>
        </p:nvSpPr>
        <p:spPr>
          <a:xfrm>
            <a:off x="932688" y="3044952"/>
            <a:ext cx="320040" cy="274320"/>
          </a:xfrm>
          <a:prstGeom prst="rect">
            <a:avLst/>
          </a:prstGeom>
          <a:noFill/>
          <a:ln/>
        </p:spPr>
        <p:txBody>
          <a:bodyPr wrap="square" rtlCol="0" anchor="ctr"/>
          <a:lstStyle/>
          <a:p>
            <a:pPr marL="0" indent="0">
              <a:buNone/>
            </a:pPr>
            <a:r>
              <a:rPr lang="en-US" sz="1400" b="1" dirty="0">
                <a:solidFill>
                  <a:srgbClr val="F5B041"/>
                </a:solidFill>
                <a:latin typeface="Segoe UI" pitchFamily="34" charset="0"/>
                <a:ea typeface="Segoe UI" pitchFamily="34" charset="-122"/>
                <a:cs typeface="Segoe UI" pitchFamily="34" charset="-120"/>
              </a:rPr>
              <a:t>✓</a:t>
            </a:r>
            <a:endParaRPr lang="en-US" sz="1400" dirty="0"/>
          </a:p>
        </p:txBody>
      </p:sp>
      <p:sp>
        <p:nvSpPr>
          <p:cNvPr id="24" name="Text 21"/>
          <p:cNvSpPr/>
          <p:nvPr/>
        </p:nvSpPr>
        <p:spPr>
          <a:xfrm>
            <a:off x="1316736" y="3026664"/>
            <a:ext cx="4389120" cy="292608"/>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Diagnóstico hecho y verificable</a:t>
            </a:r>
            <a:endParaRPr lang="en-US" sz="1350" dirty="0"/>
          </a:p>
        </p:txBody>
      </p:sp>
      <p:sp>
        <p:nvSpPr>
          <p:cNvPr id="25" name="Text 22"/>
          <p:cNvSpPr/>
          <p:nvPr/>
        </p:nvSpPr>
        <p:spPr>
          <a:xfrm>
            <a:off x="1316736" y="3337560"/>
            <a:ext cx="4389120" cy="658368"/>
          </a:xfrm>
          <a:prstGeom prst="rect">
            <a:avLst/>
          </a:prstGeom>
          <a:noFill/>
          <a:ln/>
        </p:spPr>
        <p:txBody>
          <a:bodyPr wrap="square" rtlCol="0" anchor="ctr"/>
          <a:lstStyle/>
          <a:p>
            <a:pPr marL="0" indent="0">
              <a:lnSpc>
                <a:spcPct val="112000"/>
              </a:lnSpc>
              <a:buNone/>
            </a:pPr>
            <a:r>
              <a:rPr lang="en-US" sz="1050" dirty="0">
                <a:solidFill>
                  <a:srgbClr val="47566B"/>
                </a:solidFill>
                <a:latin typeface="Segoe UI" pitchFamily="34" charset="0"/>
                <a:ea typeface="Segoe UI" pitchFamily="34" charset="-122"/>
                <a:cs typeface="Segoe UI" pitchFamily="34" charset="-120"/>
              </a:rPr>
              <a:t>Seis vulnerabilidades identificadas, la capa de datos y la ausencia de pruebas documentadas antes de escribir una línea de código.</a:t>
            </a:r>
            <a:endParaRPr lang="en-US" sz="1050" dirty="0"/>
          </a:p>
        </p:txBody>
      </p:sp>
      <p:sp>
        <p:nvSpPr>
          <p:cNvPr id="26" name="Shape 23"/>
          <p:cNvSpPr/>
          <p:nvPr/>
        </p:nvSpPr>
        <p:spPr>
          <a:xfrm>
            <a:off x="6281928" y="2898648"/>
            <a:ext cx="5257800" cy="1170432"/>
          </a:xfrm>
          <a:prstGeom prst="roundRect">
            <a:avLst>
              <a:gd name="adj" fmla="val 4688"/>
            </a:avLst>
          </a:prstGeom>
          <a:solidFill>
            <a:srgbClr val="FFFFFF"/>
          </a:solidFill>
          <a:ln w="12700">
            <a:solidFill>
              <a:srgbClr val="DCE4EE"/>
            </a:solidFill>
            <a:prstDash val="solid"/>
          </a:ln>
        </p:spPr>
      </p:sp>
      <p:sp>
        <p:nvSpPr>
          <p:cNvPr id="27" name="Shape 24"/>
          <p:cNvSpPr/>
          <p:nvPr/>
        </p:nvSpPr>
        <p:spPr>
          <a:xfrm>
            <a:off x="6281928" y="2898648"/>
            <a:ext cx="50292" cy="1170432"/>
          </a:xfrm>
          <a:prstGeom prst="rect">
            <a:avLst/>
          </a:prstGeom>
          <a:solidFill>
            <a:srgbClr val="F5B041"/>
          </a:solidFill>
          <a:ln/>
        </p:spPr>
      </p:sp>
      <p:sp>
        <p:nvSpPr>
          <p:cNvPr id="28" name="Text 25"/>
          <p:cNvSpPr/>
          <p:nvPr/>
        </p:nvSpPr>
        <p:spPr>
          <a:xfrm>
            <a:off x="6556248" y="3044952"/>
            <a:ext cx="320040" cy="274320"/>
          </a:xfrm>
          <a:prstGeom prst="rect">
            <a:avLst/>
          </a:prstGeom>
          <a:noFill/>
          <a:ln/>
        </p:spPr>
        <p:txBody>
          <a:bodyPr wrap="square" rtlCol="0" anchor="ctr"/>
          <a:lstStyle/>
          <a:p>
            <a:pPr marL="0" indent="0">
              <a:buNone/>
            </a:pPr>
            <a:r>
              <a:rPr lang="en-US" sz="1400" b="1" dirty="0">
                <a:solidFill>
                  <a:srgbClr val="F5B041"/>
                </a:solidFill>
                <a:latin typeface="Segoe UI" pitchFamily="34" charset="0"/>
                <a:ea typeface="Segoe UI" pitchFamily="34" charset="-122"/>
                <a:cs typeface="Segoe UI" pitchFamily="34" charset="-120"/>
              </a:rPr>
              <a:t>✓</a:t>
            </a:r>
            <a:endParaRPr lang="en-US" sz="1400" dirty="0"/>
          </a:p>
        </p:txBody>
      </p:sp>
      <p:sp>
        <p:nvSpPr>
          <p:cNvPr id="29" name="Text 26"/>
          <p:cNvSpPr/>
          <p:nvPr/>
        </p:nvSpPr>
        <p:spPr>
          <a:xfrm>
            <a:off x="6940296" y="3026664"/>
            <a:ext cx="4389120" cy="292608"/>
          </a:xfrm>
          <a:prstGeom prst="rect">
            <a:avLst/>
          </a:prstGeom>
          <a:noFill/>
          <a:ln/>
        </p:spPr>
        <p:txBody>
          <a:bodyPr wrap="square" rtlCol="0" anchor="ctr"/>
          <a:lstStyle/>
          <a:p>
            <a:pPr marL="0" indent="0">
              <a:buNone/>
            </a:pPr>
            <a:r>
              <a:rPr lang="en-US" sz="1350" b="1" dirty="0">
                <a:solidFill>
                  <a:srgbClr val="1A365D"/>
                </a:solidFill>
                <a:latin typeface="Segoe UI" pitchFamily="34" charset="0"/>
                <a:ea typeface="Segoe UI" pitchFamily="34" charset="-122"/>
                <a:cs typeface="Segoe UI" pitchFamily="34" charset="-120"/>
              </a:rPr>
              <a:t>Plan con hitos comprobables</a:t>
            </a:r>
            <a:endParaRPr lang="en-US" sz="1350" dirty="0"/>
          </a:p>
        </p:txBody>
      </p:sp>
      <p:sp>
        <p:nvSpPr>
          <p:cNvPr id="30" name="Text 27"/>
          <p:cNvSpPr/>
          <p:nvPr/>
        </p:nvSpPr>
        <p:spPr>
          <a:xfrm>
            <a:off x="6940296" y="3337560"/>
            <a:ext cx="4389120" cy="658368"/>
          </a:xfrm>
          <a:prstGeom prst="rect">
            <a:avLst/>
          </a:prstGeom>
          <a:noFill/>
          <a:ln/>
        </p:spPr>
        <p:txBody>
          <a:bodyPr wrap="square" rtlCol="0" anchor="ctr"/>
          <a:lstStyle/>
          <a:p>
            <a:pPr marL="0" indent="0">
              <a:lnSpc>
                <a:spcPct val="112000"/>
              </a:lnSpc>
              <a:buNone/>
            </a:pPr>
            <a:r>
              <a:rPr lang="en-US" sz="1050" dirty="0">
                <a:solidFill>
                  <a:srgbClr val="47566B"/>
                </a:solidFill>
                <a:latin typeface="Segoe UI" pitchFamily="34" charset="0"/>
                <a:ea typeface="Segoe UI" pitchFamily="34" charset="-122"/>
                <a:cs typeface="Segoe UI" pitchFamily="34" charset="-120"/>
              </a:rPr>
              <a:t>Siete sprints de dos semanas alineados con el calendario académico, con evidencia de avance en el repositorio.</a:t>
            </a:r>
            <a:endParaRPr lang="en-US" sz="1050" dirty="0"/>
          </a:p>
        </p:txBody>
      </p:sp>
      <p:sp>
        <p:nvSpPr>
          <p:cNvPr id="31" name="Shape 28"/>
          <p:cNvSpPr/>
          <p:nvPr/>
        </p:nvSpPr>
        <p:spPr>
          <a:xfrm>
            <a:off x="658368" y="4315968"/>
            <a:ext cx="10863072" cy="1691640"/>
          </a:xfrm>
          <a:prstGeom prst="roundRect">
            <a:avLst>
              <a:gd name="adj" fmla="val 3243"/>
            </a:avLst>
          </a:prstGeom>
          <a:solidFill>
            <a:srgbClr val="1A365D"/>
          </a:solidFill>
          <a:ln w="12700">
            <a:solidFill>
              <a:srgbClr val="1A365D"/>
            </a:solidFill>
            <a:prstDash val="solid"/>
          </a:ln>
        </p:spPr>
      </p:sp>
      <p:sp>
        <p:nvSpPr>
          <p:cNvPr id="32" name="Text 29"/>
          <p:cNvSpPr/>
          <p:nvPr/>
        </p:nvSpPr>
        <p:spPr>
          <a:xfrm>
            <a:off x="1051560" y="4572000"/>
            <a:ext cx="5486400" cy="566928"/>
          </a:xfrm>
          <a:prstGeom prst="rect">
            <a:avLst/>
          </a:prstGeom>
          <a:noFill/>
          <a:ln/>
        </p:spPr>
        <p:txBody>
          <a:bodyPr wrap="square" rtlCol="0" anchor="ctr"/>
          <a:lstStyle/>
          <a:p>
            <a:pPr marL="0" indent="0">
              <a:buNone/>
            </a:pPr>
            <a:r>
              <a:rPr lang="en-US" sz="3000" b="1" dirty="0">
                <a:solidFill>
                  <a:srgbClr val="FFFFFF"/>
                </a:solidFill>
                <a:latin typeface="Segoe UI" pitchFamily="34" charset="0"/>
                <a:ea typeface="Segoe UI" pitchFamily="34" charset="-122"/>
                <a:cs typeface="Segoe UI" pitchFamily="34" charset="-120"/>
              </a:rPr>
              <a:t>¿Preguntas?</a:t>
            </a:r>
            <a:endParaRPr lang="en-US" sz="3000" dirty="0"/>
          </a:p>
        </p:txBody>
      </p:sp>
      <p:sp>
        <p:nvSpPr>
          <p:cNvPr id="33" name="Text 30"/>
          <p:cNvSpPr/>
          <p:nvPr/>
        </p:nvSpPr>
        <p:spPr>
          <a:xfrm>
            <a:off x="1078992" y="5175504"/>
            <a:ext cx="5486400" cy="365760"/>
          </a:xfrm>
          <a:prstGeom prst="rect">
            <a:avLst/>
          </a:prstGeom>
          <a:noFill/>
          <a:ln/>
        </p:spPr>
        <p:txBody>
          <a:bodyPr wrap="square" rtlCol="0" anchor="ctr"/>
          <a:lstStyle/>
          <a:p>
            <a:pPr marL="0" indent="0">
              <a:buNone/>
            </a:pPr>
            <a:r>
              <a:rPr lang="en-US" sz="1300" dirty="0">
                <a:solidFill>
                  <a:srgbClr val="9FB6D4"/>
                </a:solidFill>
                <a:latin typeface="Segoe UI" pitchFamily="34" charset="0"/>
                <a:ea typeface="Segoe UI" pitchFamily="34" charset="-122"/>
                <a:cs typeface="Segoe UI" pitchFamily="34" charset="-120"/>
              </a:rPr>
              <a:t>Gracias por su atención.</a:t>
            </a:r>
            <a:endParaRPr lang="en-US" sz="1300" dirty="0"/>
          </a:p>
        </p:txBody>
      </p:sp>
      <p:pic>
        <p:nvPicPr>
          <p:cNvPr id="34" name="Image 0" descr="C:/Users/Ricardo/Downloads/Aprueba/aprueba_landing/assets/logo-white.png"/>
          <p:cNvPicPr>
            <a:picLocks noChangeAspect="1"/>
          </p:cNvPicPr>
          <p:nvPr/>
        </p:nvPicPr>
        <p:blipFill>
          <a:blip r:embed="rId3"/>
          <a:srcRect/>
          <a:stretch/>
        </p:blipFill>
        <p:spPr>
          <a:xfrm>
            <a:off x="8503920" y="4645152"/>
            <a:ext cx="2377440" cy="777240"/>
          </a:xfrm>
          <a:prstGeom prst="rect">
            <a:avLst/>
          </a:prstGeom>
        </p:spPr>
      </p:pic>
      <p:sp>
        <p:nvSpPr>
          <p:cNvPr id="35" name="Text 31"/>
          <p:cNvSpPr/>
          <p:nvPr/>
        </p:nvSpPr>
        <p:spPr>
          <a:xfrm>
            <a:off x="6766560" y="5532120"/>
            <a:ext cx="4206240" cy="292608"/>
          </a:xfrm>
          <a:prstGeom prst="rect">
            <a:avLst/>
          </a:prstGeom>
          <a:noFill/>
          <a:ln/>
        </p:spPr>
        <p:txBody>
          <a:bodyPr wrap="square" rtlCol="0" anchor="ctr"/>
          <a:lstStyle/>
          <a:p>
            <a:pPr marL="0" indent="0" algn="r">
              <a:buNone/>
            </a:pPr>
            <a:r>
              <a:rPr lang="en-US" sz="1100" dirty="0">
                <a:solidFill>
                  <a:srgbClr val="9FB6D4"/>
                </a:solidFill>
                <a:latin typeface="Segoe UI" pitchFamily="34" charset="0"/>
                <a:ea typeface="Segoe UI" pitchFamily="34" charset="-122"/>
                <a:cs typeface="Segoe UI" pitchFamily="34" charset="-120"/>
              </a:rPr>
              <a:t>Ricardo Rodríguez  ·  Elías Millahuala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3460</Words>
  <Application>Microsoft Office PowerPoint</Application>
  <PresentationFormat>Panorámica</PresentationFormat>
  <Paragraphs>455</Paragraphs>
  <Slides>16</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Consolas</vt:lpstr>
      <vt:lpstr>Georgia</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 — Escuela de Informática y Telecomunicaciones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Aprueba — Definición de Proyecto APT</dc:title>
  <dc:subject>PptxGenJS Presentation</dc:subject>
  <dc:creator>Ricardo Rodríguez · Elías Millahuala</dc:creator>
  <cp:lastModifiedBy>Ricardo</cp:lastModifiedBy>
  <cp:revision>2</cp:revision>
  <dcterms:created xsi:type="dcterms:W3CDTF">2026-09-11T23:17:39Z</dcterms:created>
  <dcterms:modified xsi:type="dcterms:W3CDTF">2026-09-11T23:29:49Z</dcterms:modified>
</cp:coreProperties>
</file>